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media/image16.svg" ContentType="image/svg+xml"/>
  <Override PartName="/ppt/media/image17.svg" ContentType="image/svg+xml"/>
  <Override PartName="/ppt/media/image2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761" r:id="rId2"/>
    <p:sldId id="880" r:id="rId3"/>
    <p:sldId id="315" r:id="rId4"/>
    <p:sldId id="844" r:id="rId5"/>
    <p:sldId id="891" r:id="rId6"/>
    <p:sldId id="882" r:id="rId7"/>
    <p:sldId id="892" r:id="rId23"/>
    <p:sldId id="893" r:id="rId24"/>
    <p:sldId id="884" r:id="rId9"/>
    <p:sldId id="885" r:id="rId10"/>
    <p:sldId id="886" r:id="rId11"/>
    <p:sldId id="887" r:id="rId12"/>
    <p:sldId id="894" r:id="rId25"/>
    <p:sldId id="895" r:id="rId26"/>
    <p:sldId id="889" r:id="rId14"/>
    <p:sldId id="896" r:id="rId27"/>
    <p:sldId id="897" r:id="rId28"/>
    <p:sldId id="755" r:id="rId16"/>
  </p:sldIdLst>
  <p:sldSz cx="12192000" cy="6858000"/>
  <p:notesSz cx="6669088" cy="9926638"/>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goral" initials="h" lastIdx="1" clrIdx="0">
    <p:extLst>
      <p:ext uri="{19B8F6BF-5375-455C-9EA6-DF929625EA0E}">
        <p15:presenceInfo xmlns:p15="http://schemas.microsoft.com/office/powerpoint/2012/main" userId="hgora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C2A"/>
    <a:srgbClr val="516362"/>
    <a:srgbClr val="B1BFBE"/>
    <a:srgbClr val="738D8C"/>
    <a:srgbClr val="F2F2F2"/>
    <a:srgbClr val="0D50A3"/>
    <a:srgbClr val="F2F9EB"/>
    <a:srgbClr val="00B050"/>
    <a:srgbClr val="D9D9D9"/>
    <a:srgbClr val="DEE1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7" autoAdjust="0"/>
    <p:restoredTop sz="95226" autoAdjust="0"/>
  </p:normalViewPr>
  <p:slideViewPr>
    <p:cSldViewPr>
      <p:cViewPr>
        <p:scale>
          <a:sx n="90" d="100"/>
          <a:sy n="90" d="100"/>
        </p:scale>
        <p:origin x="259" y="38"/>
      </p:cViewPr>
      <p:guideLst>
        <p:guide orient="horz" pos="2160"/>
        <p:guide pos="384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commentAuthors" Target="commentAuthor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diagrams/_rels/data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image" Target="../media/image6.png"/></Relationships>
</file>

<file path=ppt/diagrams/_rels/data2.xml.rels><?xml version='1.0' encoding='UTF-8' standalone='yes'?>
<Relationships xmlns="http://schemas.openxmlformats.org/package/2006/relationships"><Relationship Id="rId1" Type="http://schemas.openxmlformats.org/officeDocument/2006/relationships/image" Target="../media/image7.jp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6.png"/></Relationships>
</file>

<file path=ppt/diagrams/_rels/drawing2.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7.jpg"/></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6DBE42-46DF-445E-9449-32DB440D2136}" type="doc">
      <dgm:prSet loTypeId="urn:microsoft.com/office/officeart/2011/layout/Picture Frame" loCatId="picture" qsTypeId="urn:microsoft.com/office/officeart/2005/8/quickstyle/simple1#3" qsCatId="simple" csTypeId="urn:microsoft.com/office/officeart/2005/8/colors/accent1_2#3" csCatId="accent1" phldr="1"/>
      <dgm:spPr/>
      <dgm:t>
        <a:bodyPr/>
        <a:lstStyle/>
        <a:p>
          <a:endParaRPr lang="en-US"/>
        </a:p>
      </dgm:t>
    </dgm:pt>
    <dgm:pt modelId="{11D1B010-E5B5-4868-A197-5D8714506422}">
      <dgm:prSet phldrT="[Text]" custT="1"/>
      <dgm:spPr/>
      <dgm:t>
        <a:bodyPr/>
        <a:lstStyle/>
        <a:p>
          <a:endParaRPr lang="en-US" sz="1600" dirty="0"/>
        </a:p>
      </dgm:t>
    </dgm:pt>
    <dgm:pt modelId="{E942F454-B095-46FA-ACA2-0F90D5829251}" type="parTrans" cxnId="{481910F2-8650-4EBC-9A16-F6305199F63E}">
      <dgm:prSet/>
      <dgm:spPr/>
      <dgm:t>
        <a:bodyPr/>
        <a:lstStyle/>
        <a:p>
          <a:endParaRPr lang="en-US"/>
        </a:p>
      </dgm:t>
    </dgm:pt>
    <dgm:pt modelId="{5CB8D558-1ECB-4116-91E7-6C89FB9722E5}" type="sibTrans" cxnId="{481910F2-8650-4EBC-9A16-F6305199F63E}">
      <dgm:prSet/>
      <dgm:spPr/>
      <dgm:t>
        <a:bodyPr/>
        <a:lstStyle/>
        <a:p>
          <a:endParaRPr lang="en-US"/>
        </a:p>
      </dgm:t>
    </dgm:pt>
    <dgm:pt modelId="{A15A36E6-3262-449D-AE50-3790BECEA127}">
      <dgm:prSet phldrT="[Text]" custT="1"/>
      <dgm:spPr/>
      <dgm:t>
        <a:bodyPr/>
        <a:lstStyle/>
        <a:p>
          <a:endParaRPr lang="en-US" sz="1600" dirty="0"/>
        </a:p>
      </dgm:t>
    </dgm:pt>
    <dgm:pt modelId="{2CFB278E-5C0D-430B-B4BF-726F35EB5ADC}" type="parTrans" cxnId="{6EA54863-29C1-4DA1-896F-3327555F13C7}">
      <dgm:prSet/>
      <dgm:spPr/>
      <dgm:t>
        <a:bodyPr/>
        <a:lstStyle/>
        <a:p>
          <a:endParaRPr lang="en-US"/>
        </a:p>
      </dgm:t>
    </dgm:pt>
    <dgm:pt modelId="{6D3CCD47-DAFC-46A6-8CE7-F1DC8694D613}" type="sibTrans" cxnId="{6EA54863-29C1-4DA1-896F-3327555F13C7}">
      <dgm:prSet/>
      <dgm:spPr/>
      <dgm:t>
        <a:bodyPr/>
        <a:lstStyle/>
        <a:p>
          <a:endParaRPr lang="en-US"/>
        </a:p>
      </dgm:t>
    </dgm:pt>
    <dgm:pt modelId="{909E5F4E-E075-436B-8345-6ADE4AD37C42}">
      <dgm:prSet phldrT="[Text]" custT="1"/>
      <dgm:spPr/>
      <dgm:t>
        <a:bodyPr/>
        <a:lstStyle/>
        <a:p>
          <a:endParaRPr lang="en-US" sz="1600" dirty="0"/>
        </a:p>
      </dgm:t>
    </dgm:pt>
    <dgm:pt modelId="{3FABD0C2-EDBA-4DE6-B7BF-5C634E29CBF7}" type="parTrans" cxnId="{27E61EBE-56FC-4A71-8FC4-65A6D727A69B}">
      <dgm:prSet/>
      <dgm:spPr/>
      <dgm:t>
        <a:bodyPr/>
        <a:lstStyle/>
        <a:p>
          <a:endParaRPr lang="en-US"/>
        </a:p>
      </dgm:t>
    </dgm:pt>
    <dgm:pt modelId="{486B9DED-299D-4EDC-B6BE-5607FE372DB6}" type="sibTrans" cxnId="{27E61EBE-56FC-4A71-8FC4-65A6D727A69B}">
      <dgm:prSet/>
      <dgm:spPr/>
      <dgm:t>
        <a:bodyPr/>
        <a:lstStyle/>
        <a:p>
          <a:endParaRPr lang="en-US"/>
        </a:p>
      </dgm:t>
    </dgm:pt>
    <dgm:pt modelId="{C38F8CE0-1D0F-48C4-A58F-AC3940D5D5FA}">
      <dgm:prSet phldrT="[Text]" custT="1"/>
      <dgm:spPr/>
      <dgm:t>
        <a:bodyPr/>
        <a:lstStyle/>
        <a:p>
          <a:endParaRPr lang="en-US" sz="1600" dirty="0"/>
        </a:p>
      </dgm:t>
    </dgm:pt>
    <dgm:pt modelId="{4357A9A0-3EA2-4468-BB57-E09B3085517C}" type="sibTrans" cxnId="{EE9EDCAB-0045-48B9-9ACA-A343D92374F1}">
      <dgm:prSet/>
      <dgm:spPr/>
      <dgm:t>
        <a:bodyPr/>
        <a:lstStyle/>
        <a:p>
          <a:endParaRPr lang="en-US"/>
        </a:p>
      </dgm:t>
    </dgm:pt>
    <dgm:pt modelId="{2FEF93D2-C13F-4EE4-94EB-2E453A0696BA}" type="parTrans" cxnId="{EE9EDCAB-0045-48B9-9ACA-A343D92374F1}">
      <dgm:prSet/>
      <dgm:spPr/>
      <dgm:t>
        <a:bodyPr/>
        <a:lstStyle/>
        <a:p>
          <a:endParaRPr lang="en-US"/>
        </a:p>
      </dgm:t>
    </dgm:pt>
    <dgm:pt modelId="{321E9EBA-7535-442F-BECF-2416B51B4079}">
      <dgm:prSet phldrT="[Metin]" phldr="0"/>
      <dgm:spPr/>
      <dgm:t>
        <a:bodyPr/>
        <a:lstStyle/>
        <a:p>
          <a:endParaRPr lang="tr-TR" dirty="0"/>
        </a:p>
      </dgm:t>
    </dgm:pt>
    <dgm:pt modelId="{C774A593-F0EC-4152-83E2-37AE76D6BB33}" type="parTrans" cxnId="{A1FBD5F9-6BE3-4AF4-89FA-FCE225406878}">
      <dgm:prSet/>
      <dgm:spPr/>
      <dgm:t>
        <a:bodyPr/>
        <a:lstStyle/>
        <a:p>
          <a:endParaRPr lang="tr-TR"/>
        </a:p>
      </dgm:t>
    </dgm:pt>
    <dgm:pt modelId="{0705CA82-D6D7-4E2A-9CDB-54BB87C0EE58}" type="sibTrans" cxnId="{A1FBD5F9-6BE3-4AF4-89FA-FCE225406878}">
      <dgm:prSet/>
      <dgm:spPr/>
      <dgm:t>
        <a:bodyPr/>
        <a:lstStyle/>
        <a:p>
          <a:endParaRPr lang="tr-TR"/>
        </a:p>
      </dgm:t>
    </dgm:pt>
    <dgm:pt modelId="{1780BABA-85B3-4FA7-88CA-63403DBC85C1}" type="pres">
      <dgm:prSet presAssocID="{F16DBE42-46DF-445E-9449-32DB440D2136}" presName="Name0" presStyleCnt="0">
        <dgm:presLayoutVars>
          <dgm:chMax/>
          <dgm:chPref/>
          <dgm:dir/>
        </dgm:presLayoutVars>
      </dgm:prSet>
      <dgm:spPr/>
    </dgm:pt>
    <dgm:pt modelId="{B07F0736-25B1-4BE2-A027-D91FF6BE1A61}" type="pres">
      <dgm:prSet presAssocID="{321E9EBA-7535-442F-BECF-2416B51B4079}" presName="composite" presStyleCnt="0"/>
      <dgm:spPr/>
    </dgm:pt>
    <dgm:pt modelId="{046F63F0-3949-41E0-B6DD-16BF7AD3369B}" type="pres">
      <dgm:prSet presAssocID="{321E9EBA-7535-442F-BECF-2416B51B4079}" presName="ParentText" presStyleLbl="revTx" presStyleIdx="0" presStyleCnt="5">
        <dgm:presLayoutVars>
          <dgm:chMax val="0"/>
          <dgm:chPref val="0"/>
          <dgm:bulletEnabled val="1"/>
        </dgm:presLayoutVars>
      </dgm:prSet>
      <dgm:spPr/>
    </dgm:pt>
    <dgm:pt modelId="{4506332D-4E6B-461A-A5D6-C4DE62B9AE12}" type="pres">
      <dgm:prSet presAssocID="{321E9EBA-7535-442F-BECF-2416B51B4079}" presName="Accent1" presStyleLbl="parChTrans1D1" presStyleIdx="0" presStyleCnt="5"/>
      <dgm:spPr/>
    </dgm:pt>
    <dgm:pt modelId="{AE038386-F855-4F2B-AF44-B1E9BD59B02E}" type="pres">
      <dgm:prSet presAssocID="{321E9EBA-7535-442F-BECF-2416B51B4079}" presName="Image" presStyleLbl="alignImgPlace1" presStyleIdx="0" presStyleCnt="5"/>
      <dgm:spPr/>
    </dgm:pt>
    <dgm:pt modelId="{D1ECD185-C5FB-48A4-B26E-8D0056E8AB7B}" type="pres">
      <dgm:prSet presAssocID="{0705CA82-D6D7-4E2A-9CDB-54BB87C0EE58}" presName="sibTrans" presStyleCnt="0"/>
      <dgm:spPr/>
    </dgm:pt>
    <dgm:pt modelId="{24784404-8F9E-4300-A69A-5D3AFC14C41B}" type="pres">
      <dgm:prSet presAssocID="{11D1B010-E5B5-4868-A197-5D8714506422}" presName="composite" presStyleCnt="0"/>
      <dgm:spPr/>
    </dgm:pt>
    <dgm:pt modelId="{B632E62C-560D-490F-AA4F-8F85A0221C37}" type="pres">
      <dgm:prSet presAssocID="{11D1B010-E5B5-4868-A197-5D8714506422}" presName="ParentText" presStyleLbl="revTx" presStyleIdx="1" presStyleCnt="5">
        <dgm:presLayoutVars>
          <dgm:chMax val="0"/>
          <dgm:chPref val="0"/>
          <dgm:bulletEnabled val="1"/>
        </dgm:presLayoutVars>
      </dgm:prSet>
      <dgm:spPr/>
    </dgm:pt>
    <dgm:pt modelId="{431F87D6-6957-4E3F-85BE-A1259055A2C3}" type="pres">
      <dgm:prSet presAssocID="{11D1B010-E5B5-4868-A197-5D8714506422}" presName="Accent1" presStyleLbl="parChTrans1D1" presStyleIdx="1" presStyleCnt="5"/>
      <dgm:spPr/>
    </dgm:pt>
    <dgm:pt modelId="{87700910-73E7-4BCE-A3B1-77B194970378}" type="pres">
      <dgm:prSet presAssocID="{11D1B010-E5B5-4868-A197-5D8714506422}" presName="Image" presStyleLbl="alignImgPlace1" presStyleIdx="1" presStyleCnt="5"/>
      <dgm:spPr>
        <a:blipFill>
          <a:blip xmlns:r="http://schemas.openxmlformats.org/officeDocument/2006/relationships" r:embed="rId1"/>
          <a:srcRect/>
          <a:stretch>
            <a:fillRect t="-4000" b="-4000"/>
          </a:stretch>
        </a:blipFill>
      </dgm:spPr>
    </dgm:pt>
    <dgm:pt modelId="{10DDFD95-8CF8-4A21-96C4-7E252D5CC346}" type="pres">
      <dgm:prSet presAssocID="{5CB8D558-1ECB-4116-91E7-6C89FB9722E5}" presName="sibTrans" presStyleCnt="0"/>
      <dgm:spPr/>
    </dgm:pt>
    <dgm:pt modelId="{C3B4A034-1EDA-48BF-BC8C-B7912A70C47C}" type="pres">
      <dgm:prSet presAssocID="{C38F8CE0-1D0F-48C4-A58F-AC3940D5D5FA}" presName="composite" presStyleCnt="0"/>
      <dgm:spPr/>
    </dgm:pt>
    <dgm:pt modelId="{81DEBD97-2DCA-4CF0-8492-04FD19619A7D}" type="pres">
      <dgm:prSet presAssocID="{C38F8CE0-1D0F-48C4-A58F-AC3940D5D5FA}" presName="ParentText" presStyleLbl="revTx" presStyleIdx="2" presStyleCnt="5">
        <dgm:presLayoutVars>
          <dgm:chMax val="0"/>
          <dgm:chPref val="0"/>
          <dgm:bulletEnabled val="1"/>
        </dgm:presLayoutVars>
      </dgm:prSet>
      <dgm:spPr/>
    </dgm:pt>
    <dgm:pt modelId="{CA028670-D664-4244-91BC-ABEB97CC7E74}" type="pres">
      <dgm:prSet presAssocID="{C38F8CE0-1D0F-48C4-A58F-AC3940D5D5FA}" presName="Accent1" presStyleLbl="parChTrans1D1" presStyleIdx="2" presStyleCnt="5"/>
      <dgm:spPr/>
    </dgm:pt>
    <dgm:pt modelId="{784B6253-E7C9-41A0-B373-3D77FEC46869}" type="pres">
      <dgm:prSet presAssocID="{C38F8CE0-1D0F-48C4-A58F-AC3940D5D5FA}" presName="Image" presStyleLbl="alignImgPlace1" presStyleIdx="2" presStyleCnt="5"/>
      <dgm:spPr>
        <a:blipFill>
          <a:blip xmlns:r="http://schemas.openxmlformats.org/officeDocument/2006/relationships" r:embed="rId2"/>
          <a:srcRect/>
          <a:stretch>
            <a:fillRect l="-4000" r="-4000"/>
          </a:stretch>
        </a:blipFill>
      </dgm:spPr>
    </dgm:pt>
    <dgm:pt modelId="{3F506F05-9AE9-45C5-9634-E157E8696F80}" type="pres">
      <dgm:prSet presAssocID="{4357A9A0-3EA2-4468-BB57-E09B3085517C}" presName="sibTrans" presStyleCnt="0"/>
      <dgm:spPr/>
    </dgm:pt>
    <dgm:pt modelId="{3CC8E8C0-E919-4AD9-9B41-851BC8F5DAEF}" type="pres">
      <dgm:prSet presAssocID="{A15A36E6-3262-449D-AE50-3790BECEA127}" presName="composite" presStyleCnt="0"/>
      <dgm:spPr/>
    </dgm:pt>
    <dgm:pt modelId="{47FFEB8B-74B2-453A-AA14-E485F69A9389}" type="pres">
      <dgm:prSet presAssocID="{A15A36E6-3262-449D-AE50-3790BECEA127}" presName="ParentText" presStyleLbl="revTx" presStyleIdx="3" presStyleCnt="5">
        <dgm:presLayoutVars>
          <dgm:chMax val="0"/>
          <dgm:chPref val="0"/>
          <dgm:bulletEnabled val="1"/>
        </dgm:presLayoutVars>
      </dgm:prSet>
      <dgm:spPr/>
    </dgm:pt>
    <dgm:pt modelId="{1209B611-4000-4537-9096-6B9E94E7CFDE}" type="pres">
      <dgm:prSet presAssocID="{A15A36E6-3262-449D-AE50-3790BECEA127}" presName="Accent1" presStyleLbl="parChTrans1D1" presStyleIdx="3" presStyleCnt="5"/>
      <dgm:spPr/>
    </dgm:pt>
    <dgm:pt modelId="{3319F96D-68B6-456D-B1FC-18FB8AA96F6C}" type="pres">
      <dgm:prSet presAssocID="{A15A36E6-3262-449D-AE50-3790BECEA127}" presName="Image" presStyleLbl="alignImgPlace1" presStyleIdx="3" presStyleCnt="5"/>
      <dgm:spPr>
        <a:blipFill>
          <a:blip xmlns:r="http://schemas.openxmlformats.org/officeDocument/2006/relationships" r:embed="rId3"/>
          <a:srcRect/>
          <a:stretch>
            <a:fillRect l="-7000" r="-7000"/>
          </a:stretch>
        </a:blipFill>
      </dgm:spPr>
    </dgm:pt>
    <dgm:pt modelId="{BE72F20D-9E0B-4E59-8811-193174C56219}" type="pres">
      <dgm:prSet presAssocID="{6D3CCD47-DAFC-46A6-8CE7-F1DC8694D613}" presName="sibTrans" presStyleCnt="0"/>
      <dgm:spPr/>
    </dgm:pt>
    <dgm:pt modelId="{9734C70E-32D1-45F9-87BF-6B17C2187887}" type="pres">
      <dgm:prSet presAssocID="{909E5F4E-E075-436B-8345-6ADE4AD37C42}" presName="composite" presStyleCnt="0"/>
      <dgm:spPr/>
    </dgm:pt>
    <dgm:pt modelId="{A4AF5E44-2D05-4A86-9705-4BB46558F35E}" type="pres">
      <dgm:prSet presAssocID="{909E5F4E-E075-436B-8345-6ADE4AD37C42}" presName="ParentText" presStyleLbl="revTx" presStyleIdx="4" presStyleCnt="5">
        <dgm:presLayoutVars>
          <dgm:chMax val="0"/>
          <dgm:chPref val="0"/>
          <dgm:bulletEnabled val="1"/>
        </dgm:presLayoutVars>
      </dgm:prSet>
      <dgm:spPr/>
    </dgm:pt>
    <dgm:pt modelId="{80D01D27-6184-4BDB-B3AB-E32817DF35B8}" type="pres">
      <dgm:prSet presAssocID="{909E5F4E-E075-436B-8345-6ADE4AD37C42}" presName="Accent1" presStyleLbl="parChTrans1D1" presStyleIdx="4" presStyleCnt="5"/>
      <dgm:spPr/>
    </dgm:pt>
    <dgm:pt modelId="{1EBCC891-76BC-454C-964D-6F574B2C6A07}" type="pres">
      <dgm:prSet presAssocID="{909E5F4E-E075-436B-8345-6ADE4AD37C42}" presName="Image" presStyleLbl="alignImgPlace1" presStyleIdx="4" presStyleCnt="5"/>
      <dgm:spPr>
        <a:blipFill>
          <a:blip xmlns:r="http://schemas.openxmlformats.org/officeDocument/2006/relationships" r:embed="rId4"/>
          <a:srcRect/>
          <a:stretch>
            <a:fillRect t="-31000" b="-31000"/>
          </a:stretch>
        </a:blipFill>
      </dgm:spPr>
    </dgm:pt>
  </dgm:ptLst>
  <dgm:cxnLst>
    <dgm:cxn modelId="{FC3C6B0A-B973-442F-A397-A250B31CAED7}" type="presOf" srcId="{F16DBE42-46DF-445E-9449-32DB440D2136}" destId="{1780BABA-85B3-4FA7-88CA-63403DBC85C1}" srcOrd="0" destOrd="0" presId="urn:microsoft.com/office/officeart/2011/layout/Picture Frame"/>
    <dgm:cxn modelId="{9792CA0C-8188-4DF4-8B22-92D5CAE04395}" type="presOf" srcId="{321E9EBA-7535-442F-BECF-2416B51B4079}" destId="{046F63F0-3949-41E0-B6DD-16BF7AD3369B}" srcOrd="0" destOrd="0" presId="urn:microsoft.com/office/officeart/2011/layout/Picture Frame"/>
    <dgm:cxn modelId="{D6C5CC5E-317F-47F3-A5E6-80586A04A671}" type="presOf" srcId="{11D1B010-E5B5-4868-A197-5D8714506422}" destId="{B632E62C-560D-490F-AA4F-8F85A0221C37}" srcOrd="0" destOrd="0" presId="urn:microsoft.com/office/officeart/2011/layout/Picture Frame"/>
    <dgm:cxn modelId="{CF4AC35F-BFD3-4732-944C-E35D5860C8A2}" type="presOf" srcId="{A15A36E6-3262-449D-AE50-3790BECEA127}" destId="{47FFEB8B-74B2-453A-AA14-E485F69A9389}" srcOrd="0" destOrd="0" presId="urn:microsoft.com/office/officeart/2011/layout/Picture Frame"/>
    <dgm:cxn modelId="{6EA54863-29C1-4DA1-896F-3327555F13C7}" srcId="{F16DBE42-46DF-445E-9449-32DB440D2136}" destId="{A15A36E6-3262-449D-AE50-3790BECEA127}" srcOrd="3" destOrd="0" parTransId="{2CFB278E-5C0D-430B-B4BF-726F35EB5ADC}" sibTransId="{6D3CCD47-DAFC-46A6-8CE7-F1DC8694D613}"/>
    <dgm:cxn modelId="{E7FFCE71-C818-46E9-B32C-4CB62B72B41A}" type="presOf" srcId="{909E5F4E-E075-436B-8345-6ADE4AD37C42}" destId="{A4AF5E44-2D05-4A86-9705-4BB46558F35E}" srcOrd="0" destOrd="0" presId="urn:microsoft.com/office/officeart/2011/layout/Picture Frame"/>
    <dgm:cxn modelId="{EE9EDCAB-0045-48B9-9ACA-A343D92374F1}" srcId="{F16DBE42-46DF-445E-9449-32DB440D2136}" destId="{C38F8CE0-1D0F-48C4-A58F-AC3940D5D5FA}" srcOrd="2" destOrd="0" parTransId="{2FEF93D2-C13F-4EE4-94EB-2E453A0696BA}" sibTransId="{4357A9A0-3EA2-4468-BB57-E09B3085517C}"/>
    <dgm:cxn modelId="{27E61EBE-56FC-4A71-8FC4-65A6D727A69B}" srcId="{F16DBE42-46DF-445E-9449-32DB440D2136}" destId="{909E5F4E-E075-436B-8345-6ADE4AD37C42}" srcOrd="4" destOrd="0" parTransId="{3FABD0C2-EDBA-4DE6-B7BF-5C634E29CBF7}" sibTransId="{486B9DED-299D-4EDC-B6BE-5607FE372DB6}"/>
    <dgm:cxn modelId="{99B31DEF-87AE-4A6C-A02D-6DB7D6D3EF11}" type="presOf" srcId="{C38F8CE0-1D0F-48C4-A58F-AC3940D5D5FA}" destId="{81DEBD97-2DCA-4CF0-8492-04FD19619A7D}" srcOrd="0" destOrd="0" presId="urn:microsoft.com/office/officeart/2011/layout/Picture Frame"/>
    <dgm:cxn modelId="{481910F2-8650-4EBC-9A16-F6305199F63E}" srcId="{F16DBE42-46DF-445E-9449-32DB440D2136}" destId="{11D1B010-E5B5-4868-A197-5D8714506422}" srcOrd="1" destOrd="0" parTransId="{E942F454-B095-46FA-ACA2-0F90D5829251}" sibTransId="{5CB8D558-1ECB-4116-91E7-6C89FB9722E5}"/>
    <dgm:cxn modelId="{A1FBD5F9-6BE3-4AF4-89FA-FCE225406878}" srcId="{F16DBE42-46DF-445E-9449-32DB440D2136}" destId="{321E9EBA-7535-442F-BECF-2416B51B4079}" srcOrd="0" destOrd="0" parTransId="{C774A593-F0EC-4152-83E2-37AE76D6BB33}" sibTransId="{0705CA82-D6D7-4E2A-9CDB-54BB87C0EE58}"/>
    <dgm:cxn modelId="{7285500E-F2ED-47ED-8336-80300D758A65}" type="presParOf" srcId="{1780BABA-85B3-4FA7-88CA-63403DBC85C1}" destId="{B07F0736-25B1-4BE2-A027-D91FF6BE1A61}" srcOrd="0" destOrd="0" presId="urn:microsoft.com/office/officeart/2011/layout/Picture Frame"/>
    <dgm:cxn modelId="{46BF2D45-D766-459D-AD3C-B6804D4EDDF4}" type="presParOf" srcId="{B07F0736-25B1-4BE2-A027-D91FF6BE1A61}" destId="{046F63F0-3949-41E0-B6DD-16BF7AD3369B}" srcOrd="0" destOrd="0" presId="urn:microsoft.com/office/officeart/2011/layout/Picture Frame"/>
    <dgm:cxn modelId="{771FDC78-1AE1-4662-AFC8-A67FA8F19FC3}" type="presParOf" srcId="{B07F0736-25B1-4BE2-A027-D91FF6BE1A61}" destId="{4506332D-4E6B-461A-A5D6-C4DE62B9AE12}" srcOrd="1" destOrd="0" presId="urn:microsoft.com/office/officeart/2011/layout/Picture Frame"/>
    <dgm:cxn modelId="{36627819-C1A9-477B-914D-142CE2032E94}" type="presParOf" srcId="{B07F0736-25B1-4BE2-A027-D91FF6BE1A61}" destId="{AE038386-F855-4F2B-AF44-B1E9BD59B02E}" srcOrd="2" destOrd="0" presId="urn:microsoft.com/office/officeart/2011/layout/Picture Frame"/>
    <dgm:cxn modelId="{CF61C670-85A0-44F6-BAB6-311CCCDEEB61}" type="presParOf" srcId="{1780BABA-85B3-4FA7-88CA-63403DBC85C1}" destId="{D1ECD185-C5FB-48A4-B26E-8D0056E8AB7B}" srcOrd="1" destOrd="0" presId="urn:microsoft.com/office/officeart/2011/layout/Picture Frame"/>
    <dgm:cxn modelId="{80EA7804-1FD3-4003-B2A7-5B4D5D351C54}" type="presParOf" srcId="{1780BABA-85B3-4FA7-88CA-63403DBC85C1}" destId="{24784404-8F9E-4300-A69A-5D3AFC14C41B}" srcOrd="2" destOrd="0" presId="urn:microsoft.com/office/officeart/2011/layout/Picture Frame"/>
    <dgm:cxn modelId="{117A4FA0-A879-48EE-8881-13A67AFEE20C}" type="presParOf" srcId="{24784404-8F9E-4300-A69A-5D3AFC14C41B}" destId="{B632E62C-560D-490F-AA4F-8F85A0221C37}" srcOrd="0" destOrd="0" presId="urn:microsoft.com/office/officeart/2011/layout/Picture Frame"/>
    <dgm:cxn modelId="{514FBD02-D3D5-44FB-9E9C-E4AB2C91B69B}" type="presParOf" srcId="{24784404-8F9E-4300-A69A-5D3AFC14C41B}" destId="{431F87D6-6957-4E3F-85BE-A1259055A2C3}" srcOrd="1" destOrd="0" presId="urn:microsoft.com/office/officeart/2011/layout/Picture Frame"/>
    <dgm:cxn modelId="{8F1C37CE-ADC1-4490-A4A7-005B9E94A862}" type="presParOf" srcId="{24784404-8F9E-4300-A69A-5D3AFC14C41B}" destId="{87700910-73E7-4BCE-A3B1-77B194970378}" srcOrd="2" destOrd="0" presId="urn:microsoft.com/office/officeart/2011/layout/Picture Frame"/>
    <dgm:cxn modelId="{76038CF5-1EB0-46D1-B728-BACEE78065B0}" type="presParOf" srcId="{1780BABA-85B3-4FA7-88CA-63403DBC85C1}" destId="{10DDFD95-8CF8-4A21-96C4-7E252D5CC346}" srcOrd="3" destOrd="0" presId="urn:microsoft.com/office/officeart/2011/layout/Picture Frame"/>
    <dgm:cxn modelId="{2791A100-AD50-4024-AF6A-006FF3BC1253}" type="presParOf" srcId="{1780BABA-85B3-4FA7-88CA-63403DBC85C1}" destId="{C3B4A034-1EDA-48BF-BC8C-B7912A70C47C}" srcOrd="4" destOrd="0" presId="urn:microsoft.com/office/officeart/2011/layout/Picture Frame"/>
    <dgm:cxn modelId="{9BA31431-8879-4FCB-9D8C-FA8245B24BDC}" type="presParOf" srcId="{C3B4A034-1EDA-48BF-BC8C-B7912A70C47C}" destId="{81DEBD97-2DCA-4CF0-8492-04FD19619A7D}" srcOrd="0" destOrd="0" presId="urn:microsoft.com/office/officeart/2011/layout/Picture Frame"/>
    <dgm:cxn modelId="{B66177D7-D01E-4C72-959D-CCB74BFDC7E2}" type="presParOf" srcId="{C3B4A034-1EDA-48BF-BC8C-B7912A70C47C}" destId="{CA028670-D664-4244-91BC-ABEB97CC7E74}" srcOrd="1" destOrd="0" presId="urn:microsoft.com/office/officeart/2011/layout/Picture Frame"/>
    <dgm:cxn modelId="{4679F76C-7188-4B7C-9097-A352D1949E46}" type="presParOf" srcId="{C3B4A034-1EDA-48BF-BC8C-B7912A70C47C}" destId="{784B6253-E7C9-41A0-B373-3D77FEC46869}" srcOrd="2" destOrd="0" presId="urn:microsoft.com/office/officeart/2011/layout/Picture Frame"/>
    <dgm:cxn modelId="{183AA000-9538-4F6D-94FD-8201293E1EEF}" type="presParOf" srcId="{1780BABA-85B3-4FA7-88CA-63403DBC85C1}" destId="{3F506F05-9AE9-45C5-9634-E157E8696F80}" srcOrd="5" destOrd="0" presId="urn:microsoft.com/office/officeart/2011/layout/Picture Frame"/>
    <dgm:cxn modelId="{B5F79871-E0B7-450B-B307-5B180F750B0C}" type="presParOf" srcId="{1780BABA-85B3-4FA7-88CA-63403DBC85C1}" destId="{3CC8E8C0-E919-4AD9-9B41-851BC8F5DAEF}" srcOrd="6" destOrd="0" presId="urn:microsoft.com/office/officeart/2011/layout/Picture Frame"/>
    <dgm:cxn modelId="{FA6985FB-B5A8-4A56-9CE3-8B40C031FA12}" type="presParOf" srcId="{3CC8E8C0-E919-4AD9-9B41-851BC8F5DAEF}" destId="{47FFEB8B-74B2-453A-AA14-E485F69A9389}" srcOrd="0" destOrd="0" presId="urn:microsoft.com/office/officeart/2011/layout/Picture Frame"/>
    <dgm:cxn modelId="{3AC7FAEC-43AF-4813-9797-7069E1787FBE}" type="presParOf" srcId="{3CC8E8C0-E919-4AD9-9B41-851BC8F5DAEF}" destId="{1209B611-4000-4537-9096-6B9E94E7CFDE}" srcOrd="1" destOrd="0" presId="urn:microsoft.com/office/officeart/2011/layout/Picture Frame"/>
    <dgm:cxn modelId="{50EEB846-DE11-4CE6-953A-9F533537F90D}" type="presParOf" srcId="{3CC8E8C0-E919-4AD9-9B41-851BC8F5DAEF}" destId="{3319F96D-68B6-456D-B1FC-18FB8AA96F6C}" srcOrd="2" destOrd="0" presId="urn:microsoft.com/office/officeart/2011/layout/Picture Frame"/>
    <dgm:cxn modelId="{C5399D77-744F-4AB0-9F82-A101A1429FBB}" type="presParOf" srcId="{1780BABA-85B3-4FA7-88CA-63403DBC85C1}" destId="{BE72F20D-9E0B-4E59-8811-193174C56219}" srcOrd="7" destOrd="0" presId="urn:microsoft.com/office/officeart/2011/layout/Picture Frame"/>
    <dgm:cxn modelId="{2C8FA789-89C0-47BC-9394-1FF8C3942898}" type="presParOf" srcId="{1780BABA-85B3-4FA7-88CA-63403DBC85C1}" destId="{9734C70E-32D1-45F9-87BF-6B17C2187887}" srcOrd="8" destOrd="0" presId="urn:microsoft.com/office/officeart/2011/layout/Picture Frame"/>
    <dgm:cxn modelId="{D41092B0-FBCE-440D-9BAF-EECB65B4D423}" type="presParOf" srcId="{9734C70E-32D1-45F9-87BF-6B17C2187887}" destId="{A4AF5E44-2D05-4A86-9705-4BB46558F35E}" srcOrd="0" destOrd="0" presId="urn:microsoft.com/office/officeart/2011/layout/Picture Frame"/>
    <dgm:cxn modelId="{945A620C-3BA0-486C-A804-7DE1297E759B}" type="presParOf" srcId="{9734C70E-32D1-45F9-87BF-6B17C2187887}" destId="{80D01D27-6184-4BDB-B3AB-E32817DF35B8}" srcOrd="1" destOrd="0" presId="urn:microsoft.com/office/officeart/2011/layout/Picture Frame"/>
    <dgm:cxn modelId="{9A6CA553-5A3E-4E8F-99F6-61326F709604}" type="presParOf" srcId="{9734C70E-32D1-45F9-87BF-6B17C2187887}" destId="{1EBCC891-76BC-454C-964D-6F574B2C6A07}" srcOrd="2" destOrd="0" presId="urn:microsoft.com/office/officeart/2011/layout/Picture Fram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16DBE42-46DF-445E-9449-32DB440D2136}" type="doc">
      <dgm:prSet loTypeId="urn:microsoft.com/office/officeart/2011/layout/Picture Frame" loCatId="picture" qsTypeId="urn:microsoft.com/office/officeart/2005/8/quickstyle/simple1#4" qsCatId="simple" csTypeId="urn:microsoft.com/office/officeart/2005/8/colors/accent1_2#4" csCatId="accent1" phldr="1"/>
      <dgm:spPr/>
      <dgm:t>
        <a:bodyPr/>
        <a:lstStyle/>
        <a:p>
          <a:endParaRPr lang="en-US"/>
        </a:p>
      </dgm:t>
    </dgm:pt>
    <dgm:pt modelId="{E0CE01CF-FE0F-4F0C-AD99-1BC276E11350}">
      <dgm:prSet phldrT="[Text]" custT="1"/>
      <dgm:spPr/>
      <dgm:t>
        <a:bodyPr/>
        <a:lstStyle/>
        <a:p>
          <a:endParaRPr lang="en-US" sz="1600" dirty="0"/>
        </a:p>
      </dgm:t>
    </dgm:pt>
    <dgm:pt modelId="{81BFACDB-A670-4B9E-B753-C6C076E9456F}" type="parTrans" cxnId="{DE23F842-C690-4FEF-A36B-0916F99DE565}">
      <dgm:prSet/>
      <dgm:spPr/>
      <dgm:t>
        <a:bodyPr/>
        <a:lstStyle/>
        <a:p>
          <a:endParaRPr lang="en-US"/>
        </a:p>
      </dgm:t>
    </dgm:pt>
    <dgm:pt modelId="{241890EF-7EC2-41AA-AE25-DFB5A6C0D529}" type="sibTrans" cxnId="{DE23F842-C690-4FEF-A36B-0916F99DE565}">
      <dgm:prSet/>
      <dgm:spPr/>
      <dgm:t>
        <a:bodyPr/>
        <a:lstStyle/>
        <a:p>
          <a:endParaRPr lang="en-US"/>
        </a:p>
      </dgm:t>
    </dgm:pt>
    <dgm:pt modelId="{2D24B0EC-4761-4B36-9363-F98CE9BD9320}">
      <dgm:prSet phldrT="[Text]" custT="1"/>
      <dgm:spPr/>
      <dgm:t>
        <a:bodyPr/>
        <a:lstStyle/>
        <a:p>
          <a:endParaRPr lang="en-US" sz="1600" b="0" dirty="0"/>
        </a:p>
      </dgm:t>
    </dgm:pt>
    <dgm:pt modelId="{9B411804-0BFD-4267-9F7F-656863F73C68}" type="parTrans" cxnId="{102715FB-0D2E-47B8-A05E-CB2D556045B8}">
      <dgm:prSet/>
      <dgm:spPr/>
      <dgm:t>
        <a:bodyPr/>
        <a:lstStyle/>
        <a:p>
          <a:endParaRPr lang="en-US"/>
        </a:p>
      </dgm:t>
    </dgm:pt>
    <dgm:pt modelId="{6BC4ADEA-C4FF-4D3B-B2AF-28584238D99B}" type="sibTrans" cxnId="{102715FB-0D2E-47B8-A05E-CB2D556045B8}">
      <dgm:prSet/>
      <dgm:spPr/>
      <dgm:t>
        <a:bodyPr/>
        <a:lstStyle/>
        <a:p>
          <a:endParaRPr lang="en-US"/>
        </a:p>
      </dgm:t>
    </dgm:pt>
    <dgm:pt modelId="{C15855E5-A736-4926-AA23-32A94101C67B}">
      <dgm:prSet phldrT="[Text]" custT="1"/>
      <dgm:spPr/>
      <dgm:t>
        <a:bodyPr/>
        <a:lstStyle/>
        <a:p>
          <a:endParaRPr lang="en-US" sz="1600" dirty="0"/>
        </a:p>
      </dgm:t>
    </dgm:pt>
    <dgm:pt modelId="{27A71855-CA14-4F97-8641-3C0C38057625}" type="parTrans" cxnId="{6EA9A3B5-D79E-4B5D-A2A3-7D65B4204762}">
      <dgm:prSet/>
      <dgm:spPr/>
      <dgm:t>
        <a:bodyPr/>
        <a:lstStyle/>
        <a:p>
          <a:endParaRPr lang="en-US"/>
        </a:p>
      </dgm:t>
    </dgm:pt>
    <dgm:pt modelId="{09CF055B-7784-4D8A-BDB9-DD7213EF4712}" type="sibTrans" cxnId="{6EA9A3B5-D79E-4B5D-A2A3-7D65B4204762}">
      <dgm:prSet/>
      <dgm:spPr/>
      <dgm:t>
        <a:bodyPr/>
        <a:lstStyle/>
        <a:p>
          <a:endParaRPr lang="en-US"/>
        </a:p>
      </dgm:t>
    </dgm:pt>
    <dgm:pt modelId="{7AD65093-E3EB-40BA-8CD2-F111A9C162E5}">
      <dgm:prSet phldrT="[Metin]" phldr="0"/>
      <dgm:spPr/>
      <dgm:t>
        <a:bodyPr/>
        <a:lstStyle/>
        <a:p>
          <a:endParaRPr lang="tr-TR" dirty="0"/>
        </a:p>
      </dgm:t>
    </dgm:pt>
    <dgm:pt modelId="{F038EB22-F073-4B03-9756-B0707B992F6F}" type="sibTrans" cxnId="{FC3E6B56-77CE-4C2E-BC9A-08B41CE54499}">
      <dgm:prSet/>
      <dgm:spPr/>
      <dgm:t>
        <a:bodyPr/>
        <a:lstStyle/>
        <a:p>
          <a:endParaRPr lang="tr-TR"/>
        </a:p>
      </dgm:t>
    </dgm:pt>
    <dgm:pt modelId="{26FEFFBE-E3F1-469F-8466-43A4A5CDCC26}" type="parTrans" cxnId="{FC3E6B56-77CE-4C2E-BC9A-08B41CE54499}">
      <dgm:prSet/>
      <dgm:spPr/>
      <dgm:t>
        <a:bodyPr/>
        <a:lstStyle/>
        <a:p>
          <a:endParaRPr lang="tr-TR"/>
        </a:p>
      </dgm:t>
    </dgm:pt>
    <dgm:pt modelId="{734E4464-B886-4E86-8D5C-A4B66B4D7625}">
      <dgm:prSet phldrT="[Metin]"/>
      <dgm:spPr/>
      <dgm:t>
        <a:bodyPr/>
        <a:lstStyle/>
        <a:p>
          <a:endParaRPr lang="tr-TR" dirty="0"/>
        </a:p>
      </dgm:t>
    </dgm:pt>
    <dgm:pt modelId="{C04139FE-60CF-4A24-8DED-1A5E4F2D92AC}" type="sibTrans" cxnId="{ECE0122E-2461-4085-8EFC-2A196FC45ACD}">
      <dgm:prSet/>
      <dgm:spPr/>
      <dgm:t>
        <a:bodyPr/>
        <a:lstStyle/>
        <a:p>
          <a:endParaRPr lang="tr-TR"/>
        </a:p>
      </dgm:t>
    </dgm:pt>
    <dgm:pt modelId="{2D67EA47-CCC3-4E54-A685-C2865EBF8D4E}" type="parTrans" cxnId="{ECE0122E-2461-4085-8EFC-2A196FC45ACD}">
      <dgm:prSet/>
      <dgm:spPr/>
      <dgm:t>
        <a:bodyPr/>
        <a:lstStyle/>
        <a:p>
          <a:endParaRPr lang="tr-TR"/>
        </a:p>
      </dgm:t>
    </dgm:pt>
    <dgm:pt modelId="{1780BABA-85B3-4FA7-88CA-63403DBC85C1}" type="pres">
      <dgm:prSet presAssocID="{F16DBE42-46DF-445E-9449-32DB440D2136}" presName="Name0" presStyleCnt="0">
        <dgm:presLayoutVars>
          <dgm:chMax/>
          <dgm:chPref/>
          <dgm:dir/>
        </dgm:presLayoutVars>
      </dgm:prSet>
      <dgm:spPr/>
    </dgm:pt>
    <dgm:pt modelId="{0F3F4893-F739-4A41-B4A7-DA0FBF52343F}" type="pres">
      <dgm:prSet presAssocID="{E0CE01CF-FE0F-4F0C-AD99-1BC276E11350}" presName="composite" presStyleCnt="0"/>
      <dgm:spPr/>
    </dgm:pt>
    <dgm:pt modelId="{338A77C0-778D-49D7-9751-E2EEB0F69870}" type="pres">
      <dgm:prSet presAssocID="{E0CE01CF-FE0F-4F0C-AD99-1BC276E11350}" presName="ParentText" presStyleLbl="revTx" presStyleIdx="0" presStyleCnt="5">
        <dgm:presLayoutVars>
          <dgm:chMax val="0"/>
          <dgm:chPref val="0"/>
          <dgm:bulletEnabled val="1"/>
        </dgm:presLayoutVars>
      </dgm:prSet>
      <dgm:spPr/>
    </dgm:pt>
    <dgm:pt modelId="{EDB14F81-E865-4502-B7E4-FA287D5671A0}" type="pres">
      <dgm:prSet presAssocID="{E0CE01CF-FE0F-4F0C-AD99-1BC276E11350}" presName="Accent1" presStyleLbl="parChTrans1D1" presStyleIdx="0" presStyleCnt="5"/>
      <dgm:spPr/>
    </dgm:pt>
    <dgm:pt modelId="{1E11624C-9D4C-4F04-8B70-CD729D3A90EC}" type="pres">
      <dgm:prSet presAssocID="{E0CE01CF-FE0F-4F0C-AD99-1BC276E11350}" presName="Image" presStyleLbl="alignImgPlace1" presStyleIdx="0" presStyleCnt="5"/>
      <dgm:spPr>
        <a:blipFill>
          <a:blip xmlns:r="http://schemas.openxmlformats.org/officeDocument/2006/relationships" r:embed="rId1"/>
          <a:srcRect/>
          <a:stretch>
            <a:fillRect t="-11000" b="-11000"/>
          </a:stretch>
        </a:blipFill>
      </dgm:spPr>
    </dgm:pt>
    <dgm:pt modelId="{BC678E39-FDE7-4CDD-9DED-80DBD7F876A4}" type="pres">
      <dgm:prSet presAssocID="{241890EF-7EC2-41AA-AE25-DFB5A6C0D529}" presName="sibTrans" presStyleCnt="0"/>
      <dgm:spPr/>
    </dgm:pt>
    <dgm:pt modelId="{EB0CE0FC-76F1-4D51-A2F4-5A038B84DB11}" type="pres">
      <dgm:prSet presAssocID="{2D24B0EC-4761-4B36-9363-F98CE9BD9320}" presName="composite" presStyleCnt="0"/>
      <dgm:spPr/>
    </dgm:pt>
    <dgm:pt modelId="{2063AE92-920B-432C-8582-2FCC64DB6522}" type="pres">
      <dgm:prSet presAssocID="{2D24B0EC-4761-4B36-9363-F98CE9BD9320}" presName="ParentText" presStyleLbl="revTx" presStyleIdx="1" presStyleCnt="5">
        <dgm:presLayoutVars>
          <dgm:chMax val="0"/>
          <dgm:chPref val="0"/>
          <dgm:bulletEnabled val="1"/>
        </dgm:presLayoutVars>
      </dgm:prSet>
      <dgm:spPr/>
    </dgm:pt>
    <dgm:pt modelId="{FC8E8787-FBF5-485E-AFA5-480226A25D99}" type="pres">
      <dgm:prSet presAssocID="{2D24B0EC-4761-4B36-9363-F98CE9BD9320}" presName="Accent1" presStyleLbl="parChTrans1D1" presStyleIdx="1" presStyleCnt="5"/>
      <dgm:spPr/>
    </dgm:pt>
    <dgm:pt modelId="{42B7ED75-1B91-45BA-8789-B24FCC477D93}" type="pres">
      <dgm:prSet presAssocID="{2D24B0EC-4761-4B36-9363-F98CE9BD9320}" presName="Image" presStyleLbl="alignImgPlace1" presStyleIdx="1" presStyleCnt="5"/>
      <dgm:spPr>
        <a:blipFill>
          <a:blip xmlns:r="http://schemas.openxmlformats.org/officeDocument/2006/relationships" r:embed="rId2"/>
          <a:srcRect/>
          <a:stretch>
            <a:fillRect l="-18000" r="-18000"/>
          </a:stretch>
        </a:blipFill>
      </dgm:spPr>
    </dgm:pt>
    <dgm:pt modelId="{FF823ED7-43CB-434C-8802-53FE6E8F08B9}" type="pres">
      <dgm:prSet presAssocID="{6BC4ADEA-C4FF-4D3B-B2AF-28584238D99B}" presName="sibTrans" presStyleCnt="0"/>
      <dgm:spPr/>
    </dgm:pt>
    <dgm:pt modelId="{4022DEBF-4113-4452-A3BA-E643EB4D392D}" type="pres">
      <dgm:prSet presAssocID="{C15855E5-A736-4926-AA23-32A94101C67B}" presName="composite" presStyleCnt="0"/>
      <dgm:spPr/>
    </dgm:pt>
    <dgm:pt modelId="{D510FB00-403E-4ED2-B874-47234268304A}" type="pres">
      <dgm:prSet presAssocID="{C15855E5-A736-4926-AA23-32A94101C67B}" presName="ParentText" presStyleLbl="revTx" presStyleIdx="2" presStyleCnt="5">
        <dgm:presLayoutVars>
          <dgm:chMax val="0"/>
          <dgm:chPref val="0"/>
          <dgm:bulletEnabled val="1"/>
        </dgm:presLayoutVars>
      </dgm:prSet>
      <dgm:spPr/>
    </dgm:pt>
    <dgm:pt modelId="{14A4FB1F-A19C-43F8-A561-B96F66E26CF8}" type="pres">
      <dgm:prSet presAssocID="{C15855E5-A736-4926-AA23-32A94101C67B}" presName="Accent1" presStyleLbl="parChTrans1D1" presStyleIdx="2" presStyleCnt="5"/>
      <dgm:spPr/>
    </dgm:pt>
    <dgm:pt modelId="{35C66CEA-88E6-4266-B5D2-606052786A0E}" type="pres">
      <dgm:prSet presAssocID="{C15855E5-A736-4926-AA23-32A94101C67B}" presName="Image" presStyleLbl="alignImgPlace1" presStyleIdx="2" presStyleCnt="5"/>
      <dgm:spPr>
        <a:blipFill>
          <a:blip xmlns:r="http://schemas.openxmlformats.org/officeDocument/2006/relationships" r:embed="rId3"/>
          <a:srcRect/>
          <a:stretch>
            <a:fillRect t="-1000" b="-1000"/>
          </a:stretch>
        </a:blipFill>
      </dgm:spPr>
    </dgm:pt>
    <dgm:pt modelId="{A4A2BCC8-6D5E-4E84-A31B-52AAEE78042A}" type="pres">
      <dgm:prSet presAssocID="{09CF055B-7784-4D8A-BDB9-DD7213EF4712}" presName="sibTrans" presStyleCnt="0"/>
      <dgm:spPr/>
    </dgm:pt>
    <dgm:pt modelId="{EF6898A8-32DC-4C20-BF1A-F72A882625B1}" type="pres">
      <dgm:prSet presAssocID="{7AD65093-E3EB-40BA-8CD2-F111A9C162E5}" presName="composite" presStyleCnt="0"/>
      <dgm:spPr/>
    </dgm:pt>
    <dgm:pt modelId="{8DEDD6C4-D965-4890-B7D2-72107BAE5481}" type="pres">
      <dgm:prSet presAssocID="{7AD65093-E3EB-40BA-8CD2-F111A9C162E5}" presName="ParentText" presStyleLbl="revTx" presStyleIdx="3" presStyleCnt="5">
        <dgm:presLayoutVars>
          <dgm:chMax val="0"/>
          <dgm:chPref val="0"/>
          <dgm:bulletEnabled val="1"/>
        </dgm:presLayoutVars>
      </dgm:prSet>
      <dgm:spPr/>
    </dgm:pt>
    <dgm:pt modelId="{1D3C8FF0-0328-49C6-AC9A-FAC85FE53023}" type="pres">
      <dgm:prSet presAssocID="{7AD65093-E3EB-40BA-8CD2-F111A9C162E5}" presName="Accent1" presStyleLbl="parChTrans1D1" presStyleIdx="3" presStyleCnt="5"/>
      <dgm:spPr/>
    </dgm:pt>
    <dgm:pt modelId="{BF805263-B044-4734-9A94-2A623FEED518}" type="pres">
      <dgm:prSet presAssocID="{7AD65093-E3EB-40BA-8CD2-F111A9C162E5}" presName="Image" presStyleLbl="alignImgPlace1" presStyleIdx="3" presStyleCnt="5"/>
      <dgm:spPr>
        <a:blipFill>
          <a:blip xmlns:r="http://schemas.openxmlformats.org/officeDocument/2006/relationships" r:embed="rId4"/>
          <a:srcRect/>
          <a:stretch>
            <a:fillRect t="-1000" b="-1000"/>
          </a:stretch>
        </a:blipFill>
      </dgm:spPr>
    </dgm:pt>
    <dgm:pt modelId="{367ED4CF-A552-424F-AA1E-A6B9F284EAE2}" type="pres">
      <dgm:prSet presAssocID="{F038EB22-F073-4B03-9756-B0707B992F6F}" presName="sibTrans" presStyleCnt="0"/>
      <dgm:spPr/>
    </dgm:pt>
    <dgm:pt modelId="{8FA55E0D-D5EF-42CC-9828-5F22EAACE824}" type="pres">
      <dgm:prSet presAssocID="{734E4464-B886-4E86-8D5C-A4B66B4D7625}" presName="composite" presStyleCnt="0"/>
      <dgm:spPr/>
    </dgm:pt>
    <dgm:pt modelId="{070F5853-5734-4797-B555-E156F14D729C}" type="pres">
      <dgm:prSet presAssocID="{734E4464-B886-4E86-8D5C-A4B66B4D7625}" presName="ParentText" presStyleLbl="revTx" presStyleIdx="4" presStyleCnt="5">
        <dgm:presLayoutVars>
          <dgm:chMax val="0"/>
          <dgm:chPref val="0"/>
          <dgm:bulletEnabled val="1"/>
        </dgm:presLayoutVars>
      </dgm:prSet>
      <dgm:spPr/>
    </dgm:pt>
    <dgm:pt modelId="{7079324D-FA58-4AE3-B2CC-0DCE296CE54F}" type="pres">
      <dgm:prSet presAssocID="{734E4464-B886-4E86-8D5C-A4B66B4D7625}" presName="Accent1" presStyleLbl="parChTrans1D1" presStyleIdx="4" presStyleCnt="5"/>
      <dgm:spPr/>
    </dgm:pt>
    <dgm:pt modelId="{64EA57C2-4EB0-4544-ABD7-56880463F1EF}" type="pres">
      <dgm:prSet presAssocID="{734E4464-B886-4E86-8D5C-A4B66B4D7625}" presName="Image" presStyleLbl="alignImgPlace1" presStyleIdx="4" presStyleCnt="5" custLinFactNeighborX="-7162" custLinFactNeighborY="17748"/>
      <dgm:spPr/>
    </dgm:pt>
  </dgm:ptLst>
  <dgm:cxnLst>
    <dgm:cxn modelId="{FC3C6B0A-B973-442F-A397-A250B31CAED7}" type="presOf" srcId="{F16DBE42-46DF-445E-9449-32DB440D2136}" destId="{1780BABA-85B3-4FA7-88CA-63403DBC85C1}" srcOrd="0" destOrd="0" presId="urn:microsoft.com/office/officeart/2011/layout/Picture Frame"/>
    <dgm:cxn modelId="{39F3820F-32A2-416B-930B-65EC957CEEED}" type="presOf" srcId="{C15855E5-A736-4926-AA23-32A94101C67B}" destId="{D510FB00-403E-4ED2-B874-47234268304A}" srcOrd="0" destOrd="0" presId="urn:microsoft.com/office/officeart/2011/layout/Picture Frame"/>
    <dgm:cxn modelId="{ECE0122E-2461-4085-8EFC-2A196FC45ACD}" srcId="{F16DBE42-46DF-445E-9449-32DB440D2136}" destId="{734E4464-B886-4E86-8D5C-A4B66B4D7625}" srcOrd="4" destOrd="0" parTransId="{2D67EA47-CCC3-4E54-A685-C2865EBF8D4E}" sibTransId="{C04139FE-60CF-4A24-8DED-1A5E4F2D92AC}"/>
    <dgm:cxn modelId="{DE23F842-C690-4FEF-A36B-0916F99DE565}" srcId="{F16DBE42-46DF-445E-9449-32DB440D2136}" destId="{E0CE01CF-FE0F-4F0C-AD99-1BC276E11350}" srcOrd="0" destOrd="0" parTransId="{81BFACDB-A670-4B9E-B753-C6C076E9456F}" sibTransId="{241890EF-7EC2-41AA-AE25-DFB5A6C0D529}"/>
    <dgm:cxn modelId="{FC3E6B56-77CE-4C2E-BC9A-08B41CE54499}" srcId="{F16DBE42-46DF-445E-9449-32DB440D2136}" destId="{7AD65093-E3EB-40BA-8CD2-F111A9C162E5}" srcOrd="3" destOrd="0" parTransId="{26FEFFBE-E3F1-469F-8466-43A4A5CDCC26}" sibTransId="{F038EB22-F073-4B03-9756-B0707B992F6F}"/>
    <dgm:cxn modelId="{A140B794-FF91-4B81-91BD-BD9DC9C844E7}" type="presOf" srcId="{7AD65093-E3EB-40BA-8CD2-F111A9C162E5}" destId="{8DEDD6C4-D965-4890-B7D2-72107BAE5481}" srcOrd="0" destOrd="0" presId="urn:microsoft.com/office/officeart/2011/layout/Picture Frame"/>
    <dgm:cxn modelId="{F453B69F-F4BD-4721-863E-5268CE455951}" type="presOf" srcId="{734E4464-B886-4E86-8D5C-A4B66B4D7625}" destId="{070F5853-5734-4797-B555-E156F14D729C}" srcOrd="0" destOrd="0" presId="urn:microsoft.com/office/officeart/2011/layout/Picture Frame"/>
    <dgm:cxn modelId="{6EA9A3B5-D79E-4B5D-A2A3-7D65B4204762}" srcId="{F16DBE42-46DF-445E-9449-32DB440D2136}" destId="{C15855E5-A736-4926-AA23-32A94101C67B}" srcOrd="2" destOrd="0" parTransId="{27A71855-CA14-4F97-8641-3C0C38057625}" sibTransId="{09CF055B-7784-4D8A-BDB9-DD7213EF4712}"/>
    <dgm:cxn modelId="{157C9BBC-291A-4EFC-BC90-B556D470F90B}" type="presOf" srcId="{E0CE01CF-FE0F-4F0C-AD99-1BC276E11350}" destId="{338A77C0-778D-49D7-9751-E2EEB0F69870}" srcOrd="0" destOrd="0" presId="urn:microsoft.com/office/officeart/2011/layout/Picture Frame"/>
    <dgm:cxn modelId="{43BCCCCC-BAD8-4CDD-A2D4-BE4AB3D488AC}" type="presOf" srcId="{2D24B0EC-4761-4B36-9363-F98CE9BD9320}" destId="{2063AE92-920B-432C-8582-2FCC64DB6522}" srcOrd="0" destOrd="0" presId="urn:microsoft.com/office/officeart/2011/layout/Picture Frame"/>
    <dgm:cxn modelId="{102715FB-0D2E-47B8-A05E-CB2D556045B8}" srcId="{F16DBE42-46DF-445E-9449-32DB440D2136}" destId="{2D24B0EC-4761-4B36-9363-F98CE9BD9320}" srcOrd="1" destOrd="0" parTransId="{9B411804-0BFD-4267-9F7F-656863F73C68}" sibTransId="{6BC4ADEA-C4FF-4D3B-B2AF-28584238D99B}"/>
    <dgm:cxn modelId="{CE3DC0B8-5EEA-4F5E-B4C9-F9E354E1DC60}" type="presParOf" srcId="{1780BABA-85B3-4FA7-88CA-63403DBC85C1}" destId="{0F3F4893-F739-4A41-B4A7-DA0FBF52343F}" srcOrd="0" destOrd="0" presId="urn:microsoft.com/office/officeart/2011/layout/Picture Frame"/>
    <dgm:cxn modelId="{9173FC0E-90FA-415B-9A1A-0699442D4685}" type="presParOf" srcId="{0F3F4893-F739-4A41-B4A7-DA0FBF52343F}" destId="{338A77C0-778D-49D7-9751-E2EEB0F69870}" srcOrd="0" destOrd="0" presId="urn:microsoft.com/office/officeart/2011/layout/Picture Frame"/>
    <dgm:cxn modelId="{ED8E9819-D4CA-424B-9C07-3E797AFF01DC}" type="presParOf" srcId="{0F3F4893-F739-4A41-B4A7-DA0FBF52343F}" destId="{EDB14F81-E865-4502-B7E4-FA287D5671A0}" srcOrd="1" destOrd="0" presId="urn:microsoft.com/office/officeart/2011/layout/Picture Frame"/>
    <dgm:cxn modelId="{76CAD7AC-5B7B-4E48-8911-EDD780EBD590}" type="presParOf" srcId="{0F3F4893-F739-4A41-B4A7-DA0FBF52343F}" destId="{1E11624C-9D4C-4F04-8B70-CD729D3A90EC}" srcOrd="2" destOrd="0" presId="urn:microsoft.com/office/officeart/2011/layout/Picture Frame"/>
    <dgm:cxn modelId="{07239BAF-0782-4626-87AB-FC1286B3A698}" type="presParOf" srcId="{1780BABA-85B3-4FA7-88CA-63403DBC85C1}" destId="{BC678E39-FDE7-4CDD-9DED-80DBD7F876A4}" srcOrd="1" destOrd="0" presId="urn:microsoft.com/office/officeart/2011/layout/Picture Frame"/>
    <dgm:cxn modelId="{24987EA5-2D07-4DA7-BBD9-200F375D2038}" type="presParOf" srcId="{1780BABA-85B3-4FA7-88CA-63403DBC85C1}" destId="{EB0CE0FC-76F1-4D51-A2F4-5A038B84DB11}" srcOrd="2" destOrd="0" presId="urn:microsoft.com/office/officeart/2011/layout/Picture Frame"/>
    <dgm:cxn modelId="{902A5EA1-4605-4CFC-AFCB-F6F6B3996F81}" type="presParOf" srcId="{EB0CE0FC-76F1-4D51-A2F4-5A038B84DB11}" destId="{2063AE92-920B-432C-8582-2FCC64DB6522}" srcOrd="0" destOrd="0" presId="urn:microsoft.com/office/officeart/2011/layout/Picture Frame"/>
    <dgm:cxn modelId="{E824ADE9-520C-42F8-86DA-D325F4029FF6}" type="presParOf" srcId="{EB0CE0FC-76F1-4D51-A2F4-5A038B84DB11}" destId="{FC8E8787-FBF5-485E-AFA5-480226A25D99}" srcOrd="1" destOrd="0" presId="urn:microsoft.com/office/officeart/2011/layout/Picture Frame"/>
    <dgm:cxn modelId="{B910095B-89DC-48A1-A38F-B426FFF38228}" type="presParOf" srcId="{EB0CE0FC-76F1-4D51-A2F4-5A038B84DB11}" destId="{42B7ED75-1B91-45BA-8789-B24FCC477D93}" srcOrd="2" destOrd="0" presId="urn:microsoft.com/office/officeart/2011/layout/Picture Frame"/>
    <dgm:cxn modelId="{C94E8272-BE92-44B3-A72B-BD15292534C5}" type="presParOf" srcId="{1780BABA-85B3-4FA7-88CA-63403DBC85C1}" destId="{FF823ED7-43CB-434C-8802-53FE6E8F08B9}" srcOrd="3" destOrd="0" presId="urn:microsoft.com/office/officeart/2011/layout/Picture Frame"/>
    <dgm:cxn modelId="{2B387A7C-168F-413B-A026-3D1A249E0476}" type="presParOf" srcId="{1780BABA-85B3-4FA7-88CA-63403DBC85C1}" destId="{4022DEBF-4113-4452-A3BA-E643EB4D392D}" srcOrd="4" destOrd="0" presId="urn:microsoft.com/office/officeart/2011/layout/Picture Frame"/>
    <dgm:cxn modelId="{B0097E7D-C556-4F82-9ACD-8528C87EB8B0}" type="presParOf" srcId="{4022DEBF-4113-4452-A3BA-E643EB4D392D}" destId="{D510FB00-403E-4ED2-B874-47234268304A}" srcOrd="0" destOrd="0" presId="urn:microsoft.com/office/officeart/2011/layout/Picture Frame"/>
    <dgm:cxn modelId="{6ADE3832-D14B-4249-A408-CB8F2E335923}" type="presParOf" srcId="{4022DEBF-4113-4452-A3BA-E643EB4D392D}" destId="{14A4FB1F-A19C-43F8-A561-B96F66E26CF8}" srcOrd="1" destOrd="0" presId="urn:microsoft.com/office/officeart/2011/layout/Picture Frame"/>
    <dgm:cxn modelId="{65C14CF2-A9A0-4527-8CEE-EDE30B4B6A53}" type="presParOf" srcId="{4022DEBF-4113-4452-A3BA-E643EB4D392D}" destId="{35C66CEA-88E6-4266-B5D2-606052786A0E}" srcOrd="2" destOrd="0" presId="urn:microsoft.com/office/officeart/2011/layout/Picture Frame"/>
    <dgm:cxn modelId="{6B054651-D015-4936-B53A-B37A8ACB8D9B}" type="presParOf" srcId="{1780BABA-85B3-4FA7-88CA-63403DBC85C1}" destId="{A4A2BCC8-6D5E-4E84-A31B-52AAEE78042A}" srcOrd="5" destOrd="0" presId="urn:microsoft.com/office/officeart/2011/layout/Picture Frame"/>
    <dgm:cxn modelId="{13C59EF1-6AA6-4DCC-B7F6-4BE0229A8E63}" type="presParOf" srcId="{1780BABA-85B3-4FA7-88CA-63403DBC85C1}" destId="{EF6898A8-32DC-4C20-BF1A-F72A882625B1}" srcOrd="6" destOrd="0" presId="urn:microsoft.com/office/officeart/2011/layout/Picture Frame"/>
    <dgm:cxn modelId="{D26A5B26-92DD-4A82-8907-5C1E89721464}" type="presParOf" srcId="{EF6898A8-32DC-4C20-BF1A-F72A882625B1}" destId="{8DEDD6C4-D965-4890-B7D2-72107BAE5481}" srcOrd="0" destOrd="0" presId="urn:microsoft.com/office/officeart/2011/layout/Picture Frame"/>
    <dgm:cxn modelId="{616118F9-7619-495C-932C-C8392482F25E}" type="presParOf" srcId="{EF6898A8-32DC-4C20-BF1A-F72A882625B1}" destId="{1D3C8FF0-0328-49C6-AC9A-FAC85FE53023}" srcOrd="1" destOrd="0" presId="urn:microsoft.com/office/officeart/2011/layout/Picture Frame"/>
    <dgm:cxn modelId="{4BFA002B-B196-4FB8-8DCE-A55E073C894E}" type="presParOf" srcId="{EF6898A8-32DC-4C20-BF1A-F72A882625B1}" destId="{BF805263-B044-4734-9A94-2A623FEED518}" srcOrd="2" destOrd="0" presId="urn:microsoft.com/office/officeart/2011/layout/Picture Frame"/>
    <dgm:cxn modelId="{94517E3F-F162-45A9-8922-02A63BD865FD}" type="presParOf" srcId="{1780BABA-85B3-4FA7-88CA-63403DBC85C1}" destId="{367ED4CF-A552-424F-AA1E-A6B9F284EAE2}" srcOrd="7" destOrd="0" presId="urn:microsoft.com/office/officeart/2011/layout/Picture Frame"/>
    <dgm:cxn modelId="{10CFC397-A8FB-41CA-9BFD-CF24FBDDAC5F}" type="presParOf" srcId="{1780BABA-85B3-4FA7-88CA-63403DBC85C1}" destId="{8FA55E0D-D5EF-42CC-9828-5F22EAACE824}" srcOrd="8" destOrd="0" presId="urn:microsoft.com/office/officeart/2011/layout/Picture Frame"/>
    <dgm:cxn modelId="{83F4410A-96AC-4F7D-ADE6-3BE46541EE97}" type="presParOf" srcId="{8FA55E0D-D5EF-42CC-9828-5F22EAACE824}" destId="{070F5853-5734-4797-B555-E156F14D729C}" srcOrd="0" destOrd="0" presId="urn:microsoft.com/office/officeart/2011/layout/Picture Frame"/>
    <dgm:cxn modelId="{2C6D7332-4418-4D02-AC58-FAE17983B86C}" type="presParOf" srcId="{8FA55E0D-D5EF-42CC-9828-5F22EAACE824}" destId="{7079324D-FA58-4AE3-B2CC-0DCE296CE54F}" srcOrd="1" destOrd="0" presId="urn:microsoft.com/office/officeart/2011/layout/Picture Frame"/>
    <dgm:cxn modelId="{A8860B44-247C-42C9-AD04-079A8687EDD9}" type="presParOf" srcId="{8FA55E0D-D5EF-42CC-9828-5F22EAACE824}" destId="{64EA57C2-4EB0-4544-ABD7-56880463F1EF}" srcOrd="2" destOrd="0" presId="urn:microsoft.com/office/officeart/2011/layout/Picture Frame"/>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19F96D-68B6-456D-B1FC-18FB8AA96F6C}">
      <dsp:nvSpPr>
        <dsp:cNvPr id="0" name=""/>
        <dsp:cNvSpPr/>
      </dsp:nvSpPr>
      <dsp:spPr>
        <a:xfrm>
          <a:off x="7014362" y="740727"/>
          <a:ext cx="1670259" cy="1031041"/>
        </a:xfrm>
        <a:prstGeom prst="rect">
          <a:avLst/>
        </a:prstGeom>
        <a:blipFill>
          <a:blip xmlns:r="http://schemas.openxmlformats.org/officeDocument/2006/relationships" r:embed="rId1"/>
          <a:srcRect/>
          <a:stretch>
            <a:fillRect l="-7000" r="-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4B6253-E7C9-41A0-B373-3D77FEC46869}">
      <dsp:nvSpPr>
        <dsp:cNvPr id="0" name=""/>
        <dsp:cNvSpPr/>
      </dsp:nvSpPr>
      <dsp:spPr>
        <a:xfrm>
          <a:off x="4721462" y="740727"/>
          <a:ext cx="1670259" cy="1031041"/>
        </a:xfrm>
        <a:prstGeom prst="rect">
          <a:avLst/>
        </a:prstGeom>
        <a:blipFill>
          <a:blip xmlns:r="http://schemas.openxmlformats.org/officeDocument/2006/relationships" r:embed="rId2"/>
          <a:srcRect/>
          <a:stretch>
            <a:fillRect l="-4000" r="-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7700910-73E7-4BCE-A3B1-77B194970378}">
      <dsp:nvSpPr>
        <dsp:cNvPr id="0" name=""/>
        <dsp:cNvSpPr/>
      </dsp:nvSpPr>
      <dsp:spPr>
        <a:xfrm>
          <a:off x="2428561" y="740727"/>
          <a:ext cx="1670259" cy="1031041"/>
        </a:xfrm>
        <a:prstGeom prst="rect">
          <a:avLst/>
        </a:prstGeom>
        <a:blipFill>
          <a:blip xmlns:r="http://schemas.openxmlformats.org/officeDocument/2006/relationships" r:embed="rId3"/>
          <a:srcRect/>
          <a:stretch>
            <a:fillRect t="-4000" b="-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BCC891-76BC-454C-964D-6F574B2C6A07}">
      <dsp:nvSpPr>
        <dsp:cNvPr id="0" name=""/>
        <dsp:cNvSpPr/>
      </dsp:nvSpPr>
      <dsp:spPr>
        <a:xfrm>
          <a:off x="9307263" y="740727"/>
          <a:ext cx="1670259" cy="1031041"/>
        </a:xfrm>
        <a:prstGeom prst="rect">
          <a:avLst/>
        </a:prstGeom>
        <a:blipFill>
          <a:blip xmlns:r="http://schemas.openxmlformats.org/officeDocument/2006/relationships" r:embed="rId4"/>
          <a:srcRect/>
          <a:stretch>
            <a:fillRect t="-31000" b="-3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E038386-F855-4F2B-AF44-B1E9BD59B02E}">
      <dsp:nvSpPr>
        <dsp:cNvPr id="0" name=""/>
        <dsp:cNvSpPr/>
      </dsp:nvSpPr>
      <dsp:spPr>
        <a:xfrm>
          <a:off x="135660" y="740727"/>
          <a:ext cx="1670259" cy="1031041"/>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46F63F0-3949-41E0-B6DD-16BF7AD3369B}">
      <dsp:nvSpPr>
        <dsp:cNvPr id="0" name=""/>
        <dsp:cNvSpPr/>
      </dsp:nvSpPr>
      <dsp:spPr>
        <a:xfrm>
          <a:off x="5877" y="1765739"/>
          <a:ext cx="1666838" cy="176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0" rIns="45720" bIns="0" numCol="1" spcCol="1270" anchor="b" anchorCtr="0">
          <a:noAutofit/>
        </a:bodyPr>
        <a:lstStyle/>
        <a:p>
          <a:pPr marL="0" lvl="0" indent="0" algn="l" defTabSz="533400">
            <a:lnSpc>
              <a:spcPct val="90000"/>
            </a:lnSpc>
            <a:spcBef>
              <a:spcPct val="0"/>
            </a:spcBef>
            <a:spcAft>
              <a:spcPct val="35000"/>
            </a:spcAft>
            <a:buNone/>
          </a:pPr>
          <a:endParaRPr lang="tr-TR" sz="1200" kern="1200" dirty="0"/>
        </a:p>
      </dsp:txBody>
      <dsp:txXfrm>
        <a:off x="5877" y="1765739"/>
        <a:ext cx="1666838" cy="176422"/>
      </dsp:txXfrm>
    </dsp:sp>
    <dsp:sp modelId="{4506332D-4E6B-461A-A5D6-C4DE62B9AE12}">
      <dsp:nvSpPr>
        <dsp:cNvPr id="0" name=""/>
        <dsp:cNvSpPr/>
      </dsp:nvSpPr>
      <dsp:spPr>
        <a:xfrm>
          <a:off x="5877" y="873858"/>
          <a:ext cx="1669718" cy="1072765"/>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32E62C-560D-490F-AA4F-8F85A0221C37}">
      <dsp:nvSpPr>
        <dsp:cNvPr id="0" name=""/>
        <dsp:cNvSpPr/>
      </dsp:nvSpPr>
      <dsp:spPr>
        <a:xfrm>
          <a:off x="2298778" y="1765739"/>
          <a:ext cx="1666838" cy="176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b" anchorCtr="0">
          <a:noAutofit/>
        </a:bodyPr>
        <a:lstStyle/>
        <a:p>
          <a:pPr marL="0" lvl="0" indent="0" algn="l" defTabSz="711200">
            <a:lnSpc>
              <a:spcPct val="90000"/>
            </a:lnSpc>
            <a:spcBef>
              <a:spcPct val="0"/>
            </a:spcBef>
            <a:spcAft>
              <a:spcPct val="35000"/>
            </a:spcAft>
            <a:buNone/>
          </a:pPr>
          <a:endParaRPr lang="en-US" sz="1600" kern="1200" dirty="0"/>
        </a:p>
      </dsp:txBody>
      <dsp:txXfrm>
        <a:off x="2298778" y="1765739"/>
        <a:ext cx="1666838" cy="176422"/>
      </dsp:txXfrm>
    </dsp:sp>
    <dsp:sp modelId="{431F87D6-6957-4E3F-85BE-A1259055A2C3}">
      <dsp:nvSpPr>
        <dsp:cNvPr id="0" name=""/>
        <dsp:cNvSpPr/>
      </dsp:nvSpPr>
      <dsp:spPr>
        <a:xfrm>
          <a:off x="2298778" y="873858"/>
          <a:ext cx="1669718" cy="1072765"/>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DEBD97-2DCA-4CF0-8492-04FD19619A7D}">
      <dsp:nvSpPr>
        <dsp:cNvPr id="0" name=""/>
        <dsp:cNvSpPr/>
      </dsp:nvSpPr>
      <dsp:spPr>
        <a:xfrm>
          <a:off x="4591678" y="1765739"/>
          <a:ext cx="1666838" cy="176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b" anchorCtr="0">
          <a:noAutofit/>
        </a:bodyPr>
        <a:lstStyle/>
        <a:p>
          <a:pPr marL="0" lvl="0" indent="0" algn="l" defTabSz="711200">
            <a:lnSpc>
              <a:spcPct val="90000"/>
            </a:lnSpc>
            <a:spcBef>
              <a:spcPct val="0"/>
            </a:spcBef>
            <a:spcAft>
              <a:spcPct val="35000"/>
            </a:spcAft>
            <a:buNone/>
          </a:pPr>
          <a:endParaRPr lang="en-US" sz="1600" kern="1200" dirty="0"/>
        </a:p>
      </dsp:txBody>
      <dsp:txXfrm>
        <a:off x="4591678" y="1765739"/>
        <a:ext cx="1666838" cy="176422"/>
      </dsp:txXfrm>
    </dsp:sp>
    <dsp:sp modelId="{CA028670-D664-4244-91BC-ABEB97CC7E74}">
      <dsp:nvSpPr>
        <dsp:cNvPr id="0" name=""/>
        <dsp:cNvSpPr/>
      </dsp:nvSpPr>
      <dsp:spPr>
        <a:xfrm>
          <a:off x="4591678" y="873858"/>
          <a:ext cx="1669718" cy="1072765"/>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FFEB8B-74B2-453A-AA14-E485F69A9389}">
      <dsp:nvSpPr>
        <dsp:cNvPr id="0" name=""/>
        <dsp:cNvSpPr/>
      </dsp:nvSpPr>
      <dsp:spPr>
        <a:xfrm>
          <a:off x="6884579" y="1765739"/>
          <a:ext cx="1666838" cy="176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b" anchorCtr="0">
          <a:noAutofit/>
        </a:bodyPr>
        <a:lstStyle/>
        <a:p>
          <a:pPr marL="0" lvl="0" indent="0" algn="l" defTabSz="711200">
            <a:lnSpc>
              <a:spcPct val="90000"/>
            </a:lnSpc>
            <a:spcBef>
              <a:spcPct val="0"/>
            </a:spcBef>
            <a:spcAft>
              <a:spcPct val="35000"/>
            </a:spcAft>
            <a:buNone/>
          </a:pPr>
          <a:endParaRPr lang="en-US" sz="1600" kern="1200" dirty="0"/>
        </a:p>
      </dsp:txBody>
      <dsp:txXfrm>
        <a:off x="6884579" y="1765739"/>
        <a:ext cx="1666838" cy="176422"/>
      </dsp:txXfrm>
    </dsp:sp>
    <dsp:sp modelId="{1209B611-4000-4537-9096-6B9E94E7CFDE}">
      <dsp:nvSpPr>
        <dsp:cNvPr id="0" name=""/>
        <dsp:cNvSpPr/>
      </dsp:nvSpPr>
      <dsp:spPr>
        <a:xfrm>
          <a:off x="6884579" y="873858"/>
          <a:ext cx="1669718" cy="1072765"/>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AF5E44-2D05-4A86-9705-4BB46558F35E}">
      <dsp:nvSpPr>
        <dsp:cNvPr id="0" name=""/>
        <dsp:cNvSpPr/>
      </dsp:nvSpPr>
      <dsp:spPr>
        <a:xfrm>
          <a:off x="9177480" y="1765739"/>
          <a:ext cx="1666838" cy="176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b" anchorCtr="0">
          <a:noAutofit/>
        </a:bodyPr>
        <a:lstStyle/>
        <a:p>
          <a:pPr marL="0" lvl="0" indent="0" algn="l" defTabSz="711200">
            <a:lnSpc>
              <a:spcPct val="90000"/>
            </a:lnSpc>
            <a:spcBef>
              <a:spcPct val="0"/>
            </a:spcBef>
            <a:spcAft>
              <a:spcPct val="35000"/>
            </a:spcAft>
            <a:buNone/>
          </a:pPr>
          <a:endParaRPr lang="en-US" sz="1600" kern="1200" dirty="0"/>
        </a:p>
      </dsp:txBody>
      <dsp:txXfrm>
        <a:off x="9177480" y="1765739"/>
        <a:ext cx="1666838" cy="176422"/>
      </dsp:txXfrm>
    </dsp:sp>
    <dsp:sp modelId="{80D01D27-6184-4BDB-B3AB-E32817DF35B8}">
      <dsp:nvSpPr>
        <dsp:cNvPr id="0" name=""/>
        <dsp:cNvSpPr/>
      </dsp:nvSpPr>
      <dsp:spPr>
        <a:xfrm>
          <a:off x="9177480" y="873858"/>
          <a:ext cx="1669718" cy="1072765"/>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805263-B044-4734-9A94-2A623FEED518}">
      <dsp:nvSpPr>
        <dsp:cNvPr id="0" name=""/>
        <dsp:cNvSpPr/>
      </dsp:nvSpPr>
      <dsp:spPr>
        <a:xfrm>
          <a:off x="7405299" y="146100"/>
          <a:ext cx="1437211" cy="887182"/>
        </a:xfrm>
        <a:prstGeom prst="rect">
          <a:avLst/>
        </a:prstGeom>
        <a:blipFill>
          <a:blip xmlns:r="http://schemas.openxmlformats.org/officeDocument/2006/relationships" r:embed="rId1"/>
          <a:srcRect/>
          <a:stretch>
            <a:fillRect t="-1000" b="-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5C66CEA-88E6-4266-B5D2-606052786A0E}">
      <dsp:nvSpPr>
        <dsp:cNvPr id="0" name=""/>
        <dsp:cNvSpPr/>
      </dsp:nvSpPr>
      <dsp:spPr>
        <a:xfrm>
          <a:off x="4976395" y="146100"/>
          <a:ext cx="1437211" cy="887182"/>
        </a:xfrm>
        <a:prstGeom prst="rect">
          <a:avLst/>
        </a:prstGeom>
        <a:blipFill>
          <a:blip xmlns:r="http://schemas.openxmlformats.org/officeDocument/2006/relationships" r:embed="rId2"/>
          <a:srcRect/>
          <a:stretch>
            <a:fillRect t="-1000" b="-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2B7ED75-1B91-45BA-8789-B24FCC477D93}">
      <dsp:nvSpPr>
        <dsp:cNvPr id="0" name=""/>
        <dsp:cNvSpPr/>
      </dsp:nvSpPr>
      <dsp:spPr>
        <a:xfrm>
          <a:off x="2547491" y="146100"/>
          <a:ext cx="1437211" cy="887182"/>
        </a:xfrm>
        <a:prstGeom prst="rect">
          <a:avLst/>
        </a:prstGeom>
        <a:blipFill>
          <a:blip xmlns:r="http://schemas.openxmlformats.org/officeDocument/2006/relationships" r:embed="rId3"/>
          <a:srcRect/>
          <a:stretch>
            <a:fillRect l="-18000" r="-18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4EA57C2-4EB0-4544-ABD7-56880463F1EF}">
      <dsp:nvSpPr>
        <dsp:cNvPr id="0" name=""/>
        <dsp:cNvSpPr/>
      </dsp:nvSpPr>
      <dsp:spPr>
        <a:xfrm>
          <a:off x="9731270" y="303557"/>
          <a:ext cx="1437211" cy="887182"/>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11624C-9D4C-4F04-8B70-CD729D3A90EC}">
      <dsp:nvSpPr>
        <dsp:cNvPr id="0" name=""/>
        <dsp:cNvSpPr/>
      </dsp:nvSpPr>
      <dsp:spPr>
        <a:xfrm>
          <a:off x="118588" y="146100"/>
          <a:ext cx="1437211" cy="887182"/>
        </a:xfrm>
        <a:prstGeom prst="rect">
          <a:avLst/>
        </a:prstGeom>
        <a:blipFill>
          <a:blip xmlns:r="http://schemas.openxmlformats.org/officeDocument/2006/relationships" r:embed="rId4"/>
          <a:srcRect/>
          <a:stretch>
            <a:fillRect t="-11000" b="-1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38A77C0-778D-49D7-9751-E2EEB0F69870}">
      <dsp:nvSpPr>
        <dsp:cNvPr id="0" name=""/>
        <dsp:cNvSpPr/>
      </dsp:nvSpPr>
      <dsp:spPr>
        <a:xfrm>
          <a:off x="6913" y="1028095"/>
          <a:ext cx="1434268" cy="15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b" anchorCtr="0">
          <a:noAutofit/>
        </a:bodyPr>
        <a:lstStyle/>
        <a:p>
          <a:pPr marL="0" lvl="0" indent="0" algn="l" defTabSz="711200">
            <a:lnSpc>
              <a:spcPct val="90000"/>
            </a:lnSpc>
            <a:spcBef>
              <a:spcPct val="0"/>
            </a:spcBef>
            <a:spcAft>
              <a:spcPct val="35000"/>
            </a:spcAft>
            <a:buNone/>
          </a:pPr>
          <a:endParaRPr lang="en-US" sz="1600" kern="1200" dirty="0"/>
        </a:p>
      </dsp:txBody>
      <dsp:txXfrm>
        <a:off x="6913" y="1028095"/>
        <a:ext cx="1434268" cy="151806"/>
      </dsp:txXfrm>
    </dsp:sp>
    <dsp:sp modelId="{EDB14F81-E865-4502-B7E4-FA287D5671A0}">
      <dsp:nvSpPr>
        <dsp:cNvPr id="0" name=""/>
        <dsp:cNvSpPr/>
      </dsp:nvSpPr>
      <dsp:spPr>
        <a:xfrm>
          <a:off x="6913" y="260656"/>
          <a:ext cx="1436746" cy="923084"/>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63AE92-920B-432C-8582-2FCC64DB6522}">
      <dsp:nvSpPr>
        <dsp:cNvPr id="0" name=""/>
        <dsp:cNvSpPr/>
      </dsp:nvSpPr>
      <dsp:spPr>
        <a:xfrm>
          <a:off x="2435817" y="1028095"/>
          <a:ext cx="1434268" cy="15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b" anchorCtr="0">
          <a:noAutofit/>
        </a:bodyPr>
        <a:lstStyle/>
        <a:p>
          <a:pPr marL="0" lvl="0" indent="0" algn="l" defTabSz="711200">
            <a:lnSpc>
              <a:spcPct val="90000"/>
            </a:lnSpc>
            <a:spcBef>
              <a:spcPct val="0"/>
            </a:spcBef>
            <a:spcAft>
              <a:spcPct val="35000"/>
            </a:spcAft>
            <a:buNone/>
          </a:pPr>
          <a:endParaRPr lang="en-US" sz="1600" b="0" kern="1200" dirty="0"/>
        </a:p>
      </dsp:txBody>
      <dsp:txXfrm>
        <a:off x="2435817" y="1028095"/>
        <a:ext cx="1434268" cy="151806"/>
      </dsp:txXfrm>
    </dsp:sp>
    <dsp:sp modelId="{FC8E8787-FBF5-485E-AFA5-480226A25D99}">
      <dsp:nvSpPr>
        <dsp:cNvPr id="0" name=""/>
        <dsp:cNvSpPr/>
      </dsp:nvSpPr>
      <dsp:spPr>
        <a:xfrm>
          <a:off x="2435817" y="260656"/>
          <a:ext cx="1436746" cy="923084"/>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10FB00-403E-4ED2-B874-47234268304A}">
      <dsp:nvSpPr>
        <dsp:cNvPr id="0" name=""/>
        <dsp:cNvSpPr/>
      </dsp:nvSpPr>
      <dsp:spPr>
        <a:xfrm>
          <a:off x="4864721" y="1028095"/>
          <a:ext cx="1434268" cy="15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b" anchorCtr="0">
          <a:noAutofit/>
        </a:bodyPr>
        <a:lstStyle/>
        <a:p>
          <a:pPr marL="0" lvl="0" indent="0" algn="l" defTabSz="711200">
            <a:lnSpc>
              <a:spcPct val="90000"/>
            </a:lnSpc>
            <a:spcBef>
              <a:spcPct val="0"/>
            </a:spcBef>
            <a:spcAft>
              <a:spcPct val="35000"/>
            </a:spcAft>
            <a:buNone/>
          </a:pPr>
          <a:endParaRPr lang="en-US" sz="1600" kern="1200" dirty="0"/>
        </a:p>
      </dsp:txBody>
      <dsp:txXfrm>
        <a:off x="4864721" y="1028095"/>
        <a:ext cx="1434268" cy="151806"/>
      </dsp:txXfrm>
    </dsp:sp>
    <dsp:sp modelId="{14A4FB1F-A19C-43F8-A561-B96F66E26CF8}">
      <dsp:nvSpPr>
        <dsp:cNvPr id="0" name=""/>
        <dsp:cNvSpPr/>
      </dsp:nvSpPr>
      <dsp:spPr>
        <a:xfrm>
          <a:off x="4864721" y="260656"/>
          <a:ext cx="1436746" cy="923084"/>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EDD6C4-D965-4890-B7D2-72107BAE5481}">
      <dsp:nvSpPr>
        <dsp:cNvPr id="0" name=""/>
        <dsp:cNvSpPr/>
      </dsp:nvSpPr>
      <dsp:spPr>
        <a:xfrm>
          <a:off x="7293624" y="1028095"/>
          <a:ext cx="1434268" cy="15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0" rIns="38100" bIns="0" numCol="1" spcCol="1270" anchor="b" anchorCtr="0">
          <a:noAutofit/>
        </a:bodyPr>
        <a:lstStyle/>
        <a:p>
          <a:pPr marL="0" lvl="0" indent="0" algn="l" defTabSz="444500">
            <a:lnSpc>
              <a:spcPct val="90000"/>
            </a:lnSpc>
            <a:spcBef>
              <a:spcPct val="0"/>
            </a:spcBef>
            <a:spcAft>
              <a:spcPct val="35000"/>
            </a:spcAft>
            <a:buNone/>
          </a:pPr>
          <a:endParaRPr lang="tr-TR" sz="1000" kern="1200" dirty="0"/>
        </a:p>
      </dsp:txBody>
      <dsp:txXfrm>
        <a:off x="7293624" y="1028095"/>
        <a:ext cx="1434268" cy="151806"/>
      </dsp:txXfrm>
    </dsp:sp>
    <dsp:sp modelId="{1D3C8FF0-0328-49C6-AC9A-FAC85FE53023}">
      <dsp:nvSpPr>
        <dsp:cNvPr id="0" name=""/>
        <dsp:cNvSpPr/>
      </dsp:nvSpPr>
      <dsp:spPr>
        <a:xfrm>
          <a:off x="7293624" y="260656"/>
          <a:ext cx="1436746" cy="923084"/>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70F5853-5734-4797-B555-E156F14D729C}">
      <dsp:nvSpPr>
        <dsp:cNvPr id="0" name=""/>
        <dsp:cNvSpPr/>
      </dsp:nvSpPr>
      <dsp:spPr>
        <a:xfrm>
          <a:off x="9722528" y="1028095"/>
          <a:ext cx="1434268" cy="15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0" rIns="38100" bIns="0" numCol="1" spcCol="1270" anchor="b" anchorCtr="0">
          <a:noAutofit/>
        </a:bodyPr>
        <a:lstStyle/>
        <a:p>
          <a:pPr marL="0" lvl="0" indent="0" algn="l" defTabSz="444500">
            <a:lnSpc>
              <a:spcPct val="90000"/>
            </a:lnSpc>
            <a:spcBef>
              <a:spcPct val="0"/>
            </a:spcBef>
            <a:spcAft>
              <a:spcPct val="35000"/>
            </a:spcAft>
            <a:buNone/>
          </a:pPr>
          <a:endParaRPr lang="tr-TR" sz="1000" kern="1200" dirty="0"/>
        </a:p>
      </dsp:txBody>
      <dsp:txXfrm>
        <a:off x="9722528" y="1028095"/>
        <a:ext cx="1434268" cy="151806"/>
      </dsp:txXfrm>
    </dsp:sp>
    <dsp:sp modelId="{7079324D-FA58-4AE3-B2CC-0DCE296CE54F}">
      <dsp:nvSpPr>
        <dsp:cNvPr id="0" name=""/>
        <dsp:cNvSpPr/>
      </dsp:nvSpPr>
      <dsp:spPr>
        <a:xfrm>
          <a:off x="9722528" y="260656"/>
          <a:ext cx="1436746" cy="923084"/>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1/layout/Picture Frame">
  <dgm:title val="Picture Frame"/>
  <dgm:desc val="Use to show pictures and the corresponding Level 1 text, both displayed in an offset frame. Works best with Level 1 text only."/>
  <dgm:catLst>
    <dgm:cat type="picture" pri="6500"/>
    <dgm:cat type="officeonline" pri="10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4927"/>
        </dgm:alg>
        <dgm:shape xmlns:r="http://schemas.openxmlformats.org/officeDocument/2006/relationships" r:blip="">
          <dgm:adjLst/>
        </dgm:shape>
        <dgm:choose name="Name4">
          <dgm:if name="Name5" func="var" arg="dir" op="equ" val="norm">
            <dgm:constrLst>
              <dgm:constr type="l" for="ch" forName="ParentText" refType="w" fact="0"/>
              <dgm:constr type="t" for="ch" forName="ParentText" refType="h" fact="0.85"/>
              <dgm:constr type="w" for="ch" forName="ParentText" refType="w" fact="0.926"/>
              <dgm:constr type="h" for="ch" forName="ParentText" refType="h" fact="0.1463"/>
              <dgm:constr type="l" for="ch" forName="Accent1" refType="w" fact="0"/>
              <dgm:constr type="t" for="ch" forName="Accent1" refType="h" fact="0.1104"/>
              <dgm:constr type="w" for="ch" forName="Accent1" refType="w" fact="0.9276"/>
              <dgm:constr type="h" for="ch" forName="Accent1" refType="h" fact="0.8896"/>
              <dgm:constr type="l" for="ch" forName="Image" refType="w" fact="0.0721"/>
              <dgm:constr type="t" for="ch" forName="Image" refType="h" fact="0"/>
              <dgm:constr type="w" for="ch" forName="Image" refType="w" fact="0.9279"/>
              <dgm:constr type="h" for="ch" forName="Image" refType="h" fact="0.855"/>
            </dgm:constrLst>
          </dgm:if>
          <dgm:else name="Name6">
            <dgm:constrLst>
              <dgm:constr type="l" for="ch" forName="ParentText" refType="w" fact="0.0837"/>
              <dgm:constr type="t" for="ch" forName="ParentText" refType="h" fact="0.84"/>
              <dgm:constr type="w" for="ch" forName="ParentText" refType="w" fact="0.9163"/>
              <dgm:constr type="h" for="ch" forName="ParentText" refType="h" fact="0.1463"/>
              <dgm:constr type="l" for="ch" forName="Accent1" refType="w" fact="0.0724"/>
              <dgm:constr type="t" for="ch" forName="Accent1" refType="h" fact="0.1104"/>
              <dgm:constr type="w" for="ch" forName="Accent1" refType="w" fact="0.9276"/>
              <dgm:constr type="h" for="ch" forName="Accent1" refType="h" fact="0.8896"/>
              <dgm:constr type="l" for="ch" forName="Image" refType="w" fact="0"/>
              <dgm:constr type="t" for="ch" forName="Image" refType="h" fact="0"/>
              <dgm:constr type="w" for="ch" forName="Image" refType="w" fact="0.9279"/>
              <dgm:constr type="h" for="ch" forName="Image" refType="h" fact="0.855"/>
            </dgm:constrLst>
          </dgm:else>
        </dgm:choose>
        <dgm:layoutNode name="ParentText" styleLbl="revTx">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
            <dgm:constr type="bMarg" refType="primFontSz" fact="0"/>
          </dgm:constrLst>
          <dgm:ruleLst>
            <dgm:rule type="primFontSz" val="5" fact="NaN" max="NaN"/>
          </dgm:ruleLst>
        </dgm:layoutNode>
        <dgm:layoutNode name="Accent1" styleLbl="parChTrans1D1">
          <dgm:alg type="sp"/>
          <dgm:shape xmlns:r="http://schemas.openxmlformats.org/officeDocument/2006/relationships" type="rect" r:blip="" zOrderOff="10">
            <dgm:adjLst/>
          </dgm:shape>
          <dgm:presOf/>
        </dgm:layoutNode>
        <dgm:layoutNode name="Image" styleLbl="alignImgPlace1">
          <dgm:alg type="sp"/>
          <dgm:shape xmlns:r="http://schemas.openxmlformats.org/officeDocument/2006/relationships" type="rect" r:blip="" zOrderOff="-15"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Picture Frame">
  <dgm:title val="Picture Frame"/>
  <dgm:desc val="Use to show pictures and the corresponding Level 1 text, both displayed in an offset frame. Works best with Level 1 text only."/>
  <dgm:catLst>
    <dgm:cat type="picture" pri="6500"/>
    <dgm:cat type="officeonline" pri="10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4927"/>
        </dgm:alg>
        <dgm:shape xmlns:r="http://schemas.openxmlformats.org/officeDocument/2006/relationships" r:blip="">
          <dgm:adjLst/>
        </dgm:shape>
        <dgm:choose name="Name4">
          <dgm:if name="Name5" func="var" arg="dir" op="equ" val="norm">
            <dgm:constrLst>
              <dgm:constr type="l" for="ch" forName="ParentText" refType="w" fact="0"/>
              <dgm:constr type="t" for="ch" forName="ParentText" refType="h" fact="0.85"/>
              <dgm:constr type="w" for="ch" forName="ParentText" refType="w" fact="0.926"/>
              <dgm:constr type="h" for="ch" forName="ParentText" refType="h" fact="0.1463"/>
              <dgm:constr type="l" for="ch" forName="Accent1" refType="w" fact="0"/>
              <dgm:constr type="t" for="ch" forName="Accent1" refType="h" fact="0.1104"/>
              <dgm:constr type="w" for="ch" forName="Accent1" refType="w" fact="0.9276"/>
              <dgm:constr type="h" for="ch" forName="Accent1" refType="h" fact="0.8896"/>
              <dgm:constr type="l" for="ch" forName="Image" refType="w" fact="0.0721"/>
              <dgm:constr type="t" for="ch" forName="Image" refType="h" fact="0"/>
              <dgm:constr type="w" for="ch" forName="Image" refType="w" fact="0.9279"/>
              <dgm:constr type="h" for="ch" forName="Image" refType="h" fact="0.855"/>
            </dgm:constrLst>
          </dgm:if>
          <dgm:else name="Name6">
            <dgm:constrLst>
              <dgm:constr type="l" for="ch" forName="ParentText" refType="w" fact="0.0837"/>
              <dgm:constr type="t" for="ch" forName="ParentText" refType="h" fact="0.84"/>
              <dgm:constr type="w" for="ch" forName="ParentText" refType="w" fact="0.9163"/>
              <dgm:constr type="h" for="ch" forName="ParentText" refType="h" fact="0.1463"/>
              <dgm:constr type="l" for="ch" forName="Accent1" refType="w" fact="0.0724"/>
              <dgm:constr type="t" for="ch" forName="Accent1" refType="h" fact="0.1104"/>
              <dgm:constr type="w" for="ch" forName="Accent1" refType="w" fact="0.9276"/>
              <dgm:constr type="h" for="ch" forName="Accent1" refType="h" fact="0.8896"/>
              <dgm:constr type="l" for="ch" forName="Image" refType="w" fact="0"/>
              <dgm:constr type="t" for="ch" forName="Image" refType="h" fact="0"/>
              <dgm:constr type="w" for="ch" forName="Image" refType="w" fact="0.9279"/>
              <dgm:constr type="h" for="ch" forName="Image" refType="h" fact="0.855"/>
            </dgm:constrLst>
          </dgm:else>
        </dgm:choose>
        <dgm:layoutNode name="ParentText" styleLbl="revTx">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
            <dgm:constr type="bMarg" refType="primFontSz" fact="0"/>
          </dgm:constrLst>
          <dgm:ruleLst>
            <dgm:rule type="primFontSz" val="5" fact="NaN" max="NaN"/>
          </dgm:ruleLst>
        </dgm:layoutNode>
        <dgm:layoutNode name="Accent1" styleLbl="parChTrans1D1">
          <dgm:alg type="sp"/>
          <dgm:shape xmlns:r="http://schemas.openxmlformats.org/officeDocument/2006/relationships" type="rect" r:blip="" zOrderOff="10">
            <dgm:adjLst/>
          </dgm:shape>
          <dgm:presOf/>
        </dgm:layoutNode>
        <dgm:layoutNode name="Image" styleLbl="alignImgPlace1">
          <dgm:alg type="sp"/>
          <dgm:shape xmlns:r="http://schemas.openxmlformats.org/officeDocument/2006/relationships" type="rect" r:blip="" zOrderOff="-15"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889938" cy="496332"/>
          </a:xfrm>
          <a:prstGeom prst="rect">
            <a:avLst/>
          </a:prstGeom>
        </p:spPr>
        <p:txBody>
          <a:bodyPr vert="horz" lIns="91429" tIns="45715" rIns="91429" bIns="45715" rtlCol="0"/>
          <a:lstStyle>
            <a:lvl1pPr algn="l">
              <a:defRPr sz="1200"/>
            </a:lvl1pPr>
          </a:lstStyle>
          <a:p>
            <a:endParaRPr lang="tr-TR"/>
          </a:p>
        </p:txBody>
      </p:sp>
      <p:sp>
        <p:nvSpPr>
          <p:cNvPr id="3" name="Date Placeholder 2"/>
          <p:cNvSpPr>
            <a:spLocks noGrp="1"/>
          </p:cNvSpPr>
          <p:nvPr>
            <p:ph type="dt" idx="1"/>
          </p:nvPr>
        </p:nvSpPr>
        <p:spPr>
          <a:xfrm>
            <a:off x="3777607" y="1"/>
            <a:ext cx="2889938" cy="496332"/>
          </a:xfrm>
          <a:prstGeom prst="rect">
            <a:avLst/>
          </a:prstGeom>
        </p:spPr>
        <p:txBody>
          <a:bodyPr vert="horz" lIns="91429" tIns="45715" rIns="91429" bIns="45715" rtlCol="0"/>
          <a:lstStyle>
            <a:lvl1pPr algn="r">
              <a:defRPr sz="1200"/>
            </a:lvl1pPr>
          </a:lstStyle>
          <a:p>
            <a:fld id="{67FA0527-66CB-4E76-80DC-FB414091031A}" type="datetimeFigureOut">
              <a:rPr lang="tr-TR" smtClean="0"/>
              <a:pPr/>
              <a:t>1.10.2026</a:t>
            </a:fld>
            <a:endParaRPr lang="tr-TR"/>
          </a:p>
        </p:txBody>
      </p:sp>
      <p:sp>
        <p:nvSpPr>
          <p:cNvPr id="4" name="Slide Image Placeholder 3"/>
          <p:cNvSpPr>
            <a:spLocks noGrp="1" noRot="1" noChangeAspect="1"/>
          </p:cNvSpPr>
          <p:nvPr>
            <p:ph type="sldImg" idx="2"/>
          </p:nvPr>
        </p:nvSpPr>
        <p:spPr>
          <a:xfrm>
            <a:off x="26988" y="744538"/>
            <a:ext cx="6615112" cy="3722687"/>
          </a:xfrm>
          <a:prstGeom prst="rect">
            <a:avLst/>
          </a:prstGeom>
          <a:noFill/>
          <a:ln w="12700">
            <a:solidFill>
              <a:prstClr val="black"/>
            </a:solidFill>
          </a:ln>
        </p:spPr>
        <p:txBody>
          <a:bodyPr vert="horz" lIns="91429" tIns="45715" rIns="91429" bIns="45715" rtlCol="0" anchor="ctr"/>
          <a:lstStyle/>
          <a:p>
            <a:endParaRPr lang="tr-TR"/>
          </a:p>
        </p:txBody>
      </p:sp>
      <p:sp>
        <p:nvSpPr>
          <p:cNvPr id="5" name="Notes Placeholder 4"/>
          <p:cNvSpPr>
            <a:spLocks noGrp="1"/>
          </p:cNvSpPr>
          <p:nvPr>
            <p:ph type="body" sz="quarter" idx="3"/>
          </p:nvPr>
        </p:nvSpPr>
        <p:spPr>
          <a:xfrm>
            <a:off x="666909" y="4715154"/>
            <a:ext cx="5335270" cy="4466987"/>
          </a:xfrm>
          <a:prstGeom prst="rect">
            <a:avLst/>
          </a:prstGeom>
        </p:spPr>
        <p:txBody>
          <a:bodyPr vert="horz" lIns="91429" tIns="45715" rIns="91429" bIns="4571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9428584"/>
            <a:ext cx="2889938" cy="496332"/>
          </a:xfrm>
          <a:prstGeom prst="rect">
            <a:avLst/>
          </a:prstGeom>
        </p:spPr>
        <p:txBody>
          <a:bodyPr vert="horz" lIns="91429" tIns="45715" rIns="91429" bIns="45715" rtlCol="0" anchor="b"/>
          <a:lstStyle>
            <a:lvl1pPr algn="l">
              <a:defRPr sz="1200"/>
            </a:lvl1pPr>
          </a:lstStyle>
          <a:p>
            <a:endParaRPr lang="tr-TR"/>
          </a:p>
        </p:txBody>
      </p:sp>
      <p:sp>
        <p:nvSpPr>
          <p:cNvPr id="7" name="Slide Number Placeholder 6"/>
          <p:cNvSpPr>
            <a:spLocks noGrp="1"/>
          </p:cNvSpPr>
          <p:nvPr>
            <p:ph type="sldNum" sz="quarter" idx="5"/>
          </p:nvPr>
        </p:nvSpPr>
        <p:spPr>
          <a:xfrm>
            <a:off x="3777607" y="9428584"/>
            <a:ext cx="2889938" cy="496332"/>
          </a:xfrm>
          <a:prstGeom prst="rect">
            <a:avLst/>
          </a:prstGeom>
        </p:spPr>
        <p:txBody>
          <a:bodyPr vert="horz" lIns="91429" tIns="45715" rIns="91429" bIns="45715" rtlCol="0" anchor="b"/>
          <a:lstStyle>
            <a:lvl1pPr algn="r">
              <a:defRPr sz="1200"/>
            </a:lvl1pPr>
          </a:lstStyle>
          <a:p>
            <a:fld id="{84FA7324-3FCA-41AD-AF20-E331F63979A2}" type="slidenum">
              <a:rPr lang="tr-TR" smtClean="0"/>
              <a:pPr/>
              <a:t>‹#›</a:t>
            </a:fld>
            <a:endParaRPr lang="tr-TR"/>
          </a:p>
        </p:txBody>
      </p:sp>
    </p:spTree>
    <p:extLst>
      <p:ext uri="{BB962C8B-B14F-4D97-AF65-F5344CB8AC3E}">
        <p14:creationId xmlns:p14="http://schemas.microsoft.com/office/powerpoint/2010/main" val="75122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FA7324-3FCA-41AD-AF20-E331F63979A2}" type="slidenum">
              <a:rPr lang="tr-TR" smtClean="0"/>
              <a:pPr/>
              <a:t>1</a:t>
            </a:fld>
            <a:endParaRPr lang="tr-TR" dirty="0"/>
          </a:p>
        </p:txBody>
      </p:sp>
    </p:spTree>
    <p:extLst>
      <p:ext uri="{BB962C8B-B14F-4D97-AF65-F5344CB8AC3E}">
        <p14:creationId xmlns:p14="http://schemas.microsoft.com/office/powerpoint/2010/main" val="3140481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FA7324-3FCA-41AD-AF20-E331F63979A2}" type="slidenum">
              <a:rPr lang="tr-TR" smtClean="0"/>
              <a:pPr/>
              <a:t>4</a:t>
            </a:fld>
            <a:endParaRPr lang="tr-TR"/>
          </a:p>
        </p:txBody>
      </p:sp>
    </p:spTree>
    <p:extLst>
      <p:ext uri="{BB962C8B-B14F-4D97-AF65-F5344CB8AC3E}">
        <p14:creationId xmlns:p14="http://schemas.microsoft.com/office/powerpoint/2010/main" val="449912857"/>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İklim Kanunu çerçeve düzenlemedir; uygulaması ETS Yönetmeliği ile somutlaşır. Zinciri anlatın: Kanun, ETS, yıllık tahsisat teslimi ve AB SKDM mahsubu. Vurgu: iyi yönetilirse yurt içinde ödenen karbon bedeli AB tarafında mahsup edilebilir.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tarafında üç rakam öne çıkıyor: üç yıl üst üste %80 altı teslim izin iptaline, teslim edilmeyen tahsisat piyasa fiyatının iki katı cezaya, geciken doğrulanmış rapor ise 10 milyon TL’ye varan cezalara yol açabilir. Fırsat tarafında hibe ve yeşil finansman, karbon kredisi geliri ve yenilikçi gübre formülasyonları var.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PPWR’nin özü döngüsellik. Slayttaki yolculuğu anlatın: hammaddeden torba tasarımına, sevkiyattan EPR katkı payına ve ikincil hammaddeyle döngünün kapanmasına. Not: PP/PE torbalarda geri dönüşüm için tasarım, EPR katkı payı ve maliyet avantajı açısından belirleyici.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Riskler maliyet ve operasyon odaklı: EPR katkı payları (A, B, C notları), 2030 geri dönüştürülebilirlik ve geri dönüştürülmüş içerik şartları, %50 boş alan sınırı. Fırsatlar ise aynı kuralların doğru tasarımla rekabet avantajına çevrilmesi: indirimli katkı payı, ikincil hammadde ve yeşil kamu alımı.</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Sıfır Atık Yönetmeliği, atığın oluşmadan önlenmesinden geri kazanıma kadar tüm zinciri kapsayan bir yönetim sistemi kurmayı hedefler. Belge dört seviyeli: Temel, Gümüş, Altın ve Platin. Toros Tarım için asıl mesaj, sistemin kurulması, belgelendirilmesi ve verinin düzenli raporlanmasıdır.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Riskler sistemin kurulmaması ve belgelendirilememesi, bildirimlerin eksik veya hatalı yapılması ve çok tesisli yapıda altyapı yükü. Fırsatlar ise fermente atık ve fosfojips geri kazanımı, ambalaj atığından ikincil hammadde ve belge seviyeleriyle raporlama gücü.</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tr-T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tr-T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F858F92C-44AF-4ACA-99A4-B9743397B6D8}" type="datetime1">
              <a:rPr lang="tr-TR" smtClean="0"/>
              <a:pPr/>
              <a:t>1.10.2026</a:t>
            </a:fld>
            <a:endParaRPr lang="tr-T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tr-TR"/>
          </a:p>
        </p:txBody>
      </p:sp>
      <p:sp>
        <p:nvSpPr>
          <p:cNvPr id="7" name="Slide Number Placeholder 4"/>
          <p:cNvSpPr>
            <a:spLocks noGrp="1"/>
          </p:cNvSpPr>
          <p:nvPr>
            <p:ph type="sldNum" sz="quarter" idx="4"/>
          </p:nvPr>
        </p:nvSpPr>
        <p:spPr>
          <a:xfrm>
            <a:off x="11602144" y="6597353"/>
            <a:ext cx="589856" cy="365125"/>
          </a:xfrm>
          <a:prstGeom prst="rect">
            <a:avLst/>
          </a:prstGeom>
        </p:spPr>
        <p:txBody>
          <a:bodyPr/>
          <a:lstStyle>
            <a:lvl1pPr>
              <a:defRPr sz="1200">
                <a:solidFill>
                  <a:schemeClr val="bg1"/>
                </a:solidFill>
              </a:defRPr>
            </a:lvl1pPr>
          </a:lstStyle>
          <a:p>
            <a:fld id="{42CA6F85-893A-4FE1-8820-DAA50ABDC7DA}"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a:xfrm>
            <a:off x="609600" y="991269"/>
            <a:ext cx="10972800" cy="51740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24836D62-3600-4B1A-8681-928BF23813F9}" type="datetime1">
              <a:rPr lang="tr-TR" smtClean="0"/>
              <a:pPr/>
              <a:t>1.10.2026</a:t>
            </a:fld>
            <a:endParaRPr lang="tr-T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tr-TR"/>
          </a:p>
        </p:txBody>
      </p:sp>
      <p:sp>
        <p:nvSpPr>
          <p:cNvPr id="7" name="Slide Number Placeholder 4"/>
          <p:cNvSpPr>
            <a:spLocks noGrp="1"/>
          </p:cNvSpPr>
          <p:nvPr>
            <p:ph type="sldNum" sz="quarter" idx="4"/>
          </p:nvPr>
        </p:nvSpPr>
        <p:spPr>
          <a:xfrm>
            <a:off x="11602144" y="6597353"/>
            <a:ext cx="589856" cy="365125"/>
          </a:xfrm>
          <a:prstGeom prst="rect">
            <a:avLst/>
          </a:prstGeom>
        </p:spPr>
        <p:txBody>
          <a:bodyPr/>
          <a:lstStyle>
            <a:lvl1pPr>
              <a:defRPr sz="1200">
                <a:solidFill>
                  <a:schemeClr val="bg1"/>
                </a:solidFill>
              </a:defRPr>
            </a:lvl1pPr>
          </a:lstStyle>
          <a:p>
            <a:fld id="{42CA6F85-893A-4FE1-8820-DAA50ABDC7DA}"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tr-T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00D18836-B675-4443-83A0-B936AA9102AE}" type="datetime1">
              <a:rPr lang="tr-TR" smtClean="0"/>
              <a:pPr/>
              <a:t>1.10.2026</a:t>
            </a:fld>
            <a:endParaRPr lang="tr-T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tr-TR"/>
          </a:p>
        </p:txBody>
      </p:sp>
      <p:sp>
        <p:nvSpPr>
          <p:cNvPr id="7" name="Slide Number Placeholder 4"/>
          <p:cNvSpPr>
            <a:spLocks noGrp="1"/>
          </p:cNvSpPr>
          <p:nvPr>
            <p:ph type="sldNum" sz="quarter" idx="4"/>
          </p:nvPr>
        </p:nvSpPr>
        <p:spPr>
          <a:xfrm>
            <a:off x="11602144" y="6597353"/>
            <a:ext cx="589856" cy="365125"/>
          </a:xfrm>
          <a:prstGeom prst="rect">
            <a:avLst/>
          </a:prstGeom>
        </p:spPr>
        <p:txBody>
          <a:bodyPr/>
          <a:lstStyle>
            <a:lvl1pPr>
              <a:defRPr sz="1200">
                <a:solidFill>
                  <a:schemeClr val="bg1"/>
                </a:solidFill>
              </a:defRPr>
            </a:lvl1pPr>
          </a:lstStyle>
          <a:p>
            <a:fld id="{42CA6F85-893A-4FE1-8820-DAA50ABDC7DA}"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p:cNvSpPr>
            <a:spLocks noGrp="1"/>
          </p:cNvSpPr>
          <p:nvPr>
            <p:ph type="dt" sz="half" idx="10"/>
          </p:nvPr>
        </p:nvSpPr>
        <p:spPr>
          <a:xfrm>
            <a:off x="609600" y="6356351"/>
            <a:ext cx="2844800" cy="365125"/>
          </a:xfrm>
          <a:prstGeom prst="rect">
            <a:avLst/>
          </a:prstGeom>
        </p:spPr>
        <p:txBody>
          <a:bodyPr/>
          <a:lstStyle/>
          <a:p>
            <a:fld id="{F7E6F326-24B2-4063-8AD4-B8A5355765DE}" type="datetime1">
              <a:rPr lang="tr-TR" smtClean="0"/>
              <a:pPr/>
              <a:t>1.10.2026</a:t>
            </a:fld>
            <a:endParaRPr lang="tr-TR"/>
          </a:p>
        </p:txBody>
      </p:sp>
      <p:sp>
        <p:nvSpPr>
          <p:cNvPr id="6" name="Footer Placeholder 5"/>
          <p:cNvSpPr>
            <a:spLocks noGrp="1"/>
          </p:cNvSpPr>
          <p:nvPr>
            <p:ph type="ftr" sz="quarter" idx="11"/>
          </p:nvPr>
        </p:nvSpPr>
        <p:spPr>
          <a:xfrm>
            <a:off x="4165600" y="6356351"/>
            <a:ext cx="3860800" cy="365125"/>
          </a:xfrm>
          <a:prstGeom prst="rect">
            <a:avLst/>
          </a:prstGeom>
        </p:spPr>
        <p:txBody>
          <a:bodyPr/>
          <a:lstStyle/>
          <a:p>
            <a:endParaRPr lang="tr-TR"/>
          </a:p>
        </p:txBody>
      </p:sp>
      <p:sp>
        <p:nvSpPr>
          <p:cNvPr id="8" name="Slide Number Placeholder 4"/>
          <p:cNvSpPr>
            <a:spLocks noGrp="1"/>
          </p:cNvSpPr>
          <p:nvPr>
            <p:ph type="sldNum" sz="quarter" idx="4"/>
          </p:nvPr>
        </p:nvSpPr>
        <p:spPr>
          <a:xfrm>
            <a:off x="11602144" y="6597353"/>
            <a:ext cx="589856" cy="365125"/>
          </a:xfrm>
          <a:prstGeom prst="rect">
            <a:avLst/>
          </a:prstGeom>
        </p:spPr>
        <p:txBody>
          <a:bodyPr/>
          <a:lstStyle>
            <a:lvl1pPr>
              <a:defRPr sz="1200">
                <a:solidFill>
                  <a:schemeClr val="bg1"/>
                </a:solidFill>
              </a:defRPr>
            </a:lvl1pPr>
          </a:lstStyle>
          <a:p>
            <a:fld id="{42CA6F85-893A-4FE1-8820-DAA50ABDC7DA}"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tr-T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p:cNvSpPr>
            <a:spLocks noGrp="1"/>
          </p:cNvSpPr>
          <p:nvPr>
            <p:ph type="dt" sz="half" idx="10"/>
          </p:nvPr>
        </p:nvSpPr>
        <p:spPr>
          <a:xfrm>
            <a:off x="609600" y="6356351"/>
            <a:ext cx="2844800" cy="365125"/>
          </a:xfrm>
          <a:prstGeom prst="rect">
            <a:avLst/>
          </a:prstGeom>
        </p:spPr>
        <p:txBody>
          <a:bodyPr/>
          <a:lstStyle/>
          <a:p>
            <a:fld id="{635FE66A-8D2B-4BC8-A3CE-1C1CD3B11979}" type="datetime1">
              <a:rPr lang="tr-TR" smtClean="0"/>
              <a:pPr/>
              <a:t>1.10.2026</a:t>
            </a:fld>
            <a:endParaRPr lang="tr-TR"/>
          </a:p>
        </p:txBody>
      </p:sp>
      <p:sp>
        <p:nvSpPr>
          <p:cNvPr id="8" name="Footer Placeholder 7"/>
          <p:cNvSpPr>
            <a:spLocks noGrp="1"/>
          </p:cNvSpPr>
          <p:nvPr>
            <p:ph type="ftr" sz="quarter" idx="11"/>
          </p:nvPr>
        </p:nvSpPr>
        <p:spPr>
          <a:xfrm>
            <a:off x="4165600" y="6356351"/>
            <a:ext cx="3860800" cy="365125"/>
          </a:xfrm>
          <a:prstGeom prst="rect">
            <a:avLst/>
          </a:prstGeom>
        </p:spPr>
        <p:txBody>
          <a:bodyPr/>
          <a:lstStyle/>
          <a:p>
            <a:endParaRPr lang="tr-TR"/>
          </a:p>
        </p:txBody>
      </p:sp>
      <p:sp>
        <p:nvSpPr>
          <p:cNvPr id="10" name="Slide Number Placeholder 4"/>
          <p:cNvSpPr>
            <a:spLocks noGrp="1"/>
          </p:cNvSpPr>
          <p:nvPr>
            <p:ph type="sldNum" sz="quarter" idx="12"/>
          </p:nvPr>
        </p:nvSpPr>
        <p:spPr>
          <a:xfrm>
            <a:off x="11602144" y="6597353"/>
            <a:ext cx="589856" cy="365125"/>
          </a:xfrm>
          <a:prstGeom prst="rect">
            <a:avLst/>
          </a:prstGeom>
        </p:spPr>
        <p:txBody>
          <a:bodyPr/>
          <a:lstStyle>
            <a:lvl1pPr>
              <a:defRPr sz="1200">
                <a:solidFill>
                  <a:schemeClr val="bg1"/>
                </a:solidFill>
              </a:defRPr>
            </a:lvl1pPr>
          </a:lstStyle>
          <a:p>
            <a:fld id="{42CA6F85-893A-4FE1-8820-DAA50ABDC7DA}"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endParaRPr lang="tr-TR" dirty="0"/>
          </a:p>
        </p:txBody>
      </p:sp>
      <p:sp>
        <p:nvSpPr>
          <p:cNvPr id="6" name="Slide Number Placeholder 4"/>
          <p:cNvSpPr>
            <a:spLocks noGrp="1"/>
          </p:cNvSpPr>
          <p:nvPr>
            <p:ph type="sldNum" sz="quarter" idx="4"/>
          </p:nvPr>
        </p:nvSpPr>
        <p:spPr>
          <a:xfrm>
            <a:off x="11602144" y="6597353"/>
            <a:ext cx="589856" cy="365125"/>
          </a:xfrm>
          <a:prstGeom prst="rect">
            <a:avLst/>
          </a:prstGeom>
        </p:spPr>
        <p:txBody>
          <a:bodyPr/>
          <a:lstStyle>
            <a:lvl1pPr>
              <a:defRPr sz="1200">
                <a:solidFill>
                  <a:schemeClr val="bg1"/>
                </a:solidFill>
              </a:defRPr>
            </a:lvl1pPr>
          </a:lstStyle>
          <a:p>
            <a:fld id="{42CA6F85-893A-4FE1-8820-DAA50ABDC7DA}"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pic>
        <p:nvPicPr>
          <p:cNvPr id="5" name="Resim 9">
            <a:extLst>
              <a:ext uri="{FF2B5EF4-FFF2-40B4-BE49-F238E27FC236}">
                <a16:creationId xmlns:a16="http://schemas.microsoft.com/office/drawing/2014/main" id="{580CA21D-6922-4CAA-86C8-595267EC48A8}"/>
              </a:ext>
            </a:extLst>
          </p:cNvPr>
          <p:cNvPicPr>
            <a:picLocks noChangeAspect="1"/>
          </p:cNvPicPr>
          <p:nvPr userDrawn="1"/>
        </p:nvPicPr>
        <p:blipFill>
          <a:blip r:embed="rId2" cstate="print"/>
          <a:stretch>
            <a:fillRect/>
          </a:stretch>
        </p:blipFill>
        <p:spPr>
          <a:xfrm>
            <a:off x="4564448" y="2349000"/>
            <a:ext cx="3063103" cy="21600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971467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 y="-3531"/>
            <a:ext cx="10407337" cy="778098"/>
          </a:xfrm>
          <a:prstGeom prst="rect">
            <a:avLst/>
          </a:prstGeom>
        </p:spPr>
        <p:txBody>
          <a:bodyPr vert="horz" lIns="91440" tIns="45720" rIns="91440" bIns="45720" rtlCol="0" anchor="ctr">
            <a:normAutofit/>
          </a:bodyPr>
          <a:lstStyle/>
          <a:p>
            <a:r>
              <a:rPr lang="en-US" dirty="0"/>
              <a:t>Click to edit Master title style</a:t>
            </a:r>
            <a:endParaRPr lang="tr-TR"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p:txBody>
      </p:sp>
      <p:cxnSp>
        <p:nvCxnSpPr>
          <p:cNvPr id="8" name="Düz Bağlayıcı 8"/>
          <p:cNvCxnSpPr/>
          <p:nvPr userDrawn="1"/>
        </p:nvCxnSpPr>
        <p:spPr>
          <a:xfrm>
            <a:off x="0" y="764704"/>
            <a:ext cx="10854000" cy="0"/>
          </a:xfrm>
          <a:prstGeom prst="line">
            <a:avLst/>
          </a:prstGeom>
          <a:ln w="38100">
            <a:solidFill>
              <a:srgbClr val="005C2A"/>
            </a:solidFill>
          </a:ln>
        </p:spPr>
        <p:style>
          <a:lnRef idx="1">
            <a:schemeClr val="accent1"/>
          </a:lnRef>
          <a:fillRef idx="0">
            <a:schemeClr val="accent1"/>
          </a:fillRef>
          <a:effectRef idx="0">
            <a:schemeClr val="accent1"/>
          </a:effectRef>
          <a:fontRef idx="minor">
            <a:schemeClr val="tx1"/>
          </a:fontRef>
        </p:style>
      </p:cxnSp>
      <p:cxnSp>
        <p:nvCxnSpPr>
          <p:cNvPr id="9" name="Düz Bağlayıcı 14"/>
          <p:cNvCxnSpPr/>
          <p:nvPr userDrawn="1"/>
        </p:nvCxnSpPr>
        <p:spPr>
          <a:xfrm>
            <a:off x="11997655" y="764704"/>
            <a:ext cx="201356" cy="0"/>
          </a:xfrm>
          <a:prstGeom prst="line">
            <a:avLst/>
          </a:prstGeom>
          <a:ln w="38100">
            <a:solidFill>
              <a:srgbClr val="005C2A"/>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userDrawn="1"/>
        </p:nvSpPr>
        <p:spPr>
          <a:xfrm>
            <a:off x="623392" y="6571506"/>
            <a:ext cx="11568608" cy="288000"/>
          </a:xfrm>
          <a:prstGeom prst="rect">
            <a:avLst/>
          </a:prstGeom>
          <a:solidFill>
            <a:srgbClr val="005C2A"/>
          </a:solidFill>
        </p:spPr>
        <p:txBody>
          <a:bodyPr wrap="square" rtlCol="0">
            <a:spAutoFit/>
          </a:bodyPr>
          <a:lstStyle/>
          <a:p>
            <a:endParaRPr lang="tr-TR" sz="1800" dirty="0"/>
          </a:p>
        </p:txBody>
      </p:sp>
      <p:sp>
        <p:nvSpPr>
          <p:cNvPr id="15" name="Slide Number Placeholder 4"/>
          <p:cNvSpPr>
            <a:spLocks noGrp="1"/>
          </p:cNvSpPr>
          <p:nvPr>
            <p:ph type="sldNum" sz="quarter" idx="4"/>
          </p:nvPr>
        </p:nvSpPr>
        <p:spPr>
          <a:xfrm>
            <a:off x="11602144" y="6592267"/>
            <a:ext cx="589856" cy="365125"/>
          </a:xfrm>
          <a:prstGeom prst="rect">
            <a:avLst/>
          </a:prstGeom>
        </p:spPr>
        <p:txBody>
          <a:bodyPr/>
          <a:lstStyle>
            <a:lvl1pPr>
              <a:defRPr sz="1100" b="1">
                <a:solidFill>
                  <a:schemeClr val="bg1"/>
                </a:solidFill>
              </a:defRPr>
            </a:lvl1pPr>
          </a:lstStyle>
          <a:p>
            <a:fld id="{42CA6F85-893A-4FE1-8820-DAA50ABDC7DA}" type="slidenum">
              <a:rPr lang="tr-TR" smtClean="0"/>
              <a:pPr/>
              <a:t>‹#›</a:t>
            </a:fld>
            <a:endParaRPr lang="tr-TR"/>
          </a:p>
        </p:txBody>
      </p:sp>
      <p:pic>
        <p:nvPicPr>
          <p:cNvPr id="10" name="Resim 9">
            <a:extLst>
              <a:ext uri="{FF2B5EF4-FFF2-40B4-BE49-F238E27FC236}">
                <a16:creationId xmlns:a16="http://schemas.microsoft.com/office/drawing/2014/main" id="{058AC1E6-37A8-4125-9B13-6E5EBBD487CB}"/>
              </a:ext>
            </a:extLst>
          </p:cNvPr>
          <p:cNvPicPr>
            <a:picLocks noChangeAspect="1"/>
          </p:cNvPicPr>
          <p:nvPr userDrawn="1"/>
        </p:nvPicPr>
        <p:blipFill>
          <a:blip r:embed="rId9" cstate="print"/>
          <a:stretch>
            <a:fillRect/>
          </a:stretch>
        </p:blipFill>
        <p:spPr>
          <a:xfrm>
            <a:off x="10891658" y="99380"/>
            <a:ext cx="1044575" cy="736600"/>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914400" rtl="0" eaLnBrk="1" latinLnBrk="0" hangingPunct="1">
        <a:spcBef>
          <a:spcPct val="0"/>
        </a:spcBef>
        <a:buNone/>
        <a:defRPr sz="2400" kern="1200">
          <a:solidFill>
            <a:schemeClr val="tx1"/>
          </a:solidFill>
          <a:latin typeface="+mn-lt"/>
          <a:ea typeface="+mj-ea"/>
          <a:cs typeface="+mj-cs"/>
        </a:defRPr>
      </a:lvl1pPr>
    </p:titleStyle>
    <p:bodyStyle>
      <a:lvl1pPr marL="0" indent="-180000" algn="l" defTabSz="914400" rtl="0" eaLnBrk="1" latinLnBrk="0" hangingPunct="1">
        <a:spcBef>
          <a:spcPts val="0"/>
        </a:spcBef>
        <a:buFont typeface="Arial" pitchFamily="34" charset="0"/>
        <a:buNone/>
        <a:defRPr sz="1800" kern="1200">
          <a:solidFill>
            <a:schemeClr val="tx1"/>
          </a:solidFill>
          <a:latin typeface="+mn-lt"/>
          <a:ea typeface="+mn-ea"/>
          <a:cs typeface="+mn-cs"/>
        </a:defRPr>
      </a:lvl1pPr>
      <a:lvl2pPr marL="0"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2pPr>
      <a:lvl3pPr marL="0"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diagramData" Target="../diagrams/data2.xml"/><Relationship Id="rId8" Type="http://schemas.openxmlformats.org/officeDocument/2006/relationships/diagramLayout" Target="../diagrams/layout2.xml"/><Relationship Id="rId9" Type="http://schemas.openxmlformats.org/officeDocument/2006/relationships/diagramQuickStyle" Target="../diagrams/quickStyle2.xml"/><Relationship Id="rId10" Type="http://schemas.openxmlformats.org/officeDocument/2006/relationships/diagramColors" Target="../diagrams/colors2.xml"/><Relationship Id="rId11" Type="http://schemas.microsoft.com/office/2007/relationships/diagramDrawing" Target="../diagrams/drawing2.xml"/><Relationship Id="rId12"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20.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 Id="rId12" Type="http://schemas.openxmlformats.org/officeDocument/2006/relationships/image" Target="../media/image34.png"/><Relationship Id="rId13" Type="http://schemas.openxmlformats.org/officeDocument/2006/relationships/image" Target="../media/image35.png"/><Relationship Id="rId14" Type="http://schemas.openxmlformats.org/officeDocument/2006/relationships/image" Target="../media/image36.png"/><Relationship Id="rId15" Type="http://schemas.openxmlformats.org/officeDocument/2006/relationships/image" Target="../media/image37.png"/><Relationship Id="rId16"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5.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image" Target="../media/image50.png"/><Relationship Id="rId13" Type="http://schemas.openxmlformats.org/officeDocument/2006/relationships/image" Target="../media/image51.png"/><Relationship Id="rId14" Type="http://schemas.openxmlformats.org/officeDocument/2006/relationships/image" Target="../media/image52.png"/><Relationship Id="rId15"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57.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58.png"/><Relationship Id="rId8" Type="http://schemas.openxmlformats.org/officeDocument/2006/relationships/image" Target="../media/image59.png"/><Relationship Id="rId9" Type="http://schemas.openxmlformats.org/officeDocument/2006/relationships/image" Target="../media/image60.png"/><Relationship Id="rId10" Type="http://schemas.openxmlformats.org/officeDocument/2006/relationships/image" Target="../media/image61.png"/><Relationship Id="rId11" Type="http://schemas.openxmlformats.org/officeDocument/2006/relationships/image" Target="../media/image62.png"/><Relationship Id="rId12" Type="http://schemas.openxmlformats.org/officeDocument/2006/relationships/image" Target="../media/image63.png"/><Relationship Id="rId13" Type="http://schemas.openxmlformats.org/officeDocument/2006/relationships/image" Target="../media/image6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55.png"/><Relationship Id="rId7" Type="http://schemas.openxmlformats.org/officeDocument/2006/relationships/image" Target="../media/image54.png"/><Relationship Id="rId8" Type="http://schemas.openxmlformats.org/officeDocument/2006/relationships/image" Target="../media/image56.png"/><Relationship Id="rId9"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42CA6F85-893A-4FE1-8820-DAA50ABDC7DA}" type="slidenum">
              <a:rPr lang="tr-TR" smtClean="0"/>
              <a:pPr/>
              <a:t>1</a:t>
            </a:fld>
            <a:endParaRPr lang="tr-TR" dirty="0"/>
          </a:p>
        </p:txBody>
      </p:sp>
      <p:grpSp>
        <p:nvGrpSpPr>
          <p:cNvPr id="9" name="Group 8">
            <a:extLst>
              <a:ext uri="{FF2B5EF4-FFF2-40B4-BE49-F238E27FC236}">
                <a16:creationId xmlns:a16="http://schemas.microsoft.com/office/drawing/2014/main" id="{CD6A15F1-5B91-4AA8-9094-F17CC2897827}"/>
              </a:ext>
            </a:extLst>
          </p:cNvPr>
          <p:cNvGrpSpPr/>
          <p:nvPr/>
        </p:nvGrpSpPr>
        <p:grpSpPr>
          <a:xfrm>
            <a:off x="-26363" y="-15172"/>
            <a:ext cx="12334952" cy="6885384"/>
            <a:chOff x="-142951" y="0"/>
            <a:chExt cx="12334952" cy="6885384"/>
          </a:xfrm>
        </p:grpSpPr>
        <p:sp>
          <p:nvSpPr>
            <p:cNvPr id="6" name="Rectangle 5">
              <a:extLst>
                <a:ext uri="{FF2B5EF4-FFF2-40B4-BE49-F238E27FC236}">
                  <a16:creationId xmlns:a16="http://schemas.microsoft.com/office/drawing/2014/main" id="{A73B6DEE-B15A-41F5-A131-4BEC45F7B889}"/>
                </a:ext>
              </a:extLst>
            </p:cNvPr>
            <p:cNvSpPr/>
            <p:nvPr/>
          </p:nvSpPr>
          <p:spPr>
            <a:xfrm>
              <a:off x="-142951" y="0"/>
              <a:ext cx="12334952" cy="11967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FCF932D6-FE84-49FC-8C85-1301221E99F3}"/>
                </a:ext>
              </a:extLst>
            </p:cNvPr>
            <p:cNvPicPr>
              <a:picLocks noChangeAspect="1"/>
            </p:cNvPicPr>
            <p:nvPr/>
          </p:nvPicPr>
          <p:blipFill>
            <a:blip r:embed="rId3"/>
            <a:stretch>
              <a:fillRect/>
            </a:stretch>
          </p:blipFill>
          <p:spPr>
            <a:xfrm>
              <a:off x="1775520" y="0"/>
              <a:ext cx="8332386" cy="6858000"/>
            </a:xfrm>
            <a:prstGeom prst="rect">
              <a:avLst/>
            </a:prstGeom>
          </p:spPr>
        </p:pic>
        <p:sp>
          <p:nvSpPr>
            <p:cNvPr id="8" name="Rectangle 7">
              <a:extLst>
                <a:ext uri="{FF2B5EF4-FFF2-40B4-BE49-F238E27FC236}">
                  <a16:creationId xmlns:a16="http://schemas.microsoft.com/office/drawing/2014/main" id="{99FC97D8-0AE0-4B9B-8527-31B04E3079E8}"/>
                </a:ext>
              </a:extLst>
            </p:cNvPr>
            <p:cNvSpPr/>
            <p:nvPr/>
          </p:nvSpPr>
          <p:spPr>
            <a:xfrm>
              <a:off x="10107906" y="1224136"/>
              <a:ext cx="2071026" cy="5661248"/>
            </a:xfrm>
            <a:prstGeom prst="rect">
              <a:avLst/>
            </a:prstGeom>
            <a:solidFill>
              <a:srgbClr val="78B4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DA06B0E-576B-403D-90BC-2B7A17AB144F}"/>
                </a:ext>
              </a:extLst>
            </p:cNvPr>
            <p:cNvSpPr/>
            <p:nvPr/>
          </p:nvSpPr>
          <p:spPr>
            <a:xfrm>
              <a:off x="-116588" y="1224136"/>
              <a:ext cx="1907908" cy="5661248"/>
            </a:xfrm>
            <a:prstGeom prst="rect">
              <a:avLst/>
            </a:prstGeom>
            <a:solidFill>
              <a:srgbClr val="78B4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Dikdörtgen 1">
            <a:extLst>
              <a:ext uri="{FF2B5EF4-FFF2-40B4-BE49-F238E27FC236}">
                <a16:creationId xmlns:a16="http://schemas.microsoft.com/office/drawing/2014/main" id="{89E37617-4C04-451C-BCE7-305503CF1A4B}"/>
              </a:ext>
            </a:extLst>
          </p:cNvPr>
          <p:cNvSpPr/>
          <p:nvPr/>
        </p:nvSpPr>
        <p:spPr>
          <a:xfrm>
            <a:off x="-49237" y="-13162"/>
            <a:ext cx="12344757" cy="6884323"/>
          </a:xfrm>
          <a:prstGeom prst="rect">
            <a:avLst/>
          </a:prstGeom>
          <a:solidFill>
            <a:schemeClr val="tx1">
              <a:alpha val="20000"/>
            </a:schemeClr>
          </a:solidFill>
          <a:ln>
            <a:noFill/>
          </a:ln>
          <a:effectLst>
            <a:outerShdw blurRad="177800" dist="50800" dir="5400000" algn="ctr" rotWithShape="0">
              <a:schemeClr val="bg1">
                <a:lumMod val="6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3" name="Subtitle 2"/>
          <p:cNvSpPr>
            <a:spLocks noGrp="1"/>
          </p:cNvSpPr>
          <p:nvPr>
            <p:ph type="subTitle" idx="1"/>
          </p:nvPr>
        </p:nvSpPr>
        <p:spPr>
          <a:xfrm>
            <a:off x="47328" y="5838758"/>
            <a:ext cx="12354561" cy="1032891"/>
          </a:xfrm>
        </p:spPr>
        <p:txBody>
          <a:bodyPr>
            <a:normAutofit/>
          </a:bodyPr>
          <a:lstStyle/>
          <a:p>
            <a:endParaRPr lang="en-US" sz="1600" b="1" dirty="0">
              <a:solidFill>
                <a:schemeClr val="bg1"/>
              </a:solidFill>
            </a:endParaRPr>
          </a:p>
          <a:p>
            <a:r>
              <a:rPr lang="en-US" sz="1600" b="1" dirty="0">
                <a:solidFill>
                  <a:schemeClr val="bg1"/>
                </a:solidFill>
              </a:rPr>
              <a:t>TOROS TARIM</a:t>
            </a:r>
          </a:p>
          <a:p>
            <a:r>
              <a:rPr lang="tr-TR" sz="1600" b="1" dirty="0">
                <a:solidFill>
                  <a:schemeClr val="bg1"/>
                </a:solidFill>
                <a:highlight>
                  <a:srgbClr val="FFFF00"/>
                </a:highlight>
              </a:rPr>
              <a:t>Haziran</a:t>
            </a:r>
            <a:r>
              <a:rPr lang="en-US" sz="1600" b="1" dirty="0">
                <a:solidFill>
                  <a:schemeClr val="bg1"/>
                </a:solidFill>
                <a:highlight>
                  <a:srgbClr val="FFFF00"/>
                </a:highlight>
              </a:rPr>
              <a:t> 2021</a:t>
            </a:r>
            <a:endParaRPr lang="tr-TR" sz="1600" b="1" dirty="0">
              <a:solidFill>
                <a:schemeClr val="bg1"/>
              </a:solidFill>
              <a:highlight>
                <a:srgbClr val="FFFF00"/>
              </a:highlight>
            </a:endParaRPr>
          </a:p>
        </p:txBody>
      </p:sp>
      <p:sp>
        <p:nvSpPr>
          <p:cNvPr id="14" name="Metin kutusu 13">
            <a:extLst>
              <a:ext uri="{FF2B5EF4-FFF2-40B4-BE49-F238E27FC236}">
                <a16:creationId xmlns:a16="http://schemas.microsoft.com/office/drawing/2014/main" id="{7DC9B122-7C0F-4A3B-B052-0481AE36D100}"/>
              </a:ext>
            </a:extLst>
          </p:cNvPr>
          <p:cNvSpPr txBox="1"/>
          <p:nvPr/>
        </p:nvSpPr>
        <p:spPr>
          <a:xfrm>
            <a:off x="-26363" y="2909538"/>
            <a:ext cx="12321883" cy="2862322"/>
          </a:xfrm>
          <a:prstGeom prst="rect">
            <a:avLst/>
          </a:prstGeom>
          <a:noFill/>
        </p:spPr>
        <p:txBody>
          <a:bodyPr wrap="square">
            <a:spAutoFit/>
          </a:bodyPr>
          <a:lstStyle/>
          <a:p>
            <a:pPr algn="ctr"/>
            <a:r>
              <a:rPr lang="tr-TR" sz="3600" b="1" dirty="0">
                <a:solidFill>
                  <a:schemeClr val="bg1"/>
                </a:solidFill>
              </a:rPr>
              <a:t>TOROS TARIM’I ETKİLEYEN ANA </a:t>
            </a:r>
          </a:p>
          <a:p>
            <a:pPr algn="ctr"/>
            <a:r>
              <a:rPr lang="tr-TR" sz="3600" b="1" dirty="0">
                <a:solidFill>
                  <a:schemeClr val="bg1"/>
                </a:solidFill>
              </a:rPr>
              <a:t>ÇERÇEVE VE REGÜLASYONLAR KARŞISINDA </a:t>
            </a:r>
          </a:p>
          <a:p>
            <a:pPr algn="ctr"/>
            <a:r>
              <a:rPr lang="tr-TR" sz="3600" b="1" dirty="0">
                <a:solidFill>
                  <a:schemeClr val="bg1"/>
                </a:solidFill>
              </a:rPr>
              <a:t>RİSKLER- FIRSATLAR VE DEVAM EDEN ÇALIŞMALAR</a:t>
            </a:r>
          </a:p>
          <a:p>
            <a:pPr algn="ctr"/>
            <a:endParaRPr lang="tr-TR" sz="3600" b="1" i="1" dirty="0">
              <a:solidFill>
                <a:schemeClr val="bg1"/>
              </a:solidFill>
            </a:endParaRPr>
          </a:p>
          <a:p>
            <a:pPr algn="ctr"/>
            <a:r>
              <a:rPr lang="tr-TR" b="1" i="1" dirty="0">
                <a:solidFill>
                  <a:schemeClr val="bg1">
                    <a:lumMod val="95000"/>
                  </a:schemeClr>
                </a:solidFill>
              </a:rPr>
              <a:t>TOROS TARIM </a:t>
            </a:r>
          </a:p>
          <a:p>
            <a:pPr algn="ctr"/>
            <a:r>
              <a:rPr lang="tr-TR" b="1" i="1" dirty="0">
                <a:solidFill>
                  <a:schemeClr val="bg1">
                    <a:lumMod val="95000"/>
                  </a:schemeClr>
                </a:solidFill>
              </a:rPr>
              <a:t>KURUMSAL SÜRDÜRÜLEBİLİRLİK, RİSK VE YÖNETİŞİM </a:t>
            </a:r>
          </a:p>
        </p:txBody>
      </p:sp>
    </p:spTree>
    <p:extLst>
      <p:ext uri="{BB962C8B-B14F-4D97-AF65-F5344CB8AC3E}">
        <p14:creationId xmlns:p14="http://schemas.microsoft.com/office/powerpoint/2010/main" val="4259182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3B8E2-72E9-0EA0-ADD1-CEE8A2BDE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3EA52-5933-A178-6693-17312F27B538}"/>
              </a:ext>
            </a:extLst>
          </p:cNvPr>
          <p:cNvSpPr>
            <a:spLocks noGrp="1"/>
          </p:cNvSpPr>
          <p:nvPr>
            <p:ph type="title"/>
          </p:nvPr>
        </p:nvSpPr>
        <p:spPr/>
        <p:txBody>
          <a:bodyPr/>
          <a:lstStyle/>
          <a:p>
            <a:r>
              <a:rPr lang="tr-TR" b="1" i="1" dirty="0"/>
              <a:t>Toros </a:t>
            </a:r>
            <a:r>
              <a:rPr lang="tr-TR" b="1" i="1" dirty="0" err="1"/>
              <a:t>Tarım’ı</a:t>
            </a:r>
            <a:r>
              <a:rPr lang="tr-TR" b="1" i="1" dirty="0"/>
              <a:t> Etkileyen Başlıca Çerçeve ve Regülasyonlar</a:t>
            </a:r>
            <a:endParaRPr lang="en-US" b="1" i="1" dirty="0"/>
          </a:p>
        </p:txBody>
      </p:sp>
      <p:sp>
        <p:nvSpPr>
          <p:cNvPr id="4" name="Slide Number Placeholder 3">
            <a:extLst>
              <a:ext uri="{FF2B5EF4-FFF2-40B4-BE49-F238E27FC236}">
                <a16:creationId xmlns:a16="http://schemas.microsoft.com/office/drawing/2014/main" id="{2011558C-977B-947F-8D2C-71098EC5C14F}"/>
              </a:ext>
            </a:extLst>
          </p:cNvPr>
          <p:cNvSpPr>
            <a:spLocks noGrp="1"/>
          </p:cNvSpPr>
          <p:nvPr>
            <p:ph type="sldNum" sz="quarter" idx="4"/>
          </p:nvPr>
        </p:nvSpPr>
        <p:spPr/>
        <p:txBody>
          <a:bodyPr/>
          <a:lstStyle/>
          <a:p>
            <a:fld id="{42CA6F85-893A-4FE1-8820-DAA50ABDC7DA}" type="slidenum">
              <a:rPr lang="tr-TR" smtClean="0"/>
              <a:pPr/>
              <a:t>2</a:t>
            </a:fld>
            <a:endParaRPr lang="tr-TR"/>
          </a:p>
        </p:txBody>
      </p:sp>
      <p:graphicFrame>
        <p:nvGraphicFramePr>
          <p:cNvPr id="8" name="Diagram 7">
            <a:extLst>
              <a:ext uri="{FF2B5EF4-FFF2-40B4-BE49-F238E27FC236}">
                <a16:creationId xmlns:a16="http://schemas.microsoft.com/office/drawing/2014/main" id="{6A80CBEE-E052-CDF0-76C6-C4C6D877AD89}"/>
              </a:ext>
            </a:extLst>
          </p:cNvPr>
          <p:cNvGraphicFramePr/>
          <p:nvPr>
            <p:extLst>
              <p:ext uri="{D42A27DB-BD31-4B8C-83A1-F6EECF244321}">
                <p14:modId xmlns:p14="http://schemas.microsoft.com/office/powerpoint/2010/main" val="1876125666"/>
              </p:ext>
            </p:extLst>
          </p:nvPr>
        </p:nvGraphicFramePr>
        <p:xfrm>
          <a:off x="618744" y="615722"/>
          <a:ext cx="10983400" cy="26873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7" name="TextBox 86">
            <a:extLst>
              <a:ext uri="{FF2B5EF4-FFF2-40B4-BE49-F238E27FC236}">
                <a16:creationId xmlns:a16="http://schemas.microsoft.com/office/drawing/2014/main" id="{F2B08B3A-322E-C7DC-368E-D8ECB2D86FC4}"/>
              </a:ext>
            </a:extLst>
          </p:cNvPr>
          <p:cNvSpPr txBox="1"/>
          <p:nvPr/>
        </p:nvSpPr>
        <p:spPr>
          <a:xfrm>
            <a:off x="5212812" y="4856257"/>
            <a:ext cx="1872020" cy="738664"/>
          </a:xfrm>
          <a:prstGeom prst="rect">
            <a:avLst/>
          </a:prstGeom>
          <a:noFill/>
        </p:spPr>
        <p:txBody>
          <a:bodyPr wrap="square">
            <a:spAutoFit/>
          </a:bodyPr>
          <a:lstStyle/>
          <a:p>
            <a:pPr lvl="0"/>
            <a:r>
              <a:rPr lang="tr-TR" sz="1400" b="1" dirty="0"/>
              <a:t>EU PPWR - Ambalaj ve Ambalaj Atıkları Tüzüğü (EU 2025/40)</a:t>
            </a:r>
          </a:p>
        </p:txBody>
      </p:sp>
      <p:graphicFrame>
        <p:nvGraphicFramePr>
          <p:cNvPr id="92" name="Diagram 91">
            <a:extLst>
              <a:ext uri="{FF2B5EF4-FFF2-40B4-BE49-F238E27FC236}">
                <a16:creationId xmlns:a16="http://schemas.microsoft.com/office/drawing/2014/main" id="{F03099A5-1564-6265-0BF7-AE0D85C23D04}"/>
              </a:ext>
            </a:extLst>
          </p:cNvPr>
          <p:cNvGraphicFramePr/>
          <p:nvPr>
            <p:extLst>
              <p:ext uri="{D42A27DB-BD31-4B8C-83A1-F6EECF244321}">
                <p14:modId xmlns:p14="http://schemas.microsoft.com/office/powerpoint/2010/main" val="3244349962"/>
              </p:ext>
            </p:extLst>
          </p:nvPr>
        </p:nvGraphicFramePr>
        <p:xfrm>
          <a:off x="456836" y="3618772"/>
          <a:ext cx="11278328" cy="13298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93" name="TextBox 92">
            <a:extLst>
              <a:ext uri="{FF2B5EF4-FFF2-40B4-BE49-F238E27FC236}">
                <a16:creationId xmlns:a16="http://schemas.microsoft.com/office/drawing/2014/main" id="{C9D691DA-0087-919C-B40D-09324FAE4FAF}"/>
              </a:ext>
            </a:extLst>
          </p:cNvPr>
          <p:cNvSpPr txBox="1"/>
          <p:nvPr/>
        </p:nvSpPr>
        <p:spPr>
          <a:xfrm>
            <a:off x="618743" y="2564904"/>
            <a:ext cx="2016809" cy="523220"/>
          </a:xfrm>
          <a:prstGeom prst="rect">
            <a:avLst/>
          </a:prstGeom>
          <a:noFill/>
        </p:spPr>
        <p:txBody>
          <a:bodyPr wrap="square">
            <a:spAutoFit/>
          </a:bodyPr>
          <a:lstStyle/>
          <a:p>
            <a:pPr lvl="0"/>
            <a:r>
              <a:rPr lang="tr-TR" sz="1400" b="1" dirty="0"/>
              <a:t>Avrupa Yeşil Mutabakatı (EU </a:t>
            </a:r>
            <a:r>
              <a:rPr lang="tr-TR" sz="1400" b="1" dirty="0" err="1"/>
              <a:t>Green</a:t>
            </a:r>
            <a:r>
              <a:rPr lang="tr-TR" sz="1400" b="1" dirty="0"/>
              <a:t> </a:t>
            </a:r>
            <a:r>
              <a:rPr lang="tr-TR" sz="1400" b="1" dirty="0" err="1"/>
              <a:t>Deal</a:t>
            </a:r>
            <a:r>
              <a:rPr lang="tr-TR" sz="1400" b="1" dirty="0"/>
              <a:t>)</a:t>
            </a:r>
            <a:endParaRPr lang="en-US" sz="1400" b="1" dirty="0"/>
          </a:p>
        </p:txBody>
      </p:sp>
      <p:sp>
        <p:nvSpPr>
          <p:cNvPr id="6" name="TextBox 92">
            <a:extLst>
              <a:ext uri="{FF2B5EF4-FFF2-40B4-BE49-F238E27FC236}">
                <a16:creationId xmlns:a16="http://schemas.microsoft.com/office/drawing/2014/main" id="{64442866-C747-8C80-B893-A44037F96088}"/>
              </a:ext>
            </a:extLst>
          </p:cNvPr>
          <p:cNvSpPr txBox="1"/>
          <p:nvPr/>
        </p:nvSpPr>
        <p:spPr>
          <a:xfrm>
            <a:off x="407367" y="4856257"/>
            <a:ext cx="1770221" cy="1169551"/>
          </a:xfrm>
          <a:prstGeom prst="rect">
            <a:avLst/>
          </a:prstGeom>
          <a:noFill/>
        </p:spPr>
        <p:txBody>
          <a:bodyPr wrap="square">
            <a:spAutoFit/>
          </a:bodyPr>
          <a:lstStyle/>
          <a:p>
            <a:pPr lvl="0"/>
            <a:r>
              <a:rPr lang="tr-TR" sz="1400" b="1" dirty="0"/>
              <a:t>Sanayide Yeşil Dönüşüm / Endüstriyel Emisyonların Yönetimi Yönetmeliği</a:t>
            </a:r>
            <a:endParaRPr lang="en-US" sz="1400" b="1" dirty="0"/>
          </a:p>
        </p:txBody>
      </p:sp>
      <p:sp>
        <p:nvSpPr>
          <p:cNvPr id="9" name="TextBox 92">
            <a:extLst>
              <a:ext uri="{FF2B5EF4-FFF2-40B4-BE49-F238E27FC236}">
                <a16:creationId xmlns:a16="http://schemas.microsoft.com/office/drawing/2014/main" id="{765DE351-61A5-F292-64D1-23D3230FB476}"/>
              </a:ext>
            </a:extLst>
          </p:cNvPr>
          <p:cNvSpPr txBox="1"/>
          <p:nvPr/>
        </p:nvSpPr>
        <p:spPr>
          <a:xfrm>
            <a:off x="2820347" y="4856257"/>
            <a:ext cx="1770221" cy="954107"/>
          </a:xfrm>
          <a:prstGeom prst="rect">
            <a:avLst/>
          </a:prstGeom>
          <a:noFill/>
        </p:spPr>
        <p:txBody>
          <a:bodyPr wrap="square">
            <a:spAutoFit/>
          </a:bodyPr>
          <a:lstStyle/>
          <a:p>
            <a:pPr lvl="0"/>
            <a:r>
              <a:rPr lang="tr-TR" sz="1400" b="1" dirty="0"/>
              <a:t>Kimyasalların Kaydı, Değerlendirilmesi, İzni ve Kısıtlanması Hakkında Yönetmelik</a:t>
            </a:r>
            <a:endParaRPr lang="en-US" sz="1400" b="1" dirty="0"/>
          </a:p>
        </p:txBody>
      </p:sp>
      <p:sp>
        <p:nvSpPr>
          <p:cNvPr id="13" name="TextBox 92">
            <a:extLst>
              <a:ext uri="{FF2B5EF4-FFF2-40B4-BE49-F238E27FC236}">
                <a16:creationId xmlns:a16="http://schemas.microsoft.com/office/drawing/2014/main" id="{0C3281F5-65A8-3FF9-9FFA-3D848AAD1D8D}"/>
              </a:ext>
            </a:extLst>
          </p:cNvPr>
          <p:cNvSpPr txBox="1"/>
          <p:nvPr/>
        </p:nvSpPr>
        <p:spPr>
          <a:xfrm>
            <a:off x="7464340" y="2572320"/>
            <a:ext cx="1872020" cy="738664"/>
          </a:xfrm>
          <a:prstGeom prst="rect">
            <a:avLst/>
          </a:prstGeom>
          <a:noFill/>
        </p:spPr>
        <p:txBody>
          <a:bodyPr wrap="square">
            <a:spAutoFit/>
          </a:bodyPr>
          <a:lstStyle/>
          <a:p>
            <a:pPr lvl="0"/>
            <a:r>
              <a:rPr lang="tr-TR" sz="1400" b="1" dirty="0"/>
              <a:t>Türkiye ETS (Emisyon Ticaret Sistemi) Yönetmeliği</a:t>
            </a:r>
            <a:endParaRPr lang="en-US" sz="1400" b="1" dirty="0"/>
          </a:p>
        </p:txBody>
      </p:sp>
      <p:sp>
        <p:nvSpPr>
          <p:cNvPr id="5" name="Metin kutusu 4">
            <a:extLst>
              <a:ext uri="{FF2B5EF4-FFF2-40B4-BE49-F238E27FC236}">
                <a16:creationId xmlns:a16="http://schemas.microsoft.com/office/drawing/2014/main" id="{0D2598BB-2E82-B695-C473-AD0B5620283C}"/>
              </a:ext>
            </a:extLst>
          </p:cNvPr>
          <p:cNvSpPr txBox="1"/>
          <p:nvPr/>
        </p:nvSpPr>
        <p:spPr>
          <a:xfrm>
            <a:off x="9752536" y="2562837"/>
            <a:ext cx="2016809" cy="523220"/>
          </a:xfrm>
          <a:prstGeom prst="rect">
            <a:avLst/>
          </a:prstGeom>
          <a:noFill/>
        </p:spPr>
        <p:txBody>
          <a:bodyPr wrap="square">
            <a:spAutoFit/>
          </a:bodyPr>
          <a:lstStyle/>
          <a:p>
            <a:pPr lvl="0"/>
            <a:r>
              <a:rPr lang="tr-TR" sz="1400" b="1" dirty="0"/>
              <a:t>Su Kanunu Taslağı ve Su Verimliliği Yönetmeliği</a:t>
            </a:r>
            <a:endParaRPr lang="en-US" sz="1400" b="1" dirty="0"/>
          </a:p>
        </p:txBody>
      </p:sp>
      <p:sp>
        <p:nvSpPr>
          <p:cNvPr id="10" name="TextBox 92">
            <a:extLst>
              <a:ext uri="{FF2B5EF4-FFF2-40B4-BE49-F238E27FC236}">
                <a16:creationId xmlns:a16="http://schemas.microsoft.com/office/drawing/2014/main" id="{E06BA679-9267-F8DB-7DE5-603960519B67}"/>
              </a:ext>
            </a:extLst>
          </p:cNvPr>
          <p:cNvSpPr txBox="1"/>
          <p:nvPr/>
        </p:nvSpPr>
        <p:spPr>
          <a:xfrm>
            <a:off x="5148025" y="2575336"/>
            <a:ext cx="2016809" cy="307777"/>
          </a:xfrm>
          <a:prstGeom prst="rect">
            <a:avLst/>
          </a:prstGeom>
          <a:noFill/>
        </p:spPr>
        <p:txBody>
          <a:bodyPr wrap="square">
            <a:spAutoFit/>
          </a:bodyPr>
          <a:lstStyle/>
          <a:p>
            <a:pPr lvl="0"/>
            <a:r>
              <a:rPr lang="tr-TR" sz="1400" b="1" dirty="0"/>
              <a:t>İklim Kanunu</a:t>
            </a:r>
            <a:endParaRPr lang="en-US" sz="1400" b="1" dirty="0"/>
          </a:p>
        </p:txBody>
      </p:sp>
      <p:sp>
        <p:nvSpPr>
          <p:cNvPr id="14" name="TextBox 86">
            <a:extLst>
              <a:ext uri="{FF2B5EF4-FFF2-40B4-BE49-F238E27FC236}">
                <a16:creationId xmlns:a16="http://schemas.microsoft.com/office/drawing/2014/main" id="{0B25728E-9040-F3B2-AB7D-ED74DCB45328}"/>
              </a:ext>
            </a:extLst>
          </p:cNvPr>
          <p:cNvSpPr txBox="1"/>
          <p:nvPr/>
        </p:nvSpPr>
        <p:spPr>
          <a:xfrm>
            <a:off x="7696376" y="4840904"/>
            <a:ext cx="1872020" cy="954107"/>
          </a:xfrm>
          <a:prstGeom prst="rect">
            <a:avLst/>
          </a:prstGeom>
          <a:noFill/>
        </p:spPr>
        <p:txBody>
          <a:bodyPr wrap="square">
            <a:spAutoFit/>
          </a:bodyPr>
          <a:lstStyle/>
          <a:p>
            <a:pPr lvl="0"/>
            <a:r>
              <a:rPr lang="tr-TR" sz="1400" b="1" dirty="0"/>
              <a:t>TSRS (Türkiye Sürdürülebilirlik Raporlama Standartları)</a:t>
            </a:r>
          </a:p>
        </p:txBody>
      </p:sp>
      <p:sp>
        <p:nvSpPr>
          <p:cNvPr id="16" name="TextBox 86">
            <a:extLst>
              <a:ext uri="{FF2B5EF4-FFF2-40B4-BE49-F238E27FC236}">
                <a16:creationId xmlns:a16="http://schemas.microsoft.com/office/drawing/2014/main" id="{77E97561-BF06-54A6-4EE5-3ED1D8367257}"/>
              </a:ext>
            </a:extLst>
          </p:cNvPr>
          <p:cNvSpPr txBox="1"/>
          <p:nvPr/>
        </p:nvSpPr>
        <p:spPr>
          <a:xfrm>
            <a:off x="10109356" y="4840903"/>
            <a:ext cx="1872020" cy="307777"/>
          </a:xfrm>
          <a:prstGeom prst="rect">
            <a:avLst/>
          </a:prstGeom>
          <a:noFill/>
        </p:spPr>
        <p:txBody>
          <a:bodyPr wrap="square">
            <a:spAutoFit/>
          </a:bodyPr>
          <a:lstStyle/>
          <a:p>
            <a:pPr lvl="0"/>
            <a:r>
              <a:rPr lang="tr-TR" sz="1400" b="1" dirty="0"/>
              <a:t>Sıfır Atık Yönetmeliği</a:t>
            </a:r>
          </a:p>
        </p:txBody>
      </p:sp>
      <p:sp>
        <p:nvSpPr>
          <p:cNvPr id="3" name="Dikdörtgen 2">
            <a:extLst>
              <a:ext uri="{FF2B5EF4-FFF2-40B4-BE49-F238E27FC236}">
                <a16:creationId xmlns:a16="http://schemas.microsoft.com/office/drawing/2014/main" id="{ED7226E7-1D8E-472A-EC89-9CE768848425}"/>
              </a:ext>
            </a:extLst>
          </p:cNvPr>
          <p:cNvSpPr/>
          <p:nvPr/>
        </p:nvSpPr>
        <p:spPr>
          <a:xfrm>
            <a:off x="695400" y="1393820"/>
            <a:ext cx="1728192" cy="1013235"/>
          </a:xfrm>
          <a:prstGeom prst="rect">
            <a:avLst/>
          </a:prstGeom>
          <a:blipFill rotWithShape="1">
            <a:blip r:embed="rId12"/>
            <a:srcRect/>
            <a:stretch>
              <a:fillRect l="-7000" r="-7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tr-TR"/>
          </a:p>
        </p:txBody>
      </p:sp>
      <p:sp>
        <p:nvSpPr>
          <p:cNvPr id="11" name="TextBox 92">
            <a:extLst>
              <a:ext uri="{FF2B5EF4-FFF2-40B4-BE49-F238E27FC236}">
                <a16:creationId xmlns:a16="http://schemas.microsoft.com/office/drawing/2014/main" id="{0384047B-4FED-7756-D118-3EA607E5CB71}"/>
              </a:ext>
            </a:extLst>
          </p:cNvPr>
          <p:cNvSpPr txBox="1"/>
          <p:nvPr/>
        </p:nvSpPr>
        <p:spPr>
          <a:xfrm>
            <a:off x="2883384" y="2619156"/>
            <a:ext cx="2016809" cy="738664"/>
          </a:xfrm>
          <a:prstGeom prst="rect">
            <a:avLst/>
          </a:prstGeom>
          <a:noFill/>
        </p:spPr>
        <p:txBody>
          <a:bodyPr wrap="square">
            <a:spAutoFit/>
          </a:bodyPr>
          <a:lstStyle/>
          <a:p>
            <a:pPr lvl="0"/>
            <a:r>
              <a:rPr lang="tr-TR" sz="1400" b="1" dirty="0"/>
              <a:t>AB Sınırda Karbon Düzenleme Mekanizması (SKDM)</a:t>
            </a:r>
            <a:endParaRPr lang="en-US" sz="1400" b="1" dirty="0"/>
          </a:p>
        </p:txBody>
      </p:sp>
    </p:spTree>
    <p:extLst>
      <p:ext uri="{BB962C8B-B14F-4D97-AF65-F5344CB8AC3E}">
        <p14:creationId xmlns:p14="http://schemas.microsoft.com/office/powerpoint/2010/main" val="132267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4C9FB-1630-49FA-A523-89A2A14D8CA0}"/>
              </a:ext>
            </a:extLst>
          </p:cNvPr>
          <p:cNvSpPr>
            <a:spLocks noGrp="1"/>
          </p:cNvSpPr>
          <p:nvPr>
            <p:ph type="title"/>
          </p:nvPr>
        </p:nvSpPr>
        <p:spPr/>
        <p:txBody>
          <a:bodyPr>
            <a:normAutofit/>
          </a:bodyPr>
          <a:lstStyle/>
          <a:p>
            <a:r>
              <a:rPr lang="tr-TR" b="1" i="1" dirty="0"/>
              <a:t>Regülasyonların Önemi</a:t>
            </a:r>
            <a:endParaRPr lang="en-US" b="1" i="1" dirty="0"/>
          </a:p>
        </p:txBody>
      </p:sp>
      <p:sp>
        <p:nvSpPr>
          <p:cNvPr id="3" name="Content Placeholder 2">
            <a:extLst>
              <a:ext uri="{FF2B5EF4-FFF2-40B4-BE49-F238E27FC236}">
                <a16:creationId xmlns:a16="http://schemas.microsoft.com/office/drawing/2014/main" id="{95A71ACD-4E01-44E6-9AF1-9B08CD4FD3C1}"/>
              </a:ext>
            </a:extLst>
          </p:cNvPr>
          <p:cNvSpPr>
            <a:spLocks noGrp="1"/>
          </p:cNvSpPr>
          <p:nvPr>
            <p:ph idx="1"/>
          </p:nvPr>
        </p:nvSpPr>
        <p:spPr>
          <a:xfrm>
            <a:off x="629344" y="841982"/>
            <a:ext cx="11299304" cy="2055940"/>
          </a:xfrm>
        </p:spPr>
        <p:txBody>
          <a:bodyPr>
            <a:normAutofit lnSpcReduction="10000"/>
          </a:bodyPr>
          <a:lstStyle/>
          <a:p>
            <a:pPr algn="just"/>
            <a:r>
              <a:rPr lang="en-US" sz="1400" dirty="0"/>
              <a:t>Ulusal </a:t>
            </a:r>
            <a:r>
              <a:rPr lang="en-US" sz="1400" dirty="0" err="1"/>
              <a:t>ve</a:t>
            </a:r>
            <a:r>
              <a:rPr lang="en-US" sz="1400" dirty="0"/>
              <a:t> </a:t>
            </a:r>
            <a:r>
              <a:rPr lang="en-US" sz="1400" dirty="0" err="1"/>
              <a:t>uluslararası</a:t>
            </a:r>
            <a:r>
              <a:rPr lang="en-US" sz="1400" dirty="0"/>
              <a:t> </a:t>
            </a:r>
            <a:r>
              <a:rPr lang="en-US" sz="1400" dirty="0" err="1"/>
              <a:t>sürdürülebilirlik</a:t>
            </a:r>
            <a:r>
              <a:rPr lang="en-US" sz="1400" dirty="0"/>
              <a:t> </a:t>
            </a:r>
            <a:r>
              <a:rPr lang="en-US" sz="1400" dirty="0" err="1"/>
              <a:t>regülasyonları</a:t>
            </a:r>
            <a:r>
              <a:rPr lang="en-US" sz="1400" dirty="0"/>
              <a:t> </a:t>
            </a:r>
            <a:r>
              <a:rPr lang="en-US" sz="1400" dirty="0" err="1"/>
              <a:t>ile</a:t>
            </a:r>
            <a:r>
              <a:rPr lang="en-US" sz="1400" dirty="0"/>
              <a:t> </a:t>
            </a:r>
            <a:r>
              <a:rPr lang="en-US" sz="1400" dirty="0" err="1"/>
              <a:t>kimyasal</a:t>
            </a:r>
            <a:r>
              <a:rPr lang="en-US" sz="1400" dirty="0"/>
              <a:t> </a:t>
            </a:r>
            <a:r>
              <a:rPr lang="en-US" sz="1400" dirty="0" err="1"/>
              <a:t>yönetim</a:t>
            </a:r>
            <a:r>
              <a:rPr lang="en-US" sz="1400" dirty="0"/>
              <a:t> </a:t>
            </a:r>
            <a:r>
              <a:rPr lang="en-US" sz="1400" dirty="0" err="1"/>
              <a:t>çerçeveleri</a:t>
            </a:r>
            <a:r>
              <a:rPr lang="en-US" sz="1400" dirty="0"/>
              <a:t>; </a:t>
            </a:r>
            <a:r>
              <a:rPr lang="en-US" sz="1400" dirty="0" err="1"/>
              <a:t>gübre</a:t>
            </a:r>
            <a:r>
              <a:rPr lang="en-US" sz="1400" dirty="0"/>
              <a:t> </a:t>
            </a:r>
            <a:r>
              <a:rPr lang="en-US" sz="1400" dirty="0" err="1"/>
              <a:t>ve</a:t>
            </a:r>
            <a:r>
              <a:rPr lang="en-US" sz="1400" dirty="0"/>
              <a:t> </a:t>
            </a:r>
            <a:r>
              <a:rPr lang="en-US" sz="1400" dirty="0" err="1"/>
              <a:t>kimya</a:t>
            </a:r>
            <a:r>
              <a:rPr lang="en-US" sz="1400" dirty="0"/>
              <a:t> </a:t>
            </a:r>
            <a:r>
              <a:rPr lang="en-US" sz="1400" dirty="0" err="1"/>
              <a:t>sanayi</a:t>
            </a:r>
            <a:r>
              <a:rPr lang="en-US" sz="1400" dirty="0"/>
              <a:t> </a:t>
            </a:r>
            <a:r>
              <a:rPr lang="en-US" sz="1400" dirty="0" err="1"/>
              <a:t>başta</a:t>
            </a:r>
            <a:r>
              <a:rPr lang="en-US" sz="1400" dirty="0"/>
              <a:t> </a:t>
            </a:r>
            <a:r>
              <a:rPr lang="en-US" sz="1400" dirty="0" err="1"/>
              <a:t>olmak</a:t>
            </a:r>
            <a:r>
              <a:rPr lang="en-US" sz="1400" dirty="0"/>
              <a:t> </a:t>
            </a:r>
            <a:r>
              <a:rPr lang="en-US" sz="1400" dirty="0" err="1"/>
              <a:t>üzere</a:t>
            </a:r>
            <a:r>
              <a:rPr lang="en-US" sz="1400" dirty="0"/>
              <a:t> </a:t>
            </a:r>
            <a:r>
              <a:rPr lang="en-US" sz="1400" dirty="0" err="1"/>
              <a:t>enerji</a:t>
            </a:r>
            <a:r>
              <a:rPr lang="en-US" sz="1400" dirty="0"/>
              <a:t> </a:t>
            </a:r>
            <a:r>
              <a:rPr lang="en-US" sz="1400" dirty="0" err="1"/>
              <a:t>ve</a:t>
            </a:r>
            <a:r>
              <a:rPr lang="en-US" sz="1400" dirty="0"/>
              <a:t> </a:t>
            </a:r>
            <a:r>
              <a:rPr lang="en-US" sz="1400" dirty="0" err="1"/>
              <a:t>emisyon</a:t>
            </a:r>
            <a:r>
              <a:rPr lang="en-US" sz="1400" dirty="0"/>
              <a:t> </a:t>
            </a:r>
            <a:r>
              <a:rPr lang="en-US" sz="1400" dirty="0" err="1"/>
              <a:t>yoğun</a:t>
            </a:r>
            <a:r>
              <a:rPr lang="en-US" sz="1400" dirty="0"/>
              <a:t> </a:t>
            </a:r>
            <a:r>
              <a:rPr lang="en-US" sz="1400" dirty="0" err="1"/>
              <a:t>sektörlerin</a:t>
            </a:r>
            <a:r>
              <a:rPr lang="en-US" sz="1400" dirty="0"/>
              <a:t> </a:t>
            </a:r>
            <a:r>
              <a:rPr lang="en-US" sz="1400" dirty="0" err="1"/>
              <a:t>değer</a:t>
            </a:r>
            <a:r>
              <a:rPr lang="en-US" sz="1400" dirty="0"/>
              <a:t> </a:t>
            </a:r>
            <a:r>
              <a:rPr lang="en-US" sz="1400" dirty="0" err="1"/>
              <a:t>zincirlerinde</a:t>
            </a:r>
            <a:r>
              <a:rPr lang="en-US" sz="1400" dirty="0"/>
              <a:t> </a:t>
            </a:r>
            <a:r>
              <a:rPr lang="en-US" sz="1400" dirty="0" err="1"/>
              <a:t>yapısal</a:t>
            </a:r>
            <a:r>
              <a:rPr lang="en-US" sz="1400" dirty="0"/>
              <a:t> </a:t>
            </a:r>
            <a:r>
              <a:rPr lang="en-US" sz="1400" dirty="0" err="1"/>
              <a:t>bir</a:t>
            </a:r>
            <a:r>
              <a:rPr lang="en-US" sz="1400" dirty="0"/>
              <a:t> </a:t>
            </a:r>
            <a:r>
              <a:rPr lang="en-US" sz="1400" dirty="0" err="1"/>
              <a:t>dönüşüm</a:t>
            </a:r>
            <a:r>
              <a:rPr lang="en-US" sz="1400" dirty="0"/>
              <a:t> </a:t>
            </a:r>
            <a:r>
              <a:rPr lang="en-US" sz="1400" dirty="0" err="1"/>
              <a:t>yaratarak</a:t>
            </a:r>
            <a:r>
              <a:rPr lang="en-US" sz="1400" dirty="0"/>
              <a:t> </a:t>
            </a:r>
            <a:r>
              <a:rPr lang="en-US" sz="1400" dirty="0" err="1"/>
              <a:t>düşük</a:t>
            </a:r>
            <a:r>
              <a:rPr lang="en-US" sz="1400" dirty="0"/>
              <a:t> </a:t>
            </a:r>
            <a:r>
              <a:rPr lang="en-US" sz="1400" dirty="0" err="1"/>
              <a:t>karbonlu</a:t>
            </a:r>
            <a:r>
              <a:rPr lang="en-US" sz="1400" dirty="0"/>
              <a:t>, </a:t>
            </a:r>
            <a:r>
              <a:rPr lang="en-US" sz="1400" dirty="0" err="1"/>
              <a:t>döngüsel</a:t>
            </a:r>
            <a:r>
              <a:rPr lang="en-US" sz="1400" dirty="0"/>
              <a:t> </a:t>
            </a:r>
            <a:r>
              <a:rPr lang="en-US" sz="1400" dirty="0" err="1"/>
              <a:t>ve</a:t>
            </a:r>
            <a:r>
              <a:rPr lang="en-US" sz="1400" dirty="0"/>
              <a:t> </a:t>
            </a:r>
            <a:r>
              <a:rPr lang="en-US" sz="1400" dirty="0" err="1"/>
              <a:t>iklim</a:t>
            </a:r>
            <a:r>
              <a:rPr lang="en-US" sz="1400" dirty="0"/>
              <a:t> </a:t>
            </a:r>
            <a:r>
              <a:rPr lang="en-US" sz="1400" dirty="0" err="1"/>
              <a:t>dirençli</a:t>
            </a:r>
            <a:r>
              <a:rPr lang="en-US" sz="1400" dirty="0"/>
              <a:t> </a:t>
            </a:r>
            <a:r>
              <a:rPr lang="en-US" sz="1400" dirty="0" err="1"/>
              <a:t>bir</a:t>
            </a:r>
            <a:r>
              <a:rPr lang="en-US" sz="1400" dirty="0"/>
              <a:t> </a:t>
            </a:r>
            <a:r>
              <a:rPr lang="en-US" sz="1400" dirty="0" err="1"/>
              <a:t>operasyonel</a:t>
            </a:r>
            <a:r>
              <a:rPr lang="en-US" sz="1400" dirty="0"/>
              <a:t> </a:t>
            </a:r>
            <a:r>
              <a:rPr lang="en-US" sz="1400" dirty="0" err="1"/>
              <a:t>modeli</a:t>
            </a:r>
            <a:r>
              <a:rPr lang="en-US" sz="1400" dirty="0"/>
              <a:t> </a:t>
            </a:r>
            <a:r>
              <a:rPr lang="en-US" sz="1400" dirty="0" err="1"/>
              <a:t>zorunlu</a:t>
            </a:r>
            <a:r>
              <a:rPr lang="en-US" sz="1400" dirty="0"/>
              <a:t> </a:t>
            </a:r>
            <a:r>
              <a:rPr lang="en-US" sz="1400" dirty="0" err="1"/>
              <a:t>kılmaktadır</a:t>
            </a:r>
            <a:r>
              <a:rPr lang="en-US" sz="1400" dirty="0"/>
              <a:t>. Bu yeni </a:t>
            </a:r>
            <a:r>
              <a:rPr lang="en-US" sz="1400" dirty="0" err="1"/>
              <a:t>yasal</a:t>
            </a:r>
            <a:r>
              <a:rPr lang="en-US" sz="1400" dirty="0"/>
              <a:t> </a:t>
            </a:r>
            <a:r>
              <a:rPr lang="en-US" sz="1400" dirty="0" err="1"/>
              <a:t>çerçeveler</a:t>
            </a:r>
            <a:r>
              <a:rPr lang="en-US" sz="1400" dirty="0"/>
              <a:t>, </a:t>
            </a:r>
            <a:r>
              <a:rPr lang="en-US" sz="1400" dirty="0" err="1"/>
              <a:t>üretim</a:t>
            </a:r>
            <a:r>
              <a:rPr lang="en-US" sz="1400" dirty="0"/>
              <a:t> </a:t>
            </a:r>
            <a:r>
              <a:rPr lang="en-US" sz="1400" dirty="0" err="1"/>
              <a:t>süreçlerinde</a:t>
            </a:r>
            <a:r>
              <a:rPr lang="en-US" sz="1400" dirty="0"/>
              <a:t> </a:t>
            </a:r>
            <a:r>
              <a:rPr lang="en-US" sz="1400" dirty="0" err="1"/>
              <a:t>kaynak</a:t>
            </a:r>
            <a:r>
              <a:rPr lang="en-US" sz="1400" dirty="0"/>
              <a:t> </a:t>
            </a:r>
            <a:r>
              <a:rPr lang="en-US" sz="1400" dirty="0" err="1"/>
              <a:t>verimliliğinin</a:t>
            </a:r>
            <a:r>
              <a:rPr lang="en-US" sz="1400" dirty="0"/>
              <a:t> </a:t>
            </a:r>
            <a:r>
              <a:rPr lang="en-US" sz="1400" dirty="0" err="1"/>
              <a:t>maksimize</a:t>
            </a:r>
            <a:r>
              <a:rPr lang="en-US" sz="1400" dirty="0"/>
              <a:t> </a:t>
            </a:r>
            <a:r>
              <a:rPr lang="en-US" sz="1400" dirty="0" err="1"/>
              <a:t>edilmesini</a:t>
            </a:r>
            <a:r>
              <a:rPr lang="en-US" sz="1400" dirty="0"/>
              <a:t>, </a:t>
            </a:r>
            <a:r>
              <a:rPr lang="en-US" sz="1400" dirty="0" err="1"/>
              <a:t>endüstriyel</a:t>
            </a:r>
            <a:r>
              <a:rPr lang="en-US" sz="1400" dirty="0"/>
              <a:t> </a:t>
            </a:r>
            <a:r>
              <a:rPr lang="en-US" sz="1400" dirty="0" err="1"/>
              <a:t>su</a:t>
            </a:r>
            <a:r>
              <a:rPr lang="en-US" sz="1400" dirty="0"/>
              <a:t> </a:t>
            </a:r>
            <a:r>
              <a:rPr lang="en-US" sz="1400" dirty="0" err="1"/>
              <a:t>ve</a:t>
            </a:r>
            <a:r>
              <a:rPr lang="en-US" sz="1400" dirty="0"/>
              <a:t> </a:t>
            </a:r>
            <a:r>
              <a:rPr lang="en-US" sz="1400" dirty="0" err="1"/>
              <a:t>atık</a:t>
            </a:r>
            <a:r>
              <a:rPr lang="en-US" sz="1400" dirty="0"/>
              <a:t> </a:t>
            </a:r>
            <a:r>
              <a:rPr lang="en-US" sz="1400" dirty="0" err="1"/>
              <a:t>yönetiminin</a:t>
            </a:r>
            <a:r>
              <a:rPr lang="en-US" sz="1400" dirty="0"/>
              <a:t> optimize </a:t>
            </a:r>
            <a:r>
              <a:rPr lang="en-US" sz="1400" dirty="0" err="1"/>
              <a:t>edilmesini</a:t>
            </a:r>
            <a:r>
              <a:rPr lang="en-US" sz="1400" dirty="0"/>
              <a:t> </a:t>
            </a:r>
            <a:r>
              <a:rPr lang="en-US" sz="1400" dirty="0" err="1"/>
              <a:t>ve</a:t>
            </a:r>
            <a:r>
              <a:rPr lang="en-US" sz="1400" dirty="0"/>
              <a:t> sera </a:t>
            </a:r>
            <a:r>
              <a:rPr lang="en-US" sz="1400" dirty="0" err="1"/>
              <a:t>gazı</a:t>
            </a:r>
            <a:r>
              <a:rPr lang="en-US" sz="1400" dirty="0"/>
              <a:t> </a:t>
            </a:r>
            <a:r>
              <a:rPr lang="en-US" sz="1400" dirty="0" err="1"/>
              <a:t>emisyonlarının</a:t>
            </a:r>
            <a:r>
              <a:rPr lang="en-US" sz="1400" dirty="0"/>
              <a:t> </a:t>
            </a:r>
            <a:r>
              <a:rPr lang="en-US" sz="1400" dirty="0" err="1"/>
              <a:t>fiyatlandırılarak</a:t>
            </a:r>
            <a:r>
              <a:rPr lang="en-US" sz="1400" dirty="0"/>
              <a:t> </a:t>
            </a:r>
            <a:r>
              <a:rPr lang="en-US" sz="1400" dirty="0" err="1"/>
              <a:t>kademeli</a:t>
            </a:r>
            <a:r>
              <a:rPr lang="en-US" sz="1400" dirty="0"/>
              <a:t> </a:t>
            </a:r>
            <a:r>
              <a:rPr lang="en-US" sz="1400" dirty="0" err="1"/>
              <a:t>olarak</a:t>
            </a:r>
            <a:r>
              <a:rPr lang="en-US" sz="1400" dirty="0"/>
              <a:t> </a:t>
            </a:r>
            <a:r>
              <a:rPr lang="en-US" sz="1400" dirty="0" err="1"/>
              <a:t>sınırlandırılmasını</a:t>
            </a:r>
            <a:r>
              <a:rPr lang="en-US" sz="1400" dirty="0"/>
              <a:t> </a:t>
            </a:r>
            <a:r>
              <a:rPr lang="en-US" sz="1400" dirty="0" err="1"/>
              <a:t>kapsarken</a:t>
            </a:r>
            <a:r>
              <a:rPr lang="en-US" sz="1400" dirty="0"/>
              <a:t>; </a:t>
            </a:r>
            <a:r>
              <a:rPr lang="en-US" sz="1400" dirty="0" err="1"/>
              <a:t>aynı</a:t>
            </a:r>
            <a:r>
              <a:rPr lang="en-US" sz="1400" dirty="0"/>
              <a:t> </a:t>
            </a:r>
            <a:r>
              <a:rPr lang="en-US" sz="1400" dirty="0" err="1"/>
              <a:t>zamanda</a:t>
            </a:r>
            <a:r>
              <a:rPr lang="en-US" sz="1400" dirty="0"/>
              <a:t> </a:t>
            </a:r>
            <a:r>
              <a:rPr lang="en-US" sz="1400" dirty="0" err="1"/>
              <a:t>kurumsal</a:t>
            </a:r>
            <a:r>
              <a:rPr lang="en-US" sz="1400" dirty="0"/>
              <a:t> </a:t>
            </a:r>
            <a:r>
              <a:rPr lang="en-US" sz="1400" dirty="0" err="1"/>
              <a:t>verilerin</a:t>
            </a:r>
            <a:r>
              <a:rPr lang="en-US" sz="1400" dirty="0"/>
              <a:t> </a:t>
            </a:r>
            <a:r>
              <a:rPr lang="en-US" sz="1400" dirty="0" err="1"/>
              <a:t>şeffaflaşmasıyla</a:t>
            </a:r>
            <a:r>
              <a:rPr lang="en-US" sz="1400" dirty="0"/>
              <a:t> </a:t>
            </a:r>
            <a:r>
              <a:rPr lang="en-US" sz="1400" dirty="0" err="1"/>
              <a:t>küresel</a:t>
            </a:r>
            <a:r>
              <a:rPr lang="en-US" sz="1400" dirty="0"/>
              <a:t> </a:t>
            </a:r>
            <a:r>
              <a:rPr lang="en-US" sz="1400" dirty="0" err="1"/>
              <a:t>pazarlardaki</a:t>
            </a:r>
            <a:r>
              <a:rPr lang="en-US" sz="1400" dirty="0"/>
              <a:t> </a:t>
            </a:r>
            <a:r>
              <a:rPr lang="en-US" sz="1400" dirty="0" err="1"/>
              <a:t>rekabet</a:t>
            </a:r>
            <a:r>
              <a:rPr lang="en-US" sz="1400" dirty="0"/>
              <a:t> gücünün </a:t>
            </a:r>
            <a:r>
              <a:rPr lang="en-US" sz="1400" dirty="0" err="1"/>
              <a:t>ve</a:t>
            </a:r>
            <a:r>
              <a:rPr lang="en-US" sz="1400" dirty="0"/>
              <a:t> </a:t>
            </a:r>
            <a:r>
              <a:rPr lang="en-US" sz="1400" dirty="0" err="1"/>
              <a:t>yasal</a:t>
            </a:r>
            <a:r>
              <a:rPr lang="en-US" sz="1400" dirty="0"/>
              <a:t> </a:t>
            </a:r>
            <a:r>
              <a:rPr lang="en-US" sz="1400" dirty="0" err="1"/>
              <a:t>uyum</a:t>
            </a:r>
            <a:r>
              <a:rPr lang="en-US" sz="1400" dirty="0"/>
              <a:t> </a:t>
            </a:r>
            <a:r>
              <a:rPr lang="en-US" sz="1400" dirty="0" err="1"/>
              <a:t>kapasitesinin</a:t>
            </a:r>
            <a:r>
              <a:rPr lang="en-US" sz="1400" dirty="0"/>
              <a:t> </a:t>
            </a:r>
            <a:r>
              <a:rPr lang="en-US" sz="1400" dirty="0" err="1"/>
              <a:t>artırılmasını</a:t>
            </a:r>
            <a:r>
              <a:rPr lang="en-US" sz="1400" dirty="0"/>
              <a:t> </a:t>
            </a:r>
            <a:r>
              <a:rPr lang="en-US" sz="1400" dirty="0" err="1"/>
              <a:t>hedeflemektedir</a:t>
            </a:r>
            <a:r>
              <a:rPr lang="en-US" sz="1400" dirty="0"/>
              <a:t>.</a:t>
            </a:r>
            <a:endParaRPr lang="tr-TR" sz="1400" dirty="0"/>
          </a:p>
          <a:p>
            <a:pPr algn="just"/>
            <a:endParaRPr lang="tr-TR" sz="1400" dirty="0"/>
          </a:p>
          <a:p>
            <a:pPr algn="just"/>
            <a:r>
              <a:rPr lang="en-US" sz="1400" dirty="0"/>
              <a:t>Bu </a:t>
            </a:r>
            <a:r>
              <a:rPr lang="en-US" sz="1400" dirty="0" err="1"/>
              <a:t>entegre</a:t>
            </a:r>
            <a:r>
              <a:rPr lang="en-US" sz="1400" dirty="0"/>
              <a:t> </a:t>
            </a:r>
            <a:r>
              <a:rPr lang="en-US" sz="1400" dirty="0" err="1"/>
              <a:t>dönüşümün</a:t>
            </a:r>
            <a:r>
              <a:rPr lang="en-US" sz="1400" dirty="0"/>
              <a:t> </a:t>
            </a:r>
            <a:r>
              <a:rPr lang="en-US" sz="1400" dirty="0" err="1"/>
              <a:t>merkezinde</a:t>
            </a:r>
            <a:r>
              <a:rPr lang="en-US" sz="1400" dirty="0"/>
              <a:t> </a:t>
            </a:r>
            <a:r>
              <a:rPr lang="en-US" sz="1400" dirty="0" err="1"/>
              <a:t>yer</a:t>
            </a:r>
            <a:r>
              <a:rPr lang="en-US" sz="1400" dirty="0"/>
              <a:t> </a:t>
            </a:r>
            <a:r>
              <a:rPr lang="en-US" sz="1400" dirty="0" err="1"/>
              <a:t>alan</a:t>
            </a:r>
            <a:r>
              <a:rPr lang="en-US" sz="1400" dirty="0"/>
              <a:t> </a:t>
            </a:r>
            <a:r>
              <a:rPr lang="en-US" sz="1400" dirty="0" err="1"/>
              <a:t>Sınırda</a:t>
            </a:r>
            <a:r>
              <a:rPr lang="en-US" sz="1400" dirty="0"/>
              <a:t> Karbon </a:t>
            </a:r>
            <a:r>
              <a:rPr lang="en-US" sz="1400" dirty="0" err="1"/>
              <a:t>Düzenleme</a:t>
            </a:r>
            <a:r>
              <a:rPr lang="en-US" sz="1400" dirty="0"/>
              <a:t> </a:t>
            </a:r>
            <a:r>
              <a:rPr lang="en-US" sz="1400" dirty="0" err="1"/>
              <a:t>Mekanizması</a:t>
            </a:r>
            <a:r>
              <a:rPr lang="en-US" sz="1400" dirty="0"/>
              <a:t> (SKDM), </a:t>
            </a:r>
            <a:r>
              <a:rPr lang="en-US" sz="1400" dirty="0" err="1"/>
              <a:t>İklim</a:t>
            </a:r>
            <a:r>
              <a:rPr lang="en-US" sz="1400" dirty="0"/>
              <a:t> </a:t>
            </a:r>
            <a:r>
              <a:rPr lang="en-US" sz="1400" dirty="0" err="1"/>
              <a:t>Kanunu</a:t>
            </a:r>
            <a:r>
              <a:rPr lang="en-US" sz="1400" dirty="0"/>
              <a:t>, Ulusal </a:t>
            </a:r>
            <a:r>
              <a:rPr lang="en-US" sz="1400" dirty="0" err="1"/>
              <a:t>Emisyon</a:t>
            </a:r>
            <a:r>
              <a:rPr lang="en-US" sz="1400" dirty="0"/>
              <a:t> Ticaret </a:t>
            </a:r>
            <a:r>
              <a:rPr lang="en-US" sz="1400" dirty="0" err="1"/>
              <a:t>Sistemi</a:t>
            </a:r>
            <a:r>
              <a:rPr lang="en-US" sz="1400" dirty="0"/>
              <a:t> (ETS) </a:t>
            </a:r>
            <a:r>
              <a:rPr lang="en-US" sz="1400" dirty="0" err="1"/>
              <a:t>ve</a:t>
            </a:r>
            <a:r>
              <a:rPr lang="en-US" sz="1400" dirty="0"/>
              <a:t> TSRS </a:t>
            </a:r>
            <a:r>
              <a:rPr lang="en-US" sz="1400" dirty="0" err="1"/>
              <a:t>gibi</a:t>
            </a:r>
            <a:r>
              <a:rPr lang="en-US" sz="1400" dirty="0"/>
              <a:t> </a:t>
            </a:r>
            <a:r>
              <a:rPr lang="en-US" sz="1400" dirty="0" err="1"/>
              <a:t>zorunlu</a:t>
            </a:r>
            <a:r>
              <a:rPr lang="en-US" sz="1400" dirty="0"/>
              <a:t> </a:t>
            </a:r>
            <a:r>
              <a:rPr lang="en-US" sz="1400" dirty="0" err="1"/>
              <a:t>regülasyonlara</a:t>
            </a:r>
            <a:r>
              <a:rPr lang="en-US" sz="1400" dirty="0"/>
              <a:t> </a:t>
            </a:r>
            <a:r>
              <a:rPr lang="en-US" sz="1400" dirty="0" err="1"/>
              <a:t>yönelik</a:t>
            </a:r>
            <a:r>
              <a:rPr lang="en-US" sz="1400" dirty="0"/>
              <a:t> </a:t>
            </a:r>
            <a:r>
              <a:rPr lang="en-US" sz="1400" dirty="0" err="1"/>
              <a:t>teknik</a:t>
            </a:r>
            <a:r>
              <a:rPr lang="en-US" sz="1400" dirty="0"/>
              <a:t> </a:t>
            </a:r>
            <a:r>
              <a:rPr lang="en-US" sz="1400" dirty="0" err="1"/>
              <a:t>uyum</a:t>
            </a:r>
            <a:r>
              <a:rPr lang="en-US" sz="1400" dirty="0"/>
              <a:t>, </a:t>
            </a:r>
            <a:r>
              <a:rPr lang="en-US" sz="1400" dirty="0" err="1"/>
              <a:t>karbon</a:t>
            </a:r>
            <a:r>
              <a:rPr lang="en-US" sz="1400" dirty="0"/>
              <a:t> </a:t>
            </a:r>
            <a:r>
              <a:rPr lang="en-US" sz="1400" dirty="0" err="1"/>
              <a:t>muhasebesi</a:t>
            </a:r>
            <a:r>
              <a:rPr lang="en-US" sz="1400" dirty="0"/>
              <a:t> </a:t>
            </a:r>
            <a:r>
              <a:rPr lang="en-US" sz="1400" dirty="0" err="1"/>
              <a:t>ve</a:t>
            </a:r>
            <a:r>
              <a:rPr lang="en-US" sz="1400" dirty="0"/>
              <a:t> </a:t>
            </a:r>
            <a:r>
              <a:rPr lang="en-US" sz="1400" dirty="0" err="1"/>
              <a:t>raporlama</a:t>
            </a:r>
            <a:r>
              <a:rPr lang="en-US" sz="1400" dirty="0"/>
              <a:t> </a:t>
            </a:r>
            <a:r>
              <a:rPr lang="en-US" sz="1400" dirty="0" err="1"/>
              <a:t>süreçleri</a:t>
            </a:r>
            <a:r>
              <a:rPr lang="en-US" sz="1400" dirty="0"/>
              <a:t> </a:t>
            </a:r>
            <a:r>
              <a:rPr lang="en-US" sz="1400" dirty="0" err="1"/>
              <a:t>kurumsal</a:t>
            </a:r>
            <a:r>
              <a:rPr lang="en-US" sz="1400" dirty="0"/>
              <a:t> </a:t>
            </a:r>
            <a:r>
              <a:rPr lang="en-US" sz="1400" dirty="0" err="1"/>
              <a:t>stratejinin</a:t>
            </a:r>
            <a:r>
              <a:rPr lang="en-US" sz="1400" dirty="0"/>
              <a:t> </a:t>
            </a:r>
            <a:r>
              <a:rPr lang="en-US" sz="1400" dirty="0" err="1"/>
              <a:t>öncelikli</a:t>
            </a:r>
            <a:r>
              <a:rPr lang="en-US" sz="1400" dirty="0"/>
              <a:t> </a:t>
            </a:r>
            <a:r>
              <a:rPr lang="en-US" sz="1400" dirty="0" err="1"/>
              <a:t>gündemidir</a:t>
            </a:r>
            <a:r>
              <a:rPr lang="en-US" sz="1400" dirty="0"/>
              <a:t>.</a:t>
            </a:r>
            <a:endParaRPr lang="tr-TR" sz="1400" dirty="0"/>
          </a:p>
          <a:p>
            <a:pPr algn="just"/>
            <a:endParaRPr lang="tr-TR" sz="1400" dirty="0"/>
          </a:p>
          <a:p>
            <a:pPr algn="just"/>
            <a:r>
              <a:rPr lang="en-US" sz="1400" dirty="0"/>
              <a:t>Bu ana </a:t>
            </a:r>
            <a:r>
              <a:rPr lang="en-US" sz="1400" dirty="0" err="1"/>
              <a:t>çerçeve</a:t>
            </a:r>
            <a:r>
              <a:rPr lang="en-US" sz="1400" dirty="0"/>
              <a:t> </a:t>
            </a:r>
            <a:r>
              <a:rPr lang="en-US" sz="1400" dirty="0" err="1"/>
              <a:t>ve</a:t>
            </a:r>
            <a:r>
              <a:rPr lang="en-US" sz="1400" dirty="0"/>
              <a:t> </a:t>
            </a:r>
            <a:r>
              <a:rPr lang="en-US" sz="1400" dirty="0" err="1"/>
              <a:t>regülasyonlar</a:t>
            </a:r>
            <a:r>
              <a:rPr lang="en-US" sz="1400" dirty="0"/>
              <a:t> </a:t>
            </a:r>
            <a:r>
              <a:rPr lang="en-US" sz="1400" dirty="0" err="1"/>
              <a:t>kapsamında</a:t>
            </a:r>
            <a:r>
              <a:rPr lang="en-US" sz="1400" dirty="0"/>
              <a:t> </a:t>
            </a:r>
            <a:r>
              <a:rPr lang="en-US" sz="1400" dirty="0" err="1"/>
              <a:t>ele</a:t>
            </a:r>
            <a:r>
              <a:rPr lang="en-US" sz="1400" dirty="0"/>
              <a:t> </a:t>
            </a:r>
            <a:r>
              <a:rPr lang="en-US" sz="1400" dirty="0" err="1"/>
              <a:t>alınan</a:t>
            </a:r>
            <a:r>
              <a:rPr lang="en-US" sz="1400" dirty="0"/>
              <a:t>/</a:t>
            </a:r>
            <a:r>
              <a:rPr lang="en-US" sz="1400" dirty="0" err="1"/>
              <a:t>alınacak</a:t>
            </a:r>
            <a:r>
              <a:rPr lang="en-US" sz="1400" dirty="0"/>
              <a:t> </a:t>
            </a:r>
            <a:r>
              <a:rPr lang="en-US" sz="1400" dirty="0" err="1"/>
              <a:t>konular</a:t>
            </a:r>
            <a:r>
              <a:rPr lang="en-US" sz="1400" dirty="0"/>
              <a:t>:</a:t>
            </a:r>
            <a:endParaRPr lang="tr-TR" sz="1400" dirty="0"/>
          </a:p>
        </p:txBody>
      </p:sp>
      <p:sp>
        <p:nvSpPr>
          <p:cNvPr id="4" name="Slide Number Placeholder 3">
            <a:extLst>
              <a:ext uri="{FF2B5EF4-FFF2-40B4-BE49-F238E27FC236}">
                <a16:creationId xmlns:a16="http://schemas.microsoft.com/office/drawing/2014/main" id="{E5C40E34-A32B-4D2A-A7B4-A71C729096BC}"/>
              </a:ext>
            </a:extLst>
          </p:cNvPr>
          <p:cNvSpPr>
            <a:spLocks noGrp="1"/>
          </p:cNvSpPr>
          <p:nvPr>
            <p:ph type="sldNum" sz="quarter" idx="4"/>
          </p:nvPr>
        </p:nvSpPr>
        <p:spPr/>
        <p:txBody>
          <a:bodyPr/>
          <a:lstStyle/>
          <a:p>
            <a:fld id="{42CA6F85-893A-4FE1-8820-DAA50ABDC7DA}" type="slidenum">
              <a:rPr lang="tr-TR" smtClean="0"/>
              <a:pPr/>
              <a:t>3</a:t>
            </a:fld>
            <a:endParaRPr lang="tr-TR"/>
          </a:p>
        </p:txBody>
      </p:sp>
      <p:sp>
        <p:nvSpPr>
          <p:cNvPr id="5" name="TextBox 4">
            <a:extLst>
              <a:ext uri="{FF2B5EF4-FFF2-40B4-BE49-F238E27FC236}">
                <a16:creationId xmlns:a16="http://schemas.microsoft.com/office/drawing/2014/main" id="{858E0E28-940D-4640-AC15-EEFD600FFC89}"/>
              </a:ext>
            </a:extLst>
          </p:cNvPr>
          <p:cNvSpPr txBox="1"/>
          <p:nvPr/>
        </p:nvSpPr>
        <p:spPr>
          <a:xfrm>
            <a:off x="609599" y="6366521"/>
            <a:ext cx="3816424" cy="230832"/>
          </a:xfrm>
          <a:prstGeom prst="rect">
            <a:avLst/>
          </a:prstGeom>
          <a:noFill/>
        </p:spPr>
        <p:txBody>
          <a:bodyPr wrap="square" rtlCol="0">
            <a:spAutoFit/>
          </a:bodyPr>
          <a:lstStyle/>
          <a:p>
            <a:r>
              <a:rPr lang="en-US" sz="900" dirty="0" err="1"/>
              <a:t>Kaynak</a:t>
            </a:r>
            <a:r>
              <a:rPr lang="en-US" sz="900" dirty="0"/>
              <a:t> : EU Commission Green Deal Communication, 11 December 2019</a:t>
            </a:r>
          </a:p>
        </p:txBody>
      </p:sp>
      <p:sp>
        <p:nvSpPr>
          <p:cNvPr id="12" name="Rectangle 11">
            <a:extLst>
              <a:ext uri="{FF2B5EF4-FFF2-40B4-BE49-F238E27FC236}">
                <a16:creationId xmlns:a16="http://schemas.microsoft.com/office/drawing/2014/main" id="{740AB106-CBB1-435C-A456-F45FE2D19354}"/>
              </a:ext>
            </a:extLst>
          </p:cNvPr>
          <p:cNvSpPr/>
          <p:nvPr/>
        </p:nvSpPr>
        <p:spPr>
          <a:xfrm>
            <a:off x="695400" y="3028896"/>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600" b="1" dirty="0">
                <a:solidFill>
                  <a:schemeClr val="tx1"/>
                </a:solidFill>
              </a:rPr>
              <a:t>SKDM Kapsamında Gömülü Emisyonların İzlenmesi ve İhracatta Karbon Maliyetlerinin Yönetimi</a:t>
            </a:r>
            <a:endParaRPr lang="en-US" sz="1600" b="1" dirty="0">
              <a:solidFill>
                <a:schemeClr val="tx1"/>
              </a:solidFill>
            </a:endParaRPr>
          </a:p>
        </p:txBody>
      </p:sp>
      <p:sp>
        <p:nvSpPr>
          <p:cNvPr id="13" name="Rectangle 12">
            <a:extLst>
              <a:ext uri="{FF2B5EF4-FFF2-40B4-BE49-F238E27FC236}">
                <a16:creationId xmlns:a16="http://schemas.microsoft.com/office/drawing/2014/main" id="{04E8D489-B530-4B09-BD7B-73F238018CC6}"/>
              </a:ext>
            </a:extLst>
          </p:cNvPr>
          <p:cNvSpPr/>
          <p:nvPr/>
        </p:nvSpPr>
        <p:spPr>
          <a:xfrm>
            <a:off x="695400" y="3645024"/>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tr-TR" sz="1600" b="1" dirty="0">
                <a:solidFill>
                  <a:schemeClr val="tx1"/>
                </a:solidFill>
              </a:rPr>
              <a:t>Türkiye İklim Kanunu ve ETS Kapsamında Karbon Kotalarına Uyum ve Emisyon Ticareti</a:t>
            </a:r>
            <a:endParaRPr lang="en-US" sz="1600" b="1" dirty="0">
              <a:solidFill>
                <a:schemeClr val="tx1"/>
              </a:solidFill>
            </a:endParaRPr>
          </a:p>
        </p:txBody>
      </p:sp>
      <p:sp>
        <p:nvSpPr>
          <p:cNvPr id="14" name="Rectangle 13">
            <a:extLst>
              <a:ext uri="{FF2B5EF4-FFF2-40B4-BE49-F238E27FC236}">
                <a16:creationId xmlns:a16="http://schemas.microsoft.com/office/drawing/2014/main" id="{506CF2E2-6871-4D9B-8736-8BBF197B2A82}"/>
              </a:ext>
            </a:extLst>
          </p:cNvPr>
          <p:cNvSpPr/>
          <p:nvPr/>
        </p:nvSpPr>
        <p:spPr>
          <a:xfrm>
            <a:off x="695400" y="4261152"/>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tr-TR" sz="1600" b="1" dirty="0">
                <a:solidFill>
                  <a:schemeClr val="tx1"/>
                </a:solidFill>
              </a:rPr>
              <a:t>Endüstriyel Emisyonların Yönetimi Yönetmeliği ile Mevcut En İyi Tekniklerin (MET) Hayata Geçirilmesi</a:t>
            </a:r>
            <a:endParaRPr lang="en-US" sz="1600" b="1" dirty="0">
              <a:solidFill>
                <a:schemeClr val="tx1"/>
              </a:solidFill>
            </a:endParaRPr>
          </a:p>
        </p:txBody>
      </p:sp>
      <p:sp>
        <p:nvSpPr>
          <p:cNvPr id="15" name="Rectangle 14">
            <a:extLst>
              <a:ext uri="{FF2B5EF4-FFF2-40B4-BE49-F238E27FC236}">
                <a16:creationId xmlns:a16="http://schemas.microsoft.com/office/drawing/2014/main" id="{5B7E542B-0073-45F2-8A5D-24FBAD755B63}"/>
              </a:ext>
            </a:extLst>
          </p:cNvPr>
          <p:cNvSpPr/>
          <p:nvPr/>
        </p:nvSpPr>
        <p:spPr>
          <a:xfrm>
            <a:off x="695400" y="4900681"/>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tr-TR" sz="1600" b="1" dirty="0">
                <a:solidFill>
                  <a:schemeClr val="tx1"/>
                </a:solidFill>
              </a:rPr>
              <a:t>Su Verimliliği Yönetmeliği Çerçevesinde Su Ayak İzinin Azaltılması</a:t>
            </a:r>
            <a:endParaRPr lang="en-US" sz="1600" b="1" dirty="0">
              <a:solidFill>
                <a:schemeClr val="tx1"/>
              </a:solidFill>
            </a:endParaRPr>
          </a:p>
        </p:txBody>
      </p:sp>
      <p:sp>
        <p:nvSpPr>
          <p:cNvPr id="16" name="Rectangle 15">
            <a:extLst>
              <a:ext uri="{FF2B5EF4-FFF2-40B4-BE49-F238E27FC236}">
                <a16:creationId xmlns:a16="http://schemas.microsoft.com/office/drawing/2014/main" id="{DC183B3E-DD66-4F0D-BA1B-63EE06674BE0}"/>
              </a:ext>
            </a:extLst>
          </p:cNvPr>
          <p:cNvSpPr/>
          <p:nvPr/>
        </p:nvSpPr>
        <p:spPr>
          <a:xfrm>
            <a:off x="695400" y="5540210"/>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tr-TR" sz="1600" b="1" dirty="0">
                <a:solidFill>
                  <a:schemeClr val="tx1"/>
                </a:solidFill>
              </a:rPr>
              <a:t>KKDİK Kapsamında Tedarik Zincirinde Güvenli Kimyasal Yönetimi</a:t>
            </a:r>
          </a:p>
        </p:txBody>
      </p:sp>
      <p:sp>
        <p:nvSpPr>
          <p:cNvPr id="17" name="Rectangle 16">
            <a:extLst>
              <a:ext uri="{FF2B5EF4-FFF2-40B4-BE49-F238E27FC236}">
                <a16:creationId xmlns:a16="http://schemas.microsoft.com/office/drawing/2014/main" id="{727DAB29-85FD-4157-A2FC-2354352A00E8}"/>
              </a:ext>
            </a:extLst>
          </p:cNvPr>
          <p:cNvSpPr/>
          <p:nvPr/>
        </p:nvSpPr>
        <p:spPr>
          <a:xfrm>
            <a:off x="6384032" y="3028896"/>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tr-TR" sz="1600" b="1" dirty="0">
                <a:solidFill>
                  <a:schemeClr val="tx1"/>
                </a:solidFill>
              </a:rPr>
              <a:t>EU PPWR ve GEKAP Çerçevesinde Genişletilmiş Üretici Sorumluluğu (EPR) ve Döngüsel Ambalaj Tasarımı</a:t>
            </a:r>
            <a:endParaRPr lang="en-US" sz="1600" b="1" dirty="0">
              <a:solidFill>
                <a:schemeClr val="tx1"/>
              </a:solidFill>
            </a:endParaRPr>
          </a:p>
        </p:txBody>
      </p:sp>
      <p:sp>
        <p:nvSpPr>
          <p:cNvPr id="18" name="Rectangle 17">
            <a:extLst>
              <a:ext uri="{FF2B5EF4-FFF2-40B4-BE49-F238E27FC236}">
                <a16:creationId xmlns:a16="http://schemas.microsoft.com/office/drawing/2014/main" id="{D6E8AEA3-857C-4DCF-9862-BDB4682CB293}"/>
              </a:ext>
            </a:extLst>
          </p:cNvPr>
          <p:cNvSpPr/>
          <p:nvPr/>
        </p:nvSpPr>
        <p:spPr>
          <a:xfrm>
            <a:off x="6384032" y="3645024"/>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tr-TR" sz="1600" b="1" dirty="0">
                <a:solidFill>
                  <a:schemeClr val="tx1"/>
                </a:solidFill>
              </a:rPr>
              <a:t>TSRS Çerçevesinde İklim ve ESG Performansının Finansal Standartlarda Entegre Raporlanması</a:t>
            </a:r>
            <a:endParaRPr lang="en-US" sz="1600" b="1" dirty="0">
              <a:solidFill>
                <a:schemeClr val="tx1"/>
              </a:solidFill>
            </a:endParaRPr>
          </a:p>
        </p:txBody>
      </p:sp>
      <p:sp>
        <p:nvSpPr>
          <p:cNvPr id="19" name="Rectangle 18">
            <a:extLst>
              <a:ext uri="{FF2B5EF4-FFF2-40B4-BE49-F238E27FC236}">
                <a16:creationId xmlns:a16="http://schemas.microsoft.com/office/drawing/2014/main" id="{4E71310C-B13B-4FB2-A2F1-9130FCB0AAB4}"/>
              </a:ext>
            </a:extLst>
          </p:cNvPr>
          <p:cNvSpPr/>
          <p:nvPr/>
        </p:nvSpPr>
        <p:spPr>
          <a:xfrm>
            <a:off x="6384032" y="4261152"/>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tr-TR" sz="1600" b="1" dirty="0">
                <a:solidFill>
                  <a:schemeClr val="tx1"/>
                </a:solidFill>
              </a:rPr>
              <a:t>Türkiye Yeşil Taksonomisi Kapsamında Finansal Performans Raporlaması ve Stratejik Geçiş Planı Oluşturulması</a:t>
            </a:r>
            <a:endParaRPr lang="en-US" sz="1600" b="1" dirty="0">
              <a:solidFill>
                <a:schemeClr val="tx1"/>
              </a:solidFill>
            </a:endParaRPr>
          </a:p>
        </p:txBody>
      </p:sp>
      <p:sp>
        <p:nvSpPr>
          <p:cNvPr id="20" name="Rectangle 19">
            <a:extLst>
              <a:ext uri="{FF2B5EF4-FFF2-40B4-BE49-F238E27FC236}">
                <a16:creationId xmlns:a16="http://schemas.microsoft.com/office/drawing/2014/main" id="{61265B2C-B756-4EC8-A970-EACF827DCC21}"/>
              </a:ext>
            </a:extLst>
          </p:cNvPr>
          <p:cNvSpPr/>
          <p:nvPr/>
        </p:nvSpPr>
        <p:spPr>
          <a:xfrm>
            <a:off x="6384032" y="4900681"/>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b="1" dirty="0">
              <a:solidFill>
                <a:schemeClr val="tx1"/>
              </a:solidFill>
            </a:endParaRPr>
          </a:p>
        </p:txBody>
      </p:sp>
      <p:sp>
        <p:nvSpPr>
          <p:cNvPr id="21" name="Rectangle 20">
            <a:extLst>
              <a:ext uri="{FF2B5EF4-FFF2-40B4-BE49-F238E27FC236}">
                <a16:creationId xmlns:a16="http://schemas.microsoft.com/office/drawing/2014/main" id="{2261F7E1-6B5D-4F73-B53F-6DC3000D5FCE}"/>
              </a:ext>
            </a:extLst>
          </p:cNvPr>
          <p:cNvSpPr/>
          <p:nvPr/>
        </p:nvSpPr>
        <p:spPr>
          <a:xfrm>
            <a:off x="6384032" y="5540210"/>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b="1" dirty="0">
              <a:solidFill>
                <a:schemeClr val="tx1"/>
              </a:solidFill>
            </a:endParaRPr>
          </a:p>
        </p:txBody>
      </p:sp>
      <p:sp>
        <p:nvSpPr>
          <p:cNvPr id="22" name="Rectangle: Rounded Corners 21">
            <a:extLst>
              <a:ext uri="{FF2B5EF4-FFF2-40B4-BE49-F238E27FC236}">
                <a16:creationId xmlns:a16="http://schemas.microsoft.com/office/drawing/2014/main" id="{16F75ACE-0DA7-457A-B923-1BF2EDA43B9F}"/>
              </a:ext>
            </a:extLst>
          </p:cNvPr>
          <p:cNvSpPr/>
          <p:nvPr/>
        </p:nvSpPr>
        <p:spPr>
          <a:xfrm>
            <a:off x="30266" y="3100481"/>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1</a:t>
            </a:r>
          </a:p>
        </p:txBody>
      </p:sp>
      <p:sp>
        <p:nvSpPr>
          <p:cNvPr id="23" name="Rectangle: Rounded Corners 22">
            <a:extLst>
              <a:ext uri="{FF2B5EF4-FFF2-40B4-BE49-F238E27FC236}">
                <a16:creationId xmlns:a16="http://schemas.microsoft.com/office/drawing/2014/main" id="{F71F2C29-3161-488D-8E0F-C1DF54E88151}"/>
              </a:ext>
            </a:extLst>
          </p:cNvPr>
          <p:cNvSpPr/>
          <p:nvPr/>
        </p:nvSpPr>
        <p:spPr>
          <a:xfrm>
            <a:off x="39761" y="3732335"/>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24" name="Rectangle: Rounded Corners 23">
            <a:extLst>
              <a:ext uri="{FF2B5EF4-FFF2-40B4-BE49-F238E27FC236}">
                <a16:creationId xmlns:a16="http://schemas.microsoft.com/office/drawing/2014/main" id="{D67400A5-6728-4E64-846B-B7DD5556B283}"/>
              </a:ext>
            </a:extLst>
          </p:cNvPr>
          <p:cNvSpPr/>
          <p:nvPr/>
        </p:nvSpPr>
        <p:spPr>
          <a:xfrm>
            <a:off x="11316580" y="3098220"/>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6</a:t>
            </a:r>
          </a:p>
        </p:txBody>
      </p:sp>
      <p:sp>
        <p:nvSpPr>
          <p:cNvPr id="25" name="Rectangle: Rounded Corners 24">
            <a:extLst>
              <a:ext uri="{FF2B5EF4-FFF2-40B4-BE49-F238E27FC236}">
                <a16:creationId xmlns:a16="http://schemas.microsoft.com/office/drawing/2014/main" id="{384948EE-4E33-4660-B30D-C8B11D443177}"/>
              </a:ext>
            </a:extLst>
          </p:cNvPr>
          <p:cNvSpPr/>
          <p:nvPr/>
        </p:nvSpPr>
        <p:spPr>
          <a:xfrm>
            <a:off x="11316580" y="3732335"/>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7</a:t>
            </a:r>
          </a:p>
        </p:txBody>
      </p:sp>
      <p:sp>
        <p:nvSpPr>
          <p:cNvPr id="26" name="Rectangle: Rounded Corners 25">
            <a:extLst>
              <a:ext uri="{FF2B5EF4-FFF2-40B4-BE49-F238E27FC236}">
                <a16:creationId xmlns:a16="http://schemas.microsoft.com/office/drawing/2014/main" id="{B929C574-B768-442B-8862-40F14939E046}"/>
              </a:ext>
            </a:extLst>
          </p:cNvPr>
          <p:cNvSpPr/>
          <p:nvPr/>
        </p:nvSpPr>
        <p:spPr>
          <a:xfrm>
            <a:off x="11316580" y="4348463"/>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8</a:t>
            </a:r>
          </a:p>
        </p:txBody>
      </p:sp>
      <p:sp>
        <p:nvSpPr>
          <p:cNvPr id="27" name="Rectangle: Rounded Corners 26">
            <a:extLst>
              <a:ext uri="{FF2B5EF4-FFF2-40B4-BE49-F238E27FC236}">
                <a16:creationId xmlns:a16="http://schemas.microsoft.com/office/drawing/2014/main" id="{37006CDC-9690-4A5B-A403-F0185AC57BBA}"/>
              </a:ext>
            </a:extLst>
          </p:cNvPr>
          <p:cNvSpPr/>
          <p:nvPr/>
        </p:nvSpPr>
        <p:spPr>
          <a:xfrm>
            <a:off x="11316580" y="4961251"/>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9</a:t>
            </a:r>
          </a:p>
        </p:txBody>
      </p:sp>
      <p:sp>
        <p:nvSpPr>
          <p:cNvPr id="28" name="Rectangle: Rounded Corners 27">
            <a:extLst>
              <a:ext uri="{FF2B5EF4-FFF2-40B4-BE49-F238E27FC236}">
                <a16:creationId xmlns:a16="http://schemas.microsoft.com/office/drawing/2014/main" id="{D0544A25-ECF3-45E1-A156-9B117BB25CB6}"/>
              </a:ext>
            </a:extLst>
          </p:cNvPr>
          <p:cNvSpPr/>
          <p:nvPr/>
        </p:nvSpPr>
        <p:spPr>
          <a:xfrm>
            <a:off x="11280576" y="5609534"/>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10</a:t>
            </a:r>
          </a:p>
        </p:txBody>
      </p:sp>
      <p:sp>
        <p:nvSpPr>
          <p:cNvPr id="29" name="Rectangle: Rounded Corners 28">
            <a:extLst>
              <a:ext uri="{FF2B5EF4-FFF2-40B4-BE49-F238E27FC236}">
                <a16:creationId xmlns:a16="http://schemas.microsoft.com/office/drawing/2014/main" id="{A3E47351-7046-42B1-872A-B9E0653A71E4}"/>
              </a:ext>
            </a:extLst>
          </p:cNvPr>
          <p:cNvSpPr/>
          <p:nvPr/>
        </p:nvSpPr>
        <p:spPr>
          <a:xfrm>
            <a:off x="30266" y="4334351"/>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sp>
        <p:nvSpPr>
          <p:cNvPr id="30" name="Rectangle: Rounded Corners 29">
            <a:extLst>
              <a:ext uri="{FF2B5EF4-FFF2-40B4-BE49-F238E27FC236}">
                <a16:creationId xmlns:a16="http://schemas.microsoft.com/office/drawing/2014/main" id="{7DD8F647-9D31-411F-A322-82D2387C0CF7}"/>
              </a:ext>
            </a:extLst>
          </p:cNvPr>
          <p:cNvSpPr/>
          <p:nvPr/>
        </p:nvSpPr>
        <p:spPr>
          <a:xfrm>
            <a:off x="39761" y="4966205"/>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4</a:t>
            </a:r>
          </a:p>
        </p:txBody>
      </p:sp>
      <p:sp>
        <p:nvSpPr>
          <p:cNvPr id="31" name="Rectangle: Rounded Corners 30">
            <a:extLst>
              <a:ext uri="{FF2B5EF4-FFF2-40B4-BE49-F238E27FC236}">
                <a16:creationId xmlns:a16="http://schemas.microsoft.com/office/drawing/2014/main" id="{71A224A4-7FCA-448F-BED7-FB21A7619F8C}"/>
              </a:ext>
            </a:extLst>
          </p:cNvPr>
          <p:cNvSpPr/>
          <p:nvPr/>
        </p:nvSpPr>
        <p:spPr>
          <a:xfrm>
            <a:off x="53280" y="5609533"/>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5</a:t>
            </a:r>
          </a:p>
        </p:txBody>
      </p:sp>
      <p:sp>
        <p:nvSpPr>
          <p:cNvPr id="6" name="Dikdörtgen 5">
            <a:extLst>
              <a:ext uri="{FF2B5EF4-FFF2-40B4-BE49-F238E27FC236}">
                <a16:creationId xmlns:a16="http://schemas.microsoft.com/office/drawing/2014/main" id="{C6708911-2F09-8255-FDCE-3FE5DC95AE11}"/>
              </a:ext>
            </a:extLst>
          </p:cNvPr>
          <p:cNvSpPr/>
          <p:nvPr/>
        </p:nvSpPr>
        <p:spPr>
          <a:xfrm>
            <a:off x="4943872" y="1416553"/>
            <a:ext cx="4104456" cy="1681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t>Bu sayfa daha görselleştirilip, hangi mevzuat hangi tesisleri kapsıyor </a:t>
            </a:r>
            <a:r>
              <a:rPr lang="tr-TR" dirty="0" err="1"/>
              <a:t>eklenece</a:t>
            </a:r>
            <a:endParaRPr lang="tr-TR" dirty="0"/>
          </a:p>
          <a:p>
            <a:pPr algn="ctr"/>
            <a:r>
              <a:rPr lang="tr-TR" dirty="0"/>
              <a:t>Neden önemli kısmı, genel ana başlıklarla belirtilecek</a:t>
            </a:r>
          </a:p>
          <a:p>
            <a:pPr algn="ctr"/>
            <a:r>
              <a:rPr lang="tr-TR" dirty="0"/>
              <a:t>Aşağı tablo, yukarıya önemiyle ilgili temalar</a:t>
            </a:r>
          </a:p>
        </p:txBody>
      </p:sp>
      <p:sp>
        <p:nvSpPr>
          <p:cNvPr id="8" name="Dikdörtgen 7">
            <a:extLst>
              <a:ext uri="{FF2B5EF4-FFF2-40B4-BE49-F238E27FC236}">
                <a16:creationId xmlns:a16="http://schemas.microsoft.com/office/drawing/2014/main" id="{607E4BFD-84B9-E06F-7761-EDD72A67B5BD}"/>
              </a:ext>
            </a:extLst>
          </p:cNvPr>
          <p:cNvSpPr/>
          <p:nvPr/>
        </p:nvSpPr>
        <p:spPr>
          <a:xfrm>
            <a:off x="1931677" y="2685855"/>
            <a:ext cx="4104456" cy="1681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err="1"/>
              <a:t>SDG’lerle</a:t>
            </a:r>
            <a:r>
              <a:rPr lang="tr-TR" dirty="0"/>
              <a:t> bağlantısı</a:t>
            </a:r>
          </a:p>
        </p:txBody>
      </p:sp>
      <p:sp>
        <p:nvSpPr>
          <p:cNvPr id="10" name="Dikdörtgen 9">
            <a:extLst>
              <a:ext uri="{FF2B5EF4-FFF2-40B4-BE49-F238E27FC236}">
                <a16:creationId xmlns:a16="http://schemas.microsoft.com/office/drawing/2014/main" id="{E9C36391-A150-6D24-1F61-9B551C2EC66F}"/>
              </a:ext>
            </a:extLst>
          </p:cNvPr>
          <p:cNvSpPr/>
          <p:nvPr/>
        </p:nvSpPr>
        <p:spPr>
          <a:xfrm>
            <a:off x="6408501" y="2801628"/>
            <a:ext cx="4104456" cy="1681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t>Biz ne yapıyoruz?</a:t>
            </a:r>
          </a:p>
        </p:txBody>
      </p:sp>
    </p:spTree>
    <p:extLst>
      <p:ext uri="{BB962C8B-B14F-4D97-AF65-F5344CB8AC3E}">
        <p14:creationId xmlns:p14="http://schemas.microsoft.com/office/powerpoint/2010/main" val="191839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F202F30C-427E-40D6-A67B-2599C045B640}"/>
              </a:ext>
            </a:extLst>
          </p:cNvPr>
          <p:cNvPicPr>
            <a:picLocks noChangeAspect="1"/>
          </p:cNvPicPr>
          <p:nvPr/>
        </p:nvPicPr>
        <p:blipFill rotWithShape="1">
          <a:blip r:embed="rId3"/>
          <a:srcRect l="2615" r="86909" b="72899"/>
          <a:stretch/>
        </p:blipFill>
        <p:spPr>
          <a:xfrm>
            <a:off x="6312024" y="1700808"/>
            <a:ext cx="923315" cy="959295"/>
          </a:xfrm>
          <a:prstGeom prst="rect">
            <a:avLst/>
          </a:prstGeom>
        </p:spPr>
      </p:pic>
      <p:sp>
        <p:nvSpPr>
          <p:cNvPr id="2" name="Title 1">
            <a:extLst>
              <a:ext uri="{FF2B5EF4-FFF2-40B4-BE49-F238E27FC236}">
                <a16:creationId xmlns:a16="http://schemas.microsoft.com/office/drawing/2014/main" id="{C7475AE9-57A7-4817-AAE0-448FE137DB50}"/>
              </a:ext>
            </a:extLst>
          </p:cNvPr>
          <p:cNvSpPr>
            <a:spLocks noGrp="1"/>
          </p:cNvSpPr>
          <p:nvPr>
            <p:ph type="title"/>
          </p:nvPr>
        </p:nvSpPr>
        <p:spPr/>
        <p:txBody>
          <a:bodyPr>
            <a:normAutofit fontScale="90000"/>
          </a:bodyPr>
          <a:lstStyle/>
          <a:p>
            <a:r>
              <a:rPr lang="tr-TR" sz="2700" dirty="0"/>
              <a:t>AB Yeşil Mutabakatının Faaliyetlerimiz Üzerindeki Olası Etkileri</a:t>
            </a:r>
            <a:r>
              <a:rPr lang="en-US" sz="2700" dirty="0"/>
              <a:t> </a:t>
            </a:r>
            <a:br>
              <a:rPr lang="tr-TR" sz="2700" dirty="0"/>
            </a:br>
            <a:r>
              <a:rPr lang="en-US" sz="2200" b="1" i="1" dirty="0" err="1"/>
              <a:t>Ön</a:t>
            </a:r>
            <a:r>
              <a:rPr lang="tr-TR" sz="2200" b="1" i="1" dirty="0"/>
              <a:t>e</a:t>
            </a:r>
            <a:r>
              <a:rPr lang="en-US" sz="2200" b="1" i="1" dirty="0"/>
              <a:t> </a:t>
            </a:r>
            <a:r>
              <a:rPr lang="en-US" sz="2200" b="1" i="1" dirty="0" err="1"/>
              <a:t>Çıkan</a:t>
            </a:r>
            <a:r>
              <a:rPr lang="en-US" sz="2200" b="1" i="1" dirty="0"/>
              <a:t> </a:t>
            </a:r>
            <a:r>
              <a:rPr lang="tr-TR" sz="2200" b="1" i="1" dirty="0"/>
              <a:t>Ana </a:t>
            </a:r>
            <a:r>
              <a:rPr lang="en-US" sz="2200" b="1" i="1" dirty="0" err="1"/>
              <a:t>Stratejiler</a:t>
            </a:r>
            <a:r>
              <a:rPr lang="en-US" sz="2200" b="1" i="1" dirty="0"/>
              <a:t> ve </a:t>
            </a:r>
            <a:r>
              <a:rPr lang="en-US" sz="2200" b="1" i="1" dirty="0" err="1"/>
              <a:t>Hedefler</a:t>
            </a:r>
            <a:endParaRPr lang="en-US" b="1" i="1" dirty="0"/>
          </a:p>
        </p:txBody>
      </p:sp>
      <p:sp>
        <p:nvSpPr>
          <p:cNvPr id="4" name="Slide Number Placeholder 3">
            <a:extLst>
              <a:ext uri="{FF2B5EF4-FFF2-40B4-BE49-F238E27FC236}">
                <a16:creationId xmlns:a16="http://schemas.microsoft.com/office/drawing/2014/main" id="{16BDE037-018F-4641-9955-B54B7CD10691}"/>
              </a:ext>
            </a:extLst>
          </p:cNvPr>
          <p:cNvSpPr>
            <a:spLocks noGrp="1"/>
          </p:cNvSpPr>
          <p:nvPr>
            <p:ph type="sldNum" sz="quarter" idx="4"/>
          </p:nvPr>
        </p:nvSpPr>
        <p:spPr/>
        <p:txBody>
          <a:bodyPr/>
          <a:lstStyle/>
          <a:p>
            <a:fld id="{42CA6F85-893A-4FE1-8820-DAA50ABDC7DA}" type="slidenum">
              <a:rPr lang="tr-TR" smtClean="0"/>
              <a:pPr/>
              <a:t>4</a:t>
            </a:fld>
            <a:endParaRPr lang="tr-TR"/>
          </a:p>
        </p:txBody>
      </p:sp>
      <p:sp>
        <p:nvSpPr>
          <p:cNvPr id="8" name="Rectangle: Rounded Corners 7">
            <a:extLst>
              <a:ext uri="{FF2B5EF4-FFF2-40B4-BE49-F238E27FC236}">
                <a16:creationId xmlns:a16="http://schemas.microsoft.com/office/drawing/2014/main" id="{67D2057C-5A82-48C8-A6F0-2E4D6B9CCBC5}"/>
              </a:ext>
            </a:extLst>
          </p:cNvPr>
          <p:cNvSpPr/>
          <p:nvPr/>
        </p:nvSpPr>
        <p:spPr>
          <a:xfrm>
            <a:off x="1199457" y="1021402"/>
            <a:ext cx="4832964" cy="623113"/>
          </a:xfrm>
          <a:prstGeom prst="roundRect">
            <a:avLst/>
          </a:prstGeom>
          <a:no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TARLADAN SOFRAYA</a:t>
            </a:r>
          </a:p>
        </p:txBody>
      </p:sp>
      <p:sp>
        <p:nvSpPr>
          <p:cNvPr id="9" name="Rectangle: Rounded Corners 8">
            <a:extLst>
              <a:ext uri="{FF2B5EF4-FFF2-40B4-BE49-F238E27FC236}">
                <a16:creationId xmlns:a16="http://schemas.microsoft.com/office/drawing/2014/main" id="{1960848E-FD7C-4839-A5C8-02DFDD25B17D}"/>
              </a:ext>
            </a:extLst>
          </p:cNvPr>
          <p:cNvSpPr/>
          <p:nvPr/>
        </p:nvSpPr>
        <p:spPr>
          <a:xfrm>
            <a:off x="1199457" y="2157815"/>
            <a:ext cx="4832963" cy="623113"/>
          </a:xfrm>
          <a:prstGeom prst="roundRect">
            <a:avLst/>
          </a:prstGeom>
          <a:no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BİYOÇEŞİTLİLİK STRATEJİSİ</a:t>
            </a:r>
            <a:endParaRPr lang="en-US" dirty="0">
              <a:solidFill>
                <a:schemeClr val="tx1"/>
              </a:solidFill>
            </a:endParaRPr>
          </a:p>
        </p:txBody>
      </p:sp>
      <p:sp>
        <p:nvSpPr>
          <p:cNvPr id="10" name="Rectangle: Rounded Corners 9">
            <a:extLst>
              <a:ext uri="{FF2B5EF4-FFF2-40B4-BE49-F238E27FC236}">
                <a16:creationId xmlns:a16="http://schemas.microsoft.com/office/drawing/2014/main" id="{32C92796-18FF-4F12-9FB5-A83E6785BE0E}"/>
              </a:ext>
            </a:extLst>
          </p:cNvPr>
          <p:cNvSpPr/>
          <p:nvPr/>
        </p:nvSpPr>
        <p:spPr>
          <a:xfrm>
            <a:off x="1199457" y="3284984"/>
            <a:ext cx="4832963" cy="623114"/>
          </a:xfrm>
          <a:prstGeom prst="roundRect">
            <a:avLst/>
          </a:prstGeom>
          <a:no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DÖNGÜSEL EKONOMİ </a:t>
            </a:r>
            <a:r>
              <a:rPr lang="en-US">
                <a:solidFill>
                  <a:schemeClr val="tx1"/>
                </a:solidFill>
              </a:rPr>
              <a:t>EYLEM PLANI</a:t>
            </a:r>
            <a:endParaRPr lang="en-US" dirty="0">
              <a:solidFill>
                <a:schemeClr val="tx1"/>
              </a:solidFill>
            </a:endParaRPr>
          </a:p>
        </p:txBody>
      </p:sp>
      <p:sp>
        <p:nvSpPr>
          <p:cNvPr id="11" name="Rectangle: Rounded Corners 10">
            <a:extLst>
              <a:ext uri="{FF2B5EF4-FFF2-40B4-BE49-F238E27FC236}">
                <a16:creationId xmlns:a16="http://schemas.microsoft.com/office/drawing/2014/main" id="{F962DA35-F893-4A82-915B-4CAE2CDCA9B5}"/>
              </a:ext>
            </a:extLst>
          </p:cNvPr>
          <p:cNvSpPr/>
          <p:nvPr/>
        </p:nvSpPr>
        <p:spPr>
          <a:xfrm>
            <a:off x="1199457" y="4527662"/>
            <a:ext cx="4814807" cy="623115"/>
          </a:xfrm>
          <a:prstGeom prst="roundRect">
            <a:avLst/>
          </a:prstGeom>
          <a:no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HİDROJEN STRATEJİSİ</a:t>
            </a:r>
          </a:p>
        </p:txBody>
      </p:sp>
      <p:pic>
        <p:nvPicPr>
          <p:cNvPr id="13" name="Picture 12">
            <a:extLst>
              <a:ext uri="{FF2B5EF4-FFF2-40B4-BE49-F238E27FC236}">
                <a16:creationId xmlns:a16="http://schemas.microsoft.com/office/drawing/2014/main" id="{45E6F963-868F-4265-B430-87EB49A7AFC2}"/>
              </a:ext>
            </a:extLst>
          </p:cNvPr>
          <p:cNvPicPr>
            <a:picLocks noChangeAspect="1"/>
          </p:cNvPicPr>
          <p:nvPr/>
        </p:nvPicPr>
        <p:blipFill>
          <a:blip r:embed="rId4"/>
          <a:stretch>
            <a:fillRect/>
          </a:stretch>
        </p:blipFill>
        <p:spPr>
          <a:xfrm>
            <a:off x="478396" y="4282747"/>
            <a:ext cx="1381325" cy="1015131"/>
          </a:xfrm>
          <a:prstGeom prst="rect">
            <a:avLst/>
          </a:prstGeom>
          <a:ln>
            <a:noFill/>
          </a:ln>
          <a:effectLst>
            <a:outerShdw blurRad="190500" algn="tl" rotWithShape="0">
              <a:srgbClr val="000000">
                <a:alpha val="70000"/>
              </a:srgbClr>
            </a:outerShdw>
          </a:effectLst>
        </p:spPr>
      </p:pic>
      <p:pic>
        <p:nvPicPr>
          <p:cNvPr id="17" name="Picture 16">
            <a:extLst>
              <a:ext uri="{FF2B5EF4-FFF2-40B4-BE49-F238E27FC236}">
                <a16:creationId xmlns:a16="http://schemas.microsoft.com/office/drawing/2014/main" id="{26996831-4AAE-4484-A30B-2C011BF15D55}"/>
              </a:ext>
            </a:extLst>
          </p:cNvPr>
          <p:cNvPicPr>
            <a:picLocks noChangeAspect="1"/>
          </p:cNvPicPr>
          <p:nvPr/>
        </p:nvPicPr>
        <p:blipFill rotWithShape="1">
          <a:blip r:embed="rId5"/>
          <a:srcRect t="5352"/>
          <a:stretch/>
        </p:blipFill>
        <p:spPr>
          <a:xfrm>
            <a:off x="470698" y="3068960"/>
            <a:ext cx="1378045" cy="1045724"/>
          </a:xfrm>
          <a:prstGeom prst="rect">
            <a:avLst/>
          </a:prstGeom>
          <a:ln>
            <a:noFill/>
          </a:ln>
          <a:effectLst>
            <a:outerShdw blurRad="190500" algn="tl" rotWithShape="0">
              <a:srgbClr val="000000">
                <a:alpha val="70000"/>
              </a:srgbClr>
            </a:outerShdw>
          </a:effectLst>
        </p:spPr>
      </p:pic>
      <p:pic>
        <p:nvPicPr>
          <p:cNvPr id="19" name="Picture 18">
            <a:extLst>
              <a:ext uri="{FF2B5EF4-FFF2-40B4-BE49-F238E27FC236}">
                <a16:creationId xmlns:a16="http://schemas.microsoft.com/office/drawing/2014/main" id="{F7A16B52-3C15-4C5B-94FC-15F8C2F7003E}"/>
              </a:ext>
            </a:extLst>
          </p:cNvPr>
          <p:cNvPicPr>
            <a:picLocks noChangeAspect="1"/>
          </p:cNvPicPr>
          <p:nvPr/>
        </p:nvPicPr>
        <p:blipFill>
          <a:blip r:embed="rId6"/>
          <a:stretch>
            <a:fillRect/>
          </a:stretch>
        </p:blipFill>
        <p:spPr>
          <a:xfrm>
            <a:off x="479376" y="836712"/>
            <a:ext cx="1387523" cy="993373"/>
          </a:xfrm>
          <a:prstGeom prst="rect">
            <a:avLst/>
          </a:prstGeom>
          <a:ln>
            <a:noFill/>
          </a:ln>
          <a:effectLst>
            <a:outerShdw blurRad="190500" algn="tl" rotWithShape="0">
              <a:srgbClr val="000000">
                <a:alpha val="70000"/>
              </a:srgbClr>
            </a:outerShdw>
          </a:effectLst>
        </p:spPr>
      </p:pic>
      <p:cxnSp>
        <p:nvCxnSpPr>
          <p:cNvPr id="23" name="Straight Connector 22">
            <a:extLst>
              <a:ext uri="{FF2B5EF4-FFF2-40B4-BE49-F238E27FC236}">
                <a16:creationId xmlns:a16="http://schemas.microsoft.com/office/drawing/2014/main" id="{CFABB65E-698E-426B-BCB5-389B7A495A2D}"/>
              </a:ext>
            </a:extLst>
          </p:cNvPr>
          <p:cNvCxnSpPr>
            <a:cxnSpLocks/>
          </p:cNvCxnSpPr>
          <p:nvPr/>
        </p:nvCxnSpPr>
        <p:spPr>
          <a:xfrm>
            <a:off x="6164516" y="1754886"/>
            <a:ext cx="0" cy="4349371"/>
          </a:xfrm>
          <a:prstGeom prst="line">
            <a:avLst/>
          </a:prstGeom>
          <a:ln>
            <a:solidFill>
              <a:srgbClr val="005C2A"/>
            </a:solidFill>
            <a:prstDash val="lgDash"/>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5C8E38EA-591F-4C0C-9ED6-4185291EE942}"/>
              </a:ext>
            </a:extLst>
          </p:cNvPr>
          <p:cNvPicPr>
            <a:picLocks noChangeAspect="1"/>
          </p:cNvPicPr>
          <p:nvPr/>
        </p:nvPicPr>
        <p:blipFill rotWithShape="1">
          <a:blip r:embed="rId3"/>
          <a:srcRect l="2363" t="32510" r="86819" b="43960"/>
          <a:stretch/>
        </p:blipFill>
        <p:spPr>
          <a:xfrm>
            <a:off x="6342439" y="2877361"/>
            <a:ext cx="948573" cy="828561"/>
          </a:xfrm>
          <a:prstGeom prst="rect">
            <a:avLst/>
          </a:prstGeom>
        </p:spPr>
      </p:pic>
      <p:pic>
        <p:nvPicPr>
          <p:cNvPr id="24" name="Picture 23">
            <a:extLst>
              <a:ext uri="{FF2B5EF4-FFF2-40B4-BE49-F238E27FC236}">
                <a16:creationId xmlns:a16="http://schemas.microsoft.com/office/drawing/2014/main" id="{55A9CAA9-4540-4DC0-94CA-DF3BD7BF5910}"/>
              </a:ext>
            </a:extLst>
          </p:cNvPr>
          <p:cNvPicPr>
            <a:picLocks noChangeAspect="1"/>
          </p:cNvPicPr>
          <p:nvPr/>
        </p:nvPicPr>
        <p:blipFill rotWithShape="1">
          <a:blip r:embed="rId3"/>
          <a:srcRect l="3283" t="80465" r="86762"/>
          <a:stretch/>
        </p:blipFill>
        <p:spPr>
          <a:xfrm>
            <a:off x="6364814" y="4089202"/>
            <a:ext cx="923315" cy="727695"/>
          </a:xfrm>
          <a:prstGeom prst="rect">
            <a:avLst/>
          </a:prstGeom>
        </p:spPr>
      </p:pic>
      <p:sp>
        <p:nvSpPr>
          <p:cNvPr id="20" name="Rectangle: Rounded Corners 19">
            <a:extLst>
              <a:ext uri="{FF2B5EF4-FFF2-40B4-BE49-F238E27FC236}">
                <a16:creationId xmlns:a16="http://schemas.microsoft.com/office/drawing/2014/main" id="{7113A344-37D5-456C-BF13-BB68686612E8}"/>
              </a:ext>
            </a:extLst>
          </p:cNvPr>
          <p:cNvSpPr/>
          <p:nvPr/>
        </p:nvSpPr>
        <p:spPr>
          <a:xfrm>
            <a:off x="6312024" y="1232704"/>
            <a:ext cx="5623802" cy="4781590"/>
          </a:xfrm>
          <a:prstGeom prst="roundRect">
            <a:avLst/>
          </a:prstGeom>
          <a:no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65F45CD-35FE-467C-A1AA-DE7C0E43D31A}"/>
              </a:ext>
            </a:extLst>
          </p:cNvPr>
          <p:cNvSpPr txBox="1"/>
          <p:nvPr/>
        </p:nvSpPr>
        <p:spPr>
          <a:xfrm>
            <a:off x="7464152" y="1048038"/>
            <a:ext cx="3168352" cy="369332"/>
          </a:xfrm>
          <a:prstGeom prst="rect">
            <a:avLst/>
          </a:prstGeom>
          <a:solidFill>
            <a:schemeClr val="bg1"/>
          </a:solidFill>
        </p:spPr>
        <p:txBody>
          <a:bodyPr wrap="square" rtlCol="0">
            <a:spAutoFit/>
          </a:bodyPr>
          <a:lstStyle/>
          <a:p>
            <a:pPr algn="ctr"/>
            <a:r>
              <a:rPr lang="en-US" b="1" dirty="0"/>
              <a:t>HEDEFLER</a:t>
            </a:r>
          </a:p>
        </p:txBody>
      </p:sp>
      <p:sp>
        <p:nvSpPr>
          <p:cNvPr id="3" name="TextBox 2">
            <a:extLst>
              <a:ext uri="{FF2B5EF4-FFF2-40B4-BE49-F238E27FC236}">
                <a16:creationId xmlns:a16="http://schemas.microsoft.com/office/drawing/2014/main" id="{1E96359A-1D9C-4BED-8D01-87D7CFFDBF8B}"/>
              </a:ext>
            </a:extLst>
          </p:cNvPr>
          <p:cNvSpPr txBox="1"/>
          <p:nvPr/>
        </p:nvSpPr>
        <p:spPr>
          <a:xfrm>
            <a:off x="7165434" y="1789263"/>
            <a:ext cx="4331166" cy="1169551"/>
          </a:xfrm>
          <a:prstGeom prst="rect">
            <a:avLst/>
          </a:prstGeom>
          <a:noFill/>
        </p:spPr>
        <p:txBody>
          <a:bodyPr wrap="square" rtlCol="0">
            <a:spAutoFit/>
          </a:bodyPr>
          <a:lstStyle/>
          <a:p>
            <a:pPr marL="92075" indent="-92075">
              <a:buFont typeface="Arial" panose="020B0604020202020204" pitchFamily="34" charset="0"/>
              <a:buChar char="•"/>
            </a:pPr>
            <a:r>
              <a:rPr lang="en-US" sz="1400" b="1" dirty="0">
                <a:solidFill>
                  <a:schemeClr val="tx1"/>
                </a:solidFill>
              </a:rPr>
              <a:t>K</a:t>
            </a:r>
            <a:r>
              <a:rPr lang="tr-TR" sz="1400" b="1" dirty="0" err="1">
                <a:solidFill>
                  <a:schemeClr val="tx1"/>
                </a:solidFill>
              </a:rPr>
              <a:t>imyasal</a:t>
            </a:r>
            <a:r>
              <a:rPr lang="tr-TR" sz="1400" b="1" dirty="0">
                <a:solidFill>
                  <a:schemeClr val="tx1"/>
                </a:solidFill>
              </a:rPr>
              <a:t> pestisitlerin kullanımının </a:t>
            </a:r>
            <a:r>
              <a:rPr lang="tr-TR" sz="1400" dirty="0">
                <a:solidFill>
                  <a:schemeClr val="tx1"/>
                </a:solidFill>
              </a:rPr>
              <a:t>ve risklerinin %50 azaltılması</a:t>
            </a:r>
          </a:p>
          <a:p>
            <a:pPr marL="92075" indent="-92075">
              <a:buFont typeface="Arial" panose="020B0604020202020204" pitchFamily="34" charset="0"/>
              <a:buChar char="•"/>
            </a:pPr>
            <a:r>
              <a:rPr lang="en-US" sz="1400" b="1" dirty="0"/>
              <a:t>D</a:t>
            </a:r>
            <a:r>
              <a:rPr lang="tr-TR" sz="1400" b="1" dirty="0">
                <a:solidFill>
                  <a:schemeClr val="tx1"/>
                </a:solidFill>
              </a:rPr>
              <a:t>aha zararlı olan pestisitlerin kullanımlarının</a:t>
            </a:r>
            <a:r>
              <a:rPr lang="tr-TR" sz="1400" dirty="0">
                <a:solidFill>
                  <a:schemeClr val="tx1"/>
                </a:solidFill>
              </a:rPr>
              <a:t> %50 azaltılması</a:t>
            </a:r>
          </a:p>
          <a:p>
            <a:endParaRPr lang="en-US" sz="1400" dirty="0"/>
          </a:p>
        </p:txBody>
      </p:sp>
      <p:sp>
        <p:nvSpPr>
          <p:cNvPr id="6" name="TextBox 5">
            <a:extLst>
              <a:ext uri="{FF2B5EF4-FFF2-40B4-BE49-F238E27FC236}">
                <a16:creationId xmlns:a16="http://schemas.microsoft.com/office/drawing/2014/main" id="{B86317D8-2414-4C95-B99A-DB342972736B}"/>
              </a:ext>
            </a:extLst>
          </p:cNvPr>
          <p:cNvSpPr txBox="1"/>
          <p:nvPr/>
        </p:nvSpPr>
        <p:spPr>
          <a:xfrm>
            <a:off x="6694346" y="1437258"/>
            <a:ext cx="2592288" cy="307777"/>
          </a:xfrm>
          <a:prstGeom prst="rect">
            <a:avLst/>
          </a:prstGeom>
          <a:noFill/>
        </p:spPr>
        <p:txBody>
          <a:bodyPr wrap="square" rtlCol="0">
            <a:spAutoFit/>
          </a:bodyPr>
          <a:lstStyle/>
          <a:p>
            <a:r>
              <a:rPr lang="en-US" sz="1400" b="1" dirty="0"/>
              <a:t>2030 </a:t>
            </a:r>
            <a:r>
              <a:rPr lang="en-US" sz="1400" b="1" dirty="0" err="1"/>
              <a:t>yılına</a:t>
            </a:r>
            <a:r>
              <a:rPr lang="en-US" sz="1400" b="1" dirty="0"/>
              <a:t> </a:t>
            </a:r>
            <a:r>
              <a:rPr lang="en-US" sz="1400" b="1" dirty="0" err="1"/>
              <a:t>kadar</a:t>
            </a:r>
            <a:endParaRPr lang="en-US" sz="1400" b="1" dirty="0"/>
          </a:p>
        </p:txBody>
      </p:sp>
      <p:sp>
        <p:nvSpPr>
          <p:cNvPr id="25" name="TextBox 24">
            <a:extLst>
              <a:ext uri="{FF2B5EF4-FFF2-40B4-BE49-F238E27FC236}">
                <a16:creationId xmlns:a16="http://schemas.microsoft.com/office/drawing/2014/main" id="{2D3FD3C6-AEAE-4F59-9236-8E9BC86D9460}"/>
              </a:ext>
            </a:extLst>
          </p:cNvPr>
          <p:cNvSpPr txBox="1"/>
          <p:nvPr/>
        </p:nvSpPr>
        <p:spPr>
          <a:xfrm>
            <a:off x="7165434" y="2998113"/>
            <a:ext cx="4187150" cy="738664"/>
          </a:xfrm>
          <a:prstGeom prst="rect">
            <a:avLst/>
          </a:prstGeom>
          <a:noFill/>
        </p:spPr>
        <p:txBody>
          <a:bodyPr wrap="square">
            <a:spAutoFit/>
          </a:bodyPr>
          <a:lstStyle/>
          <a:p>
            <a:pPr marL="88900" indent="-88900">
              <a:buFont typeface="Arial" panose="020B0604020202020204" pitchFamily="34" charset="0"/>
              <a:buChar char="•"/>
            </a:pPr>
            <a:r>
              <a:rPr lang="en-US" sz="1400" b="1" dirty="0">
                <a:solidFill>
                  <a:schemeClr val="tx1"/>
                </a:solidFill>
              </a:rPr>
              <a:t>B</a:t>
            </a:r>
            <a:r>
              <a:rPr lang="tr-TR" sz="1400" b="1" dirty="0">
                <a:solidFill>
                  <a:schemeClr val="tx1"/>
                </a:solidFill>
              </a:rPr>
              <a:t>itki besin </a:t>
            </a:r>
            <a:r>
              <a:rPr lang="tr-TR" sz="1400" b="1" dirty="0" err="1">
                <a:solidFill>
                  <a:schemeClr val="tx1"/>
                </a:solidFill>
              </a:rPr>
              <a:t>maddes</a:t>
            </a:r>
            <a:r>
              <a:rPr lang="en-US" sz="1400" b="1" dirty="0" err="1">
                <a:solidFill>
                  <a:schemeClr val="tx1"/>
                </a:solidFill>
              </a:rPr>
              <a:t>i</a:t>
            </a:r>
            <a:r>
              <a:rPr lang="en-US" sz="1400" b="1" dirty="0">
                <a:solidFill>
                  <a:schemeClr val="tx1"/>
                </a:solidFill>
              </a:rPr>
              <a:t> </a:t>
            </a:r>
            <a:r>
              <a:rPr lang="tr-TR" sz="1400" b="1" dirty="0">
                <a:solidFill>
                  <a:schemeClr val="tx1"/>
                </a:solidFill>
              </a:rPr>
              <a:t>kaybolma</a:t>
            </a:r>
            <a:r>
              <a:rPr lang="tr-TR" sz="1400" dirty="0">
                <a:solidFill>
                  <a:schemeClr val="tx1"/>
                </a:solidFill>
              </a:rPr>
              <a:t> oranında en az %50 </a:t>
            </a:r>
            <a:r>
              <a:rPr lang="tr-TR" sz="1400" dirty="0" err="1">
                <a:solidFill>
                  <a:schemeClr val="tx1"/>
                </a:solidFill>
              </a:rPr>
              <a:t>azaltım</a:t>
            </a:r>
            <a:r>
              <a:rPr lang="tr-TR" sz="1400" dirty="0">
                <a:solidFill>
                  <a:schemeClr val="tx1"/>
                </a:solidFill>
              </a:rPr>
              <a:t> </a:t>
            </a:r>
            <a:r>
              <a:rPr lang="tr-TR" sz="1400" dirty="0" err="1">
                <a:solidFill>
                  <a:schemeClr val="tx1"/>
                </a:solidFill>
              </a:rPr>
              <a:t>sağlanmas</a:t>
            </a:r>
            <a:r>
              <a:rPr lang="en-US" sz="1400" dirty="0">
                <a:solidFill>
                  <a:schemeClr val="tx1"/>
                </a:solidFill>
              </a:rPr>
              <a:t>ı</a:t>
            </a:r>
            <a:endParaRPr lang="tr-TR" sz="1400" dirty="0">
              <a:solidFill>
                <a:schemeClr val="tx1"/>
              </a:solidFill>
            </a:endParaRPr>
          </a:p>
          <a:p>
            <a:pPr marL="88900" indent="-88900">
              <a:buFont typeface="Arial" panose="020B0604020202020204" pitchFamily="34" charset="0"/>
              <a:buChar char="•"/>
            </a:pPr>
            <a:r>
              <a:rPr lang="en-US" sz="1400" b="1" dirty="0" err="1">
                <a:solidFill>
                  <a:schemeClr val="tx1"/>
                </a:solidFill>
              </a:rPr>
              <a:t>Gübre</a:t>
            </a:r>
            <a:r>
              <a:rPr lang="en-US" sz="1400" b="1" dirty="0">
                <a:solidFill>
                  <a:schemeClr val="tx1"/>
                </a:solidFill>
              </a:rPr>
              <a:t> </a:t>
            </a:r>
            <a:r>
              <a:rPr lang="en-US" sz="1400" b="1" dirty="0" err="1">
                <a:solidFill>
                  <a:schemeClr val="tx1"/>
                </a:solidFill>
              </a:rPr>
              <a:t>kullanımının</a:t>
            </a:r>
            <a:r>
              <a:rPr lang="en-US" sz="1400" b="1" dirty="0">
                <a:solidFill>
                  <a:schemeClr val="tx1"/>
                </a:solidFill>
              </a:rPr>
              <a:t> </a:t>
            </a:r>
            <a:r>
              <a:rPr lang="en-US" sz="1400" dirty="0">
                <a:solidFill>
                  <a:schemeClr val="tx1"/>
                </a:solidFill>
              </a:rPr>
              <a:t>minimum %20 </a:t>
            </a:r>
            <a:r>
              <a:rPr lang="en-US" sz="1400" dirty="0" err="1">
                <a:solidFill>
                  <a:schemeClr val="tx1"/>
                </a:solidFill>
              </a:rPr>
              <a:t>azaltılması</a:t>
            </a:r>
            <a:endParaRPr lang="en-US" sz="1400" dirty="0">
              <a:solidFill>
                <a:schemeClr val="tx1"/>
              </a:solidFill>
            </a:endParaRPr>
          </a:p>
        </p:txBody>
      </p:sp>
      <p:sp>
        <p:nvSpPr>
          <p:cNvPr id="26" name="TextBox 25">
            <a:extLst>
              <a:ext uri="{FF2B5EF4-FFF2-40B4-BE49-F238E27FC236}">
                <a16:creationId xmlns:a16="http://schemas.microsoft.com/office/drawing/2014/main" id="{F5813310-65AF-4F0F-9D04-67D07CA34FDE}"/>
              </a:ext>
            </a:extLst>
          </p:cNvPr>
          <p:cNvSpPr txBox="1"/>
          <p:nvPr/>
        </p:nvSpPr>
        <p:spPr>
          <a:xfrm>
            <a:off x="7165434" y="4240833"/>
            <a:ext cx="4009228" cy="523220"/>
          </a:xfrm>
          <a:prstGeom prst="rect">
            <a:avLst/>
          </a:prstGeom>
          <a:noFill/>
        </p:spPr>
        <p:txBody>
          <a:bodyPr wrap="square">
            <a:spAutoFit/>
          </a:bodyPr>
          <a:lstStyle/>
          <a:p>
            <a:pPr marL="88900" indent="-88900">
              <a:buFont typeface="Arial" panose="020B0604020202020204" pitchFamily="34" charset="0"/>
              <a:buChar char="•"/>
            </a:pPr>
            <a:r>
              <a:rPr lang="en-US" sz="1400" dirty="0">
                <a:solidFill>
                  <a:schemeClr val="tx1"/>
                </a:solidFill>
              </a:rPr>
              <a:t>AB’de </a:t>
            </a:r>
            <a:r>
              <a:rPr lang="en-US" sz="1400" dirty="0" err="1">
                <a:solidFill>
                  <a:schemeClr val="tx1"/>
                </a:solidFill>
              </a:rPr>
              <a:t>toplam</a:t>
            </a:r>
            <a:r>
              <a:rPr lang="en-US" sz="1400" dirty="0">
                <a:solidFill>
                  <a:schemeClr val="tx1"/>
                </a:solidFill>
              </a:rPr>
              <a:t> </a:t>
            </a:r>
            <a:r>
              <a:rPr lang="en-US" sz="1400" dirty="0" err="1">
                <a:solidFill>
                  <a:schemeClr val="tx1"/>
                </a:solidFill>
              </a:rPr>
              <a:t>tarım</a:t>
            </a:r>
            <a:r>
              <a:rPr lang="en-US" sz="1400" dirty="0">
                <a:solidFill>
                  <a:schemeClr val="tx1"/>
                </a:solidFill>
              </a:rPr>
              <a:t> </a:t>
            </a:r>
            <a:r>
              <a:rPr lang="en-US" sz="1400" dirty="0" err="1">
                <a:solidFill>
                  <a:schemeClr val="tx1"/>
                </a:solidFill>
              </a:rPr>
              <a:t>yapılan</a:t>
            </a:r>
            <a:r>
              <a:rPr lang="en-US" sz="1400" dirty="0">
                <a:solidFill>
                  <a:schemeClr val="tx1"/>
                </a:solidFill>
              </a:rPr>
              <a:t> </a:t>
            </a:r>
            <a:r>
              <a:rPr lang="en-US" sz="1400" dirty="0" err="1">
                <a:solidFill>
                  <a:schemeClr val="tx1"/>
                </a:solidFill>
              </a:rPr>
              <a:t>alanın</a:t>
            </a:r>
            <a:r>
              <a:rPr lang="en-US" sz="1400" dirty="0">
                <a:solidFill>
                  <a:schemeClr val="tx1"/>
                </a:solidFill>
              </a:rPr>
              <a:t> </a:t>
            </a:r>
            <a:r>
              <a:rPr lang="en-US" sz="1400" dirty="0" err="1">
                <a:solidFill>
                  <a:schemeClr val="tx1"/>
                </a:solidFill>
              </a:rPr>
              <a:t>en</a:t>
            </a:r>
            <a:r>
              <a:rPr lang="en-US" sz="1400" dirty="0">
                <a:solidFill>
                  <a:schemeClr val="tx1"/>
                </a:solidFill>
              </a:rPr>
              <a:t> </a:t>
            </a:r>
            <a:r>
              <a:rPr lang="en-US" sz="1400" dirty="0" err="1">
                <a:solidFill>
                  <a:schemeClr val="tx1"/>
                </a:solidFill>
              </a:rPr>
              <a:t>az</a:t>
            </a:r>
            <a:r>
              <a:rPr lang="en-US" sz="1400" dirty="0">
                <a:solidFill>
                  <a:schemeClr val="tx1"/>
                </a:solidFill>
              </a:rPr>
              <a:t> %25’inde </a:t>
            </a:r>
            <a:r>
              <a:rPr lang="en-US" sz="1400" b="1" dirty="0" err="1">
                <a:solidFill>
                  <a:schemeClr val="tx1"/>
                </a:solidFill>
              </a:rPr>
              <a:t>organik</a:t>
            </a:r>
            <a:r>
              <a:rPr lang="en-US" sz="1400" b="1" dirty="0">
                <a:solidFill>
                  <a:schemeClr val="tx1"/>
                </a:solidFill>
              </a:rPr>
              <a:t> </a:t>
            </a:r>
            <a:r>
              <a:rPr lang="en-US" sz="1400" b="1" dirty="0" err="1">
                <a:solidFill>
                  <a:schemeClr val="tx1"/>
                </a:solidFill>
              </a:rPr>
              <a:t>tarım</a:t>
            </a:r>
            <a:r>
              <a:rPr lang="en-US" sz="1400" b="1" dirty="0">
                <a:solidFill>
                  <a:schemeClr val="tx1"/>
                </a:solidFill>
              </a:rPr>
              <a:t> </a:t>
            </a:r>
            <a:r>
              <a:rPr lang="en-US" sz="1400" dirty="0" err="1">
                <a:solidFill>
                  <a:schemeClr val="tx1"/>
                </a:solidFill>
              </a:rPr>
              <a:t>yapılması</a:t>
            </a:r>
            <a:endParaRPr lang="en-US" sz="1400" dirty="0">
              <a:solidFill>
                <a:schemeClr val="tx1"/>
              </a:solidFill>
            </a:endParaRPr>
          </a:p>
        </p:txBody>
      </p:sp>
      <p:sp>
        <p:nvSpPr>
          <p:cNvPr id="28" name="Oval 27">
            <a:extLst>
              <a:ext uri="{FF2B5EF4-FFF2-40B4-BE49-F238E27FC236}">
                <a16:creationId xmlns:a16="http://schemas.microsoft.com/office/drawing/2014/main" id="{7BDA8089-8003-4606-826F-781A57FDD665}"/>
              </a:ext>
            </a:extLst>
          </p:cNvPr>
          <p:cNvSpPr/>
          <p:nvPr/>
        </p:nvSpPr>
        <p:spPr>
          <a:xfrm>
            <a:off x="11344782" y="3952801"/>
            <a:ext cx="799890" cy="461666"/>
          </a:xfrm>
          <a:prstGeom prst="ellipse">
            <a:avLst/>
          </a:prstGeom>
          <a:solidFill>
            <a:srgbClr val="005C2A"/>
          </a:solid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%25</a:t>
            </a:r>
          </a:p>
        </p:txBody>
      </p:sp>
      <p:sp>
        <p:nvSpPr>
          <p:cNvPr id="29" name="Oval 28">
            <a:extLst>
              <a:ext uri="{FF2B5EF4-FFF2-40B4-BE49-F238E27FC236}">
                <a16:creationId xmlns:a16="http://schemas.microsoft.com/office/drawing/2014/main" id="{EAD4BB33-7175-43D1-8354-F6A0087BE251}"/>
              </a:ext>
            </a:extLst>
          </p:cNvPr>
          <p:cNvSpPr/>
          <p:nvPr/>
        </p:nvSpPr>
        <p:spPr>
          <a:xfrm>
            <a:off x="11352584" y="2993402"/>
            <a:ext cx="799890" cy="461666"/>
          </a:xfrm>
          <a:prstGeom prst="ellipse">
            <a:avLst/>
          </a:prstGeom>
          <a:solidFill>
            <a:srgbClr val="005C2A"/>
          </a:solid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%50</a:t>
            </a:r>
          </a:p>
        </p:txBody>
      </p:sp>
      <p:sp>
        <p:nvSpPr>
          <p:cNvPr id="30" name="Oval 29">
            <a:extLst>
              <a:ext uri="{FF2B5EF4-FFF2-40B4-BE49-F238E27FC236}">
                <a16:creationId xmlns:a16="http://schemas.microsoft.com/office/drawing/2014/main" id="{A9E5AA5F-C160-4EAC-93F7-6FA46341AE79}"/>
              </a:ext>
            </a:extLst>
          </p:cNvPr>
          <p:cNvSpPr/>
          <p:nvPr/>
        </p:nvSpPr>
        <p:spPr>
          <a:xfrm>
            <a:off x="11344358" y="1907244"/>
            <a:ext cx="799890" cy="461666"/>
          </a:xfrm>
          <a:prstGeom prst="ellipse">
            <a:avLst/>
          </a:prstGeom>
          <a:solidFill>
            <a:srgbClr val="005C2A"/>
          </a:solid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%50</a:t>
            </a:r>
          </a:p>
        </p:txBody>
      </p:sp>
      <p:pic>
        <p:nvPicPr>
          <p:cNvPr id="34" name="Graphic 33" descr="Downward trend graph outline">
            <a:extLst>
              <a:ext uri="{FF2B5EF4-FFF2-40B4-BE49-F238E27FC236}">
                <a16:creationId xmlns:a16="http://schemas.microsoft.com/office/drawing/2014/main" id="{BAD8F1AC-3712-4447-8325-4E888B9758F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174662" y="3265847"/>
            <a:ext cx="666252" cy="666252"/>
          </a:xfrm>
          <a:prstGeom prst="rect">
            <a:avLst/>
          </a:prstGeom>
        </p:spPr>
      </p:pic>
      <p:pic>
        <p:nvPicPr>
          <p:cNvPr id="35" name="Graphic 34" descr="Downward trend graph outline">
            <a:extLst>
              <a:ext uri="{FF2B5EF4-FFF2-40B4-BE49-F238E27FC236}">
                <a16:creationId xmlns:a16="http://schemas.microsoft.com/office/drawing/2014/main" id="{8D5938A2-F2D7-4DA4-8F31-CEB9E6316F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174662" y="2141213"/>
            <a:ext cx="666252" cy="666252"/>
          </a:xfrm>
          <a:prstGeom prst="rect">
            <a:avLst/>
          </a:prstGeom>
        </p:spPr>
      </p:pic>
      <p:pic>
        <p:nvPicPr>
          <p:cNvPr id="37" name="Graphic 36" descr="Upward trend outline">
            <a:extLst>
              <a:ext uri="{FF2B5EF4-FFF2-40B4-BE49-F238E27FC236}">
                <a16:creationId xmlns:a16="http://schemas.microsoft.com/office/drawing/2014/main" id="{09D055C9-6BED-4876-BB76-3850634B76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174663" y="4269831"/>
            <a:ext cx="666252" cy="666252"/>
          </a:xfrm>
          <a:prstGeom prst="rect">
            <a:avLst/>
          </a:prstGeom>
        </p:spPr>
      </p:pic>
      <p:sp>
        <p:nvSpPr>
          <p:cNvPr id="39" name="Rectangle: Rounded Corners 38">
            <a:extLst>
              <a:ext uri="{FF2B5EF4-FFF2-40B4-BE49-F238E27FC236}">
                <a16:creationId xmlns:a16="http://schemas.microsoft.com/office/drawing/2014/main" id="{2A661CF7-D367-4A96-B452-DDAC3A931A44}"/>
              </a:ext>
            </a:extLst>
          </p:cNvPr>
          <p:cNvSpPr/>
          <p:nvPr/>
        </p:nvSpPr>
        <p:spPr>
          <a:xfrm>
            <a:off x="1193023" y="5699579"/>
            <a:ext cx="4814807" cy="623115"/>
          </a:xfrm>
          <a:prstGeom prst="roundRect">
            <a:avLst/>
          </a:prstGeom>
          <a:no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SINIRDA KARBON DÜZENLEMESİ</a:t>
            </a:r>
          </a:p>
        </p:txBody>
      </p:sp>
      <p:pic>
        <p:nvPicPr>
          <p:cNvPr id="43" name="Picture 42">
            <a:extLst>
              <a:ext uri="{FF2B5EF4-FFF2-40B4-BE49-F238E27FC236}">
                <a16:creationId xmlns:a16="http://schemas.microsoft.com/office/drawing/2014/main" id="{B33242A9-490C-4B12-89BF-8316F0932A33}"/>
              </a:ext>
            </a:extLst>
          </p:cNvPr>
          <p:cNvPicPr>
            <a:picLocks noChangeAspect="1"/>
          </p:cNvPicPr>
          <p:nvPr/>
        </p:nvPicPr>
        <p:blipFill>
          <a:blip r:embed="rId9"/>
          <a:stretch>
            <a:fillRect/>
          </a:stretch>
        </p:blipFill>
        <p:spPr>
          <a:xfrm>
            <a:off x="479376" y="5465941"/>
            <a:ext cx="1387523" cy="1052897"/>
          </a:xfrm>
          <a:prstGeom prst="rect">
            <a:avLst/>
          </a:prstGeom>
          <a:ln>
            <a:noFill/>
          </a:ln>
          <a:effectLst>
            <a:outerShdw blurRad="190500" algn="tl" rotWithShape="0">
              <a:srgbClr val="000000">
                <a:alpha val="70000"/>
              </a:srgbClr>
            </a:outerShdw>
          </a:effectLst>
        </p:spPr>
      </p:pic>
      <p:pic>
        <p:nvPicPr>
          <p:cNvPr id="45" name="Picture 44">
            <a:extLst>
              <a:ext uri="{FF2B5EF4-FFF2-40B4-BE49-F238E27FC236}">
                <a16:creationId xmlns:a16="http://schemas.microsoft.com/office/drawing/2014/main" id="{3FC64F3E-7BC8-4E07-B200-41CB8CDF53F7}"/>
              </a:ext>
            </a:extLst>
          </p:cNvPr>
          <p:cNvPicPr>
            <a:picLocks noChangeAspect="1"/>
          </p:cNvPicPr>
          <p:nvPr/>
        </p:nvPicPr>
        <p:blipFill>
          <a:blip r:embed="rId10"/>
          <a:stretch>
            <a:fillRect/>
          </a:stretch>
        </p:blipFill>
        <p:spPr>
          <a:xfrm>
            <a:off x="465429" y="1918004"/>
            <a:ext cx="1414295" cy="1019506"/>
          </a:xfrm>
          <a:prstGeom prst="rect">
            <a:avLst/>
          </a:prstGeom>
          <a:ln>
            <a:noFill/>
          </a:ln>
          <a:effectLst>
            <a:outerShdw blurRad="190500" algn="tl" rotWithShape="0">
              <a:srgbClr val="000000">
                <a:alpha val="70000"/>
              </a:srgbClr>
            </a:outerShdw>
          </a:effectLst>
        </p:spPr>
      </p:pic>
      <p:pic>
        <p:nvPicPr>
          <p:cNvPr id="7" name="Picture 6" descr="Shape&#10;&#10;Description automatically generated">
            <a:extLst>
              <a:ext uri="{FF2B5EF4-FFF2-40B4-BE49-F238E27FC236}">
                <a16:creationId xmlns:a16="http://schemas.microsoft.com/office/drawing/2014/main" id="{B880EAA5-D154-40EC-A6F7-E2CD35F7FE8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504883" y="5113239"/>
            <a:ext cx="784831" cy="523220"/>
          </a:xfrm>
          <a:prstGeom prst="rect">
            <a:avLst/>
          </a:prstGeom>
        </p:spPr>
      </p:pic>
      <p:sp>
        <p:nvSpPr>
          <p:cNvPr id="32" name="TextBox 31">
            <a:extLst>
              <a:ext uri="{FF2B5EF4-FFF2-40B4-BE49-F238E27FC236}">
                <a16:creationId xmlns:a16="http://schemas.microsoft.com/office/drawing/2014/main" id="{57685825-00C0-4D1B-837E-AFB79F529EEC}"/>
              </a:ext>
            </a:extLst>
          </p:cNvPr>
          <p:cNvSpPr txBox="1"/>
          <p:nvPr/>
        </p:nvSpPr>
        <p:spPr>
          <a:xfrm>
            <a:off x="7254395" y="5101785"/>
            <a:ext cx="4009228" cy="523220"/>
          </a:xfrm>
          <a:prstGeom prst="rect">
            <a:avLst/>
          </a:prstGeom>
          <a:noFill/>
        </p:spPr>
        <p:txBody>
          <a:bodyPr wrap="square">
            <a:spAutoFit/>
          </a:bodyPr>
          <a:lstStyle/>
          <a:p>
            <a:pPr marL="88900" indent="-88900">
              <a:buFont typeface="Arial" panose="020B0604020202020204" pitchFamily="34" charset="0"/>
              <a:buChar char="•"/>
            </a:pPr>
            <a:r>
              <a:rPr lang="en-US" sz="1400" dirty="0">
                <a:solidFill>
                  <a:schemeClr val="tx1"/>
                </a:solidFill>
              </a:rPr>
              <a:t>2030’a </a:t>
            </a:r>
            <a:r>
              <a:rPr lang="en-US" sz="1400" dirty="0" err="1">
                <a:solidFill>
                  <a:schemeClr val="tx1"/>
                </a:solidFill>
              </a:rPr>
              <a:t>kadar</a:t>
            </a:r>
            <a:r>
              <a:rPr lang="en-US" sz="1400" dirty="0">
                <a:solidFill>
                  <a:schemeClr val="tx1"/>
                </a:solidFill>
              </a:rPr>
              <a:t> </a:t>
            </a:r>
            <a:r>
              <a:rPr lang="en-US" sz="1400" dirty="0" err="1">
                <a:solidFill>
                  <a:schemeClr val="tx1"/>
                </a:solidFill>
              </a:rPr>
              <a:t>karbon</a:t>
            </a:r>
            <a:r>
              <a:rPr lang="en-US" sz="1400" dirty="0">
                <a:solidFill>
                  <a:schemeClr val="tx1"/>
                </a:solidFill>
              </a:rPr>
              <a:t> </a:t>
            </a:r>
            <a:r>
              <a:rPr lang="en-US" sz="1400" dirty="0" err="1">
                <a:solidFill>
                  <a:schemeClr val="tx1"/>
                </a:solidFill>
              </a:rPr>
              <a:t>salınımını</a:t>
            </a:r>
            <a:r>
              <a:rPr lang="tr-TR" sz="1400" dirty="0">
                <a:solidFill>
                  <a:schemeClr val="tx1"/>
                </a:solidFill>
              </a:rPr>
              <a:t>n en az </a:t>
            </a:r>
            <a:r>
              <a:rPr lang="en-US" sz="1400" dirty="0">
                <a:solidFill>
                  <a:schemeClr val="tx1"/>
                </a:solidFill>
              </a:rPr>
              <a:t> %5</a:t>
            </a:r>
            <a:r>
              <a:rPr lang="tr-TR" sz="1400" dirty="0">
                <a:solidFill>
                  <a:schemeClr val="tx1"/>
                </a:solidFill>
              </a:rPr>
              <a:t>5</a:t>
            </a:r>
            <a:r>
              <a:rPr lang="en-US" sz="1400" dirty="0">
                <a:solidFill>
                  <a:schemeClr val="tx1"/>
                </a:solidFill>
              </a:rPr>
              <a:t> </a:t>
            </a:r>
            <a:r>
              <a:rPr lang="en-US" sz="1400" dirty="0" err="1">
                <a:solidFill>
                  <a:schemeClr val="tx1"/>
                </a:solidFill>
              </a:rPr>
              <a:t>azal</a:t>
            </a:r>
            <a:r>
              <a:rPr lang="tr-TR" sz="1400" dirty="0" err="1">
                <a:solidFill>
                  <a:schemeClr val="tx1"/>
                </a:solidFill>
              </a:rPr>
              <a:t>tılması</a:t>
            </a:r>
            <a:r>
              <a:rPr lang="en-US" sz="1400" dirty="0">
                <a:solidFill>
                  <a:schemeClr val="tx1"/>
                </a:solidFill>
              </a:rPr>
              <a:t>, 2050’de </a:t>
            </a:r>
            <a:r>
              <a:rPr lang="tr-TR" sz="1400" dirty="0"/>
              <a:t>karbon-nötr kıta hedefi</a:t>
            </a:r>
            <a:endParaRPr lang="en-US" sz="1400" dirty="0">
              <a:solidFill>
                <a:schemeClr val="tx1"/>
              </a:solidFill>
            </a:endParaRPr>
          </a:p>
        </p:txBody>
      </p:sp>
      <p:sp>
        <p:nvSpPr>
          <p:cNvPr id="33" name="Oval 32">
            <a:extLst>
              <a:ext uri="{FF2B5EF4-FFF2-40B4-BE49-F238E27FC236}">
                <a16:creationId xmlns:a16="http://schemas.microsoft.com/office/drawing/2014/main" id="{6B82587A-A2D1-4131-BF14-1B1BB07B1C4F}"/>
              </a:ext>
            </a:extLst>
          </p:cNvPr>
          <p:cNvSpPr/>
          <p:nvPr/>
        </p:nvSpPr>
        <p:spPr>
          <a:xfrm>
            <a:off x="11294692" y="4989098"/>
            <a:ext cx="799890" cy="461666"/>
          </a:xfrm>
          <a:prstGeom prst="ellipse">
            <a:avLst/>
          </a:prstGeom>
          <a:solidFill>
            <a:srgbClr val="005C2A"/>
          </a:solid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%5</a:t>
            </a:r>
            <a:r>
              <a:rPr lang="tr-TR" sz="1600" dirty="0"/>
              <a:t>5</a:t>
            </a:r>
            <a:endParaRPr lang="en-US" sz="1600" dirty="0"/>
          </a:p>
        </p:txBody>
      </p:sp>
      <p:pic>
        <p:nvPicPr>
          <p:cNvPr id="36" name="Graphic 35" descr="Downward trend graph outline">
            <a:extLst>
              <a:ext uri="{FF2B5EF4-FFF2-40B4-BE49-F238E27FC236}">
                <a16:creationId xmlns:a16="http://schemas.microsoft.com/office/drawing/2014/main" id="{BF2E8B2C-AEE4-45BD-B2F7-E8818BBC79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116770" y="5261543"/>
            <a:ext cx="666252" cy="666252"/>
          </a:xfrm>
          <a:prstGeom prst="rect">
            <a:avLst/>
          </a:prstGeom>
        </p:spPr>
      </p:pic>
    </p:spTree>
    <p:extLst>
      <p:ext uri="{BB962C8B-B14F-4D97-AF65-F5344CB8AC3E}">
        <p14:creationId xmlns:p14="http://schemas.microsoft.com/office/powerpoint/2010/main" val="1476836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66771-4D88-06A7-2DF9-ABCB9D01147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7A75062-1641-2E63-8A65-525DB0870BCB}"/>
              </a:ext>
            </a:extLst>
          </p:cNvPr>
          <p:cNvSpPr>
            <a:spLocks noGrp="1"/>
          </p:cNvSpPr>
          <p:nvPr>
            <p:ph type="title"/>
          </p:nvPr>
        </p:nvSpPr>
        <p:spPr/>
        <p:txBody>
          <a:bodyPr/>
          <a:lstStyle/>
          <a:p>
            <a:r>
              <a:rPr lang="tr-TR" b="1" i="1" dirty="0"/>
              <a:t>AB Yeşil Mutabakatı (EU </a:t>
            </a:r>
            <a:r>
              <a:rPr lang="tr-TR" b="1" i="1" dirty="0" err="1"/>
              <a:t>Green</a:t>
            </a:r>
            <a:r>
              <a:rPr lang="tr-TR" b="1" i="1" dirty="0"/>
              <a:t> </a:t>
            </a:r>
            <a:r>
              <a:rPr lang="tr-TR" b="1" i="1" dirty="0" err="1"/>
              <a:t>Deal</a:t>
            </a:r>
            <a:r>
              <a:rPr lang="tr-TR" b="1" i="1" dirty="0"/>
              <a:t>)</a:t>
            </a:r>
          </a:p>
        </p:txBody>
      </p:sp>
      <p:sp>
        <p:nvSpPr>
          <p:cNvPr id="4" name="Slayt Numarası Yer Tutucusu 3">
            <a:extLst>
              <a:ext uri="{FF2B5EF4-FFF2-40B4-BE49-F238E27FC236}">
                <a16:creationId xmlns:a16="http://schemas.microsoft.com/office/drawing/2014/main" id="{B891486B-7424-BFAE-89CF-3BB72185DDE0}"/>
              </a:ext>
            </a:extLst>
          </p:cNvPr>
          <p:cNvSpPr>
            <a:spLocks noGrp="1"/>
          </p:cNvSpPr>
          <p:nvPr>
            <p:ph type="sldNum" sz="quarter" idx="4"/>
          </p:nvPr>
        </p:nvSpPr>
        <p:spPr/>
        <p:txBody>
          <a:bodyPr/>
          <a:lstStyle/>
          <a:p>
            <a:fld id="{42CA6F85-893A-4FE1-8820-DAA50ABDC7DA}" type="slidenum">
              <a:rPr lang="tr-TR" smtClean="0"/>
              <a:pPr/>
              <a:t>5</a:t>
            </a:fld>
            <a:endParaRPr lang="tr-TR"/>
          </a:p>
        </p:txBody>
      </p:sp>
      <p:sp>
        <p:nvSpPr>
          <p:cNvPr id="7" name="Metin kutusu 6">
            <a:extLst>
              <a:ext uri="{FF2B5EF4-FFF2-40B4-BE49-F238E27FC236}">
                <a16:creationId xmlns:a16="http://schemas.microsoft.com/office/drawing/2014/main" id="{CC808149-4B26-6A87-6B66-94F7B17F3A43}"/>
              </a:ext>
            </a:extLst>
          </p:cNvPr>
          <p:cNvSpPr txBox="1"/>
          <p:nvPr/>
        </p:nvSpPr>
        <p:spPr>
          <a:xfrm>
            <a:off x="1559496" y="838444"/>
            <a:ext cx="10042648" cy="523220"/>
          </a:xfrm>
          <a:prstGeom prst="rect">
            <a:avLst/>
          </a:prstGeom>
          <a:noFill/>
        </p:spPr>
        <p:txBody>
          <a:bodyPr wrap="square" rtlCol="0">
            <a:spAutoFit/>
          </a:bodyPr>
          <a:lstStyle/>
          <a:p>
            <a:r>
              <a:rPr lang="tr-TR" sz="1400" b="1" dirty="0"/>
              <a:t>GENEL BİLGİLER</a:t>
            </a:r>
          </a:p>
          <a:p>
            <a:endParaRPr lang="tr-TR" sz="1400" b="1" dirty="0"/>
          </a:p>
        </p:txBody>
      </p:sp>
      <p:sp>
        <p:nvSpPr>
          <p:cNvPr id="3" name="Rectangle 2">
            <a:extLst>
              <a:ext uri="{FF2B5EF4-FFF2-40B4-BE49-F238E27FC236}">
                <a16:creationId xmlns:a16="http://schemas.microsoft.com/office/drawing/2014/main" id="{22CC1BCD-4FDC-67BD-1A3E-C00905CDF750}"/>
              </a:ext>
            </a:extLst>
          </p:cNvPr>
          <p:cNvSpPr/>
          <p:nvPr/>
        </p:nvSpPr>
        <p:spPr>
          <a:xfrm>
            <a:off x="110757" y="2608949"/>
            <a:ext cx="11767864" cy="206984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4">
            <a:extLst>
              <a:ext uri="{FF2B5EF4-FFF2-40B4-BE49-F238E27FC236}">
                <a16:creationId xmlns:a16="http://schemas.microsoft.com/office/drawing/2014/main" id="{24F994B2-BFF4-EA74-9EB7-8D9FEE53172B}"/>
              </a:ext>
            </a:extLst>
          </p:cNvPr>
          <p:cNvSpPr/>
          <p:nvPr/>
        </p:nvSpPr>
        <p:spPr>
          <a:xfrm>
            <a:off x="137866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RİSKLER</a:t>
            </a:r>
          </a:p>
        </p:txBody>
      </p:sp>
      <p:sp>
        <p:nvSpPr>
          <p:cNvPr id="9" name="Rectangle 8">
            <a:extLst>
              <a:ext uri="{FF2B5EF4-FFF2-40B4-BE49-F238E27FC236}">
                <a16:creationId xmlns:a16="http://schemas.microsoft.com/office/drawing/2014/main" id="{E4EC0C40-5455-6CDB-37C3-805478ED602E}"/>
              </a:ext>
            </a:extLst>
          </p:cNvPr>
          <p:cNvSpPr/>
          <p:nvPr/>
        </p:nvSpPr>
        <p:spPr>
          <a:xfrm>
            <a:off x="285334" y="2918338"/>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11" name="Rectangle: Rounded Corners 18">
            <a:extLst>
              <a:ext uri="{FF2B5EF4-FFF2-40B4-BE49-F238E27FC236}">
                <a16:creationId xmlns:a16="http://schemas.microsoft.com/office/drawing/2014/main" id="{6B97EDF8-2A0C-817C-CE02-A2610942A350}"/>
              </a:ext>
            </a:extLst>
          </p:cNvPr>
          <p:cNvSpPr/>
          <p:nvPr/>
        </p:nvSpPr>
        <p:spPr>
          <a:xfrm>
            <a:off x="728034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FIRSATLAR</a:t>
            </a:r>
          </a:p>
        </p:txBody>
      </p:sp>
      <p:sp>
        <p:nvSpPr>
          <p:cNvPr id="14" name="Rectangle 17">
            <a:extLst>
              <a:ext uri="{FF2B5EF4-FFF2-40B4-BE49-F238E27FC236}">
                <a16:creationId xmlns:a16="http://schemas.microsoft.com/office/drawing/2014/main" id="{9A30E34F-9906-9FAB-BBC4-5B143B72E8CC}"/>
              </a:ext>
            </a:extLst>
          </p:cNvPr>
          <p:cNvSpPr/>
          <p:nvPr/>
        </p:nvSpPr>
        <p:spPr>
          <a:xfrm>
            <a:off x="119336" y="2195235"/>
            <a:ext cx="11747839" cy="368784"/>
          </a:xfrm>
          <a:prstGeom prst="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527175" indent="-1527175" algn="ctr"/>
            <a:r>
              <a:rPr lang="tr-TR" sz="1600" b="1" dirty="0">
                <a:solidFill>
                  <a:schemeClr val="bg1"/>
                </a:solidFill>
              </a:rPr>
              <a:t>RİSKLER/FIRSATLAR</a:t>
            </a:r>
            <a:endParaRPr lang="en-US" sz="1600" dirty="0">
              <a:solidFill>
                <a:schemeClr val="bg1"/>
              </a:solidFill>
            </a:endParaRPr>
          </a:p>
        </p:txBody>
      </p:sp>
      <p:sp>
        <p:nvSpPr>
          <p:cNvPr id="15" name="Oval 14">
            <a:extLst>
              <a:ext uri="{FF2B5EF4-FFF2-40B4-BE49-F238E27FC236}">
                <a16:creationId xmlns:a16="http://schemas.microsoft.com/office/drawing/2014/main" id="{7E52B693-898A-83DE-1019-234662E5B4DF}"/>
              </a:ext>
            </a:extLst>
          </p:cNvPr>
          <p:cNvSpPr/>
          <p:nvPr/>
        </p:nvSpPr>
        <p:spPr>
          <a:xfrm>
            <a:off x="285793" y="2985810"/>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16" name="Oval 15">
            <a:extLst>
              <a:ext uri="{FF2B5EF4-FFF2-40B4-BE49-F238E27FC236}">
                <a16:creationId xmlns:a16="http://schemas.microsoft.com/office/drawing/2014/main" id="{1A886735-3EED-8005-E320-D1AE48149047}"/>
              </a:ext>
            </a:extLst>
          </p:cNvPr>
          <p:cNvSpPr/>
          <p:nvPr/>
        </p:nvSpPr>
        <p:spPr>
          <a:xfrm>
            <a:off x="276653" y="3529237"/>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17" name="Oval 16">
            <a:extLst>
              <a:ext uri="{FF2B5EF4-FFF2-40B4-BE49-F238E27FC236}">
                <a16:creationId xmlns:a16="http://schemas.microsoft.com/office/drawing/2014/main" id="{FDD85579-3065-6BD1-5BE1-95EF9F29A465}"/>
              </a:ext>
            </a:extLst>
          </p:cNvPr>
          <p:cNvSpPr/>
          <p:nvPr/>
        </p:nvSpPr>
        <p:spPr>
          <a:xfrm>
            <a:off x="276193" y="406571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19" name="Metin kutusu 18">
            <a:extLst>
              <a:ext uri="{FF2B5EF4-FFF2-40B4-BE49-F238E27FC236}">
                <a16:creationId xmlns:a16="http://schemas.microsoft.com/office/drawing/2014/main" id="{B01CD2DA-1A7A-94E2-7AED-5260E8E7A157}"/>
              </a:ext>
            </a:extLst>
          </p:cNvPr>
          <p:cNvSpPr txBox="1"/>
          <p:nvPr/>
        </p:nvSpPr>
        <p:spPr>
          <a:xfrm>
            <a:off x="588674" y="2939146"/>
            <a:ext cx="5313283" cy="600164"/>
          </a:xfrm>
          <a:prstGeom prst="rect">
            <a:avLst/>
          </a:prstGeom>
          <a:noFill/>
        </p:spPr>
        <p:txBody>
          <a:bodyPr wrap="square" rtlCol="0">
            <a:spAutoFit/>
          </a:bodyPr>
          <a:lstStyle/>
          <a:p>
            <a:r>
              <a:rPr lang="tr-TR" sz="1100" dirty="0"/>
              <a:t>Proses emisyonlarının düşürülememesi ve </a:t>
            </a:r>
            <a:r>
              <a:rPr lang="tr-TR" sz="1100" dirty="0" err="1"/>
              <a:t>karbonsuzlaşma</a:t>
            </a:r>
            <a:r>
              <a:rPr lang="tr-TR" sz="1100" dirty="0"/>
              <a:t> yatırımlarını tamamlayan diğer üreticilerin emisyon maliyeti avantajı yakalaması durumunda AB pazarında olası ihracat marjı daralması ve pazar payı kaybı.</a:t>
            </a:r>
          </a:p>
        </p:txBody>
      </p:sp>
      <p:sp>
        <p:nvSpPr>
          <p:cNvPr id="25" name="Metin kutusu 24">
            <a:extLst>
              <a:ext uri="{FF2B5EF4-FFF2-40B4-BE49-F238E27FC236}">
                <a16:creationId xmlns:a16="http://schemas.microsoft.com/office/drawing/2014/main" id="{2C3EBF96-2FB5-1FE0-5F37-9940D472633E}"/>
              </a:ext>
            </a:extLst>
          </p:cNvPr>
          <p:cNvSpPr txBox="1"/>
          <p:nvPr/>
        </p:nvSpPr>
        <p:spPr>
          <a:xfrm>
            <a:off x="579533" y="3501008"/>
            <a:ext cx="5313283" cy="600164"/>
          </a:xfrm>
          <a:prstGeom prst="rect">
            <a:avLst/>
          </a:prstGeom>
          <a:noFill/>
        </p:spPr>
        <p:txBody>
          <a:bodyPr wrap="square" rtlCol="0">
            <a:spAutoFit/>
          </a:bodyPr>
          <a:lstStyle/>
          <a:p>
            <a:r>
              <a:rPr lang="tr-TR" sz="1100" dirty="0"/>
              <a:t>Öncül girdilerin (ithal hammadde ve ara girdilerin) emisyon verilerinin yüksek olması ya da belgelenememesi sonucu ürün emisyonu hesaplamada varsayılan değerler (</a:t>
            </a:r>
            <a:r>
              <a:rPr lang="tr-TR" sz="1100" dirty="0" err="1"/>
              <a:t>default</a:t>
            </a:r>
            <a:r>
              <a:rPr lang="tr-TR" sz="1100" dirty="0"/>
              <a:t> </a:t>
            </a:r>
            <a:r>
              <a:rPr lang="tr-TR" sz="1100" dirty="0" err="1"/>
              <a:t>values</a:t>
            </a:r>
            <a:r>
              <a:rPr lang="tr-TR" sz="1100" dirty="0"/>
              <a:t>) kullanılmasını gerektirmesi</a:t>
            </a:r>
          </a:p>
        </p:txBody>
      </p:sp>
      <p:sp>
        <p:nvSpPr>
          <p:cNvPr id="27" name="Metin kutusu 26">
            <a:extLst>
              <a:ext uri="{FF2B5EF4-FFF2-40B4-BE49-F238E27FC236}">
                <a16:creationId xmlns:a16="http://schemas.microsoft.com/office/drawing/2014/main" id="{DD3F5C22-9F33-E61D-5110-C144241530E2}"/>
              </a:ext>
            </a:extLst>
          </p:cNvPr>
          <p:cNvSpPr txBox="1"/>
          <p:nvPr/>
        </p:nvSpPr>
        <p:spPr>
          <a:xfrm>
            <a:off x="579532" y="4078625"/>
            <a:ext cx="5313283" cy="600164"/>
          </a:xfrm>
          <a:prstGeom prst="rect">
            <a:avLst/>
          </a:prstGeom>
          <a:noFill/>
        </p:spPr>
        <p:txBody>
          <a:bodyPr wrap="square" rtlCol="0">
            <a:spAutoFit/>
          </a:bodyPr>
          <a:lstStyle/>
          <a:p>
            <a:r>
              <a:rPr lang="tr-TR" sz="1100" dirty="0"/>
              <a:t>Bağımsız doğrulayıcılar tarafından gerçek verilerin (</a:t>
            </a:r>
            <a:r>
              <a:rPr lang="tr-TR" sz="1100" dirty="0" err="1"/>
              <a:t>actual</a:t>
            </a:r>
            <a:r>
              <a:rPr lang="tr-TR" sz="1100" dirty="0"/>
              <a:t> </a:t>
            </a:r>
            <a:r>
              <a:rPr lang="tr-TR" sz="1100" dirty="0" err="1"/>
              <a:t>emission</a:t>
            </a:r>
            <a:r>
              <a:rPr lang="tr-TR" sz="1100" dirty="0"/>
              <a:t> data) denetlenmesi ve SKDM </a:t>
            </a:r>
            <a:r>
              <a:rPr lang="tr-TR" sz="1100" dirty="0" err="1"/>
              <a:t>Sicili’ne</a:t>
            </a:r>
            <a:r>
              <a:rPr lang="tr-TR" sz="1100" dirty="0"/>
              <a:t> yüklenmesi süreçlerindeki olası metodolojik aksaklıklar sonucu gümrükte ceza veya ithalat durdurma riskleri</a:t>
            </a:r>
          </a:p>
        </p:txBody>
      </p:sp>
      <p:sp>
        <p:nvSpPr>
          <p:cNvPr id="29" name="Rectangle 8">
            <a:extLst>
              <a:ext uri="{FF2B5EF4-FFF2-40B4-BE49-F238E27FC236}">
                <a16:creationId xmlns:a16="http://schemas.microsoft.com/office/drawing/2014/main" id="{250902D7-CA08-99C8-81EE-CE49A5D740AF}"/>
              </a:ext>
            </a:extLst>
          </p:cNvPr>
          <p:cNvSpPr/>
          <p:nvPr/>
        </p:nvSpPr>
        <p:spPr>
          <a:xfrm>
            <a:off x="6086000" y="2933353"/>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31" name="Oval 30">
            <a:extLst>
              <a:ext uri="{FF2B5EF4-FFF2-40B4-BE49-F238E27FC236}">
                <a16:creationId xmlns:a16="http://schemas.microsoft.com/office/drawing/2014/main" id="{9659BEF3-312A-402E-6DE6-C03B3ADF2482}"/>
              </a:ext>
            </a:extLst>
          </p:cNvPr>
          <p:cNvSpPr/>
          <p:nvPr/>
        </p:nvSpPr>
        <p:spPr>
          <a:xfrm>
            <a:off x="6086459" y="300082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33" name="Oval 32">
            <a:extLst>
              <a:ext uri="{FF2B5EF4-FFF2-40B4-BE49-F238E27FC236}">
                <a16:creationId xmlns:a16="http://schemas.microsoft.com/office/drawing/2014/main" id="{97AD13C0-A2E0-EC50-FB1F-595875863C69}"/>
              </a:ext>
            </a:extLst>
          </p:cNvPr>
          <p:cNvSpPr/>
          <p:nvPr/>
        </p:nvSpPr>
        <p:spPr>
          <a:xfrm>
            <a:off x="6077319" y="3544252"/>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35" name="Oval 34">
            <a:extLst>
              <a:ext uri="{FF2B5EF4-FFF2-40B4-BE49-F238E27FC236}">
                <a16:creationId xmlns:a16="http://schemas.microsoft.com/office/drawing/2014/main" id="{1BE443B8-1AD0-69EC-26A2-2E3A0A3D5B46}"/>
              </a:ext>
            </a:extLst>
          </p:cNvPr>
          <p:cNvSpPr/>
          <p:nvPr/>
        </p:nvSpPr>
        <p:spPr>
          <a:xfrm>
            <a:off x="6076859" y="4080726"/>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37" name="Metin kutusu 36">
            <a:extLst>
              <a:ext uri="{FF2B5EF4-FFF2-40B4-BE49-F238E27FC236}">
                <a16:creationId xmlns:a16="http://schemas.microsoft.com/office/drawing/2014/main" id="{4BC2F533-93FD-08CD-9FAA-0FEB6347633B}"/>
              </a:ext>
            </a:extLst>
          </p:cNvPr>
          <p:cNvSpPr txBox="1"/>
          <p:nvPr/>
        </p:nvSpPr>
        <p:spPr>
          <a:xfrm>
            <a:off x="6389340" y="2954161"/>
            <a:ext cx="5313283" cy="600164"/>
          </a:xfrm>
          <a:prstGeom prst="rect">
            <a:avLst/>
          </a:prstGeom>
          <a:noFill/>
        </p:spPr>
        <p:txBody>
          <a:bodyPr wrap="square" rtlCol="0">
            <a:spAutoFit/>
          </a:bodyPr>
          <a:lstStyle/>
          <a:p>
            <a:r>
              <a:rPr lang="tr-TR" sz="1100" dirty="0"/>
              <a:t>Tesislerde katalitik N2O azaltım teknolojileri ve enerji verimliliği projeleri yatırımları yapılarak gömülü emisyonların düşürülmesi sonucunda «düşük karbonlu gübre» segmentinde AB pazarında rekabet üstünlüğü sağlanması</a:t>
            </a:r>
          </a:p>
        </p:txBody>
      </p:sp>
      <p:sp>
        <p:nvSpPr>
          <p:cNvPr id="39" name="Metin kutusu 38">
            <a:extLst>
              <a:ext uri="{FF2B5EF4-FFF2-40B4-BE49-F238E27FC236}">
                <a16:creationId xmlns:a16="http://schemas.microsoft.com/office/drawing/2014/main" id="{863F32AB-873E-535E-66E3-1755D88F8F5B}"/>
              </a:ext>
            </a:extLst>
          </p:cNvPr>
          <p:cNvSpPr txBox="1"/>
          <p:nvPr/>
        </p:nvSpPr>
        <p:spPr>
          <a:xfrm>
            <a:off x="6380199" y="3486879"/>
            <a:ext cx="5313283" cy="600164"/>
          </a:xfrm>
          <a:prstGeom prst="rect">
            <a:avLst/>
          </a:prstGeom>
          <a:noFill/>
        </p:spPr>
        <p:txBody>
          <a:bodyPr wrap="square" rtlCol="0">
            <a:spAutoFit/>
          </a:bodyPr>
          <a:lstStyle/>
          <a:p>
            <a:r>
              <a:rPr lang="tr-TR" sz="1100" dirty="0"/>
              <a:t>İklim Kanunu ve Türkiye </a:t>
            </a:r>
            <a:r>
              <a:rPr lang="tr-TR" sz="1100" dirty="0" err="1"/>
              <a:t>ETS’nin</a:t>
            </a:r>
            <a:r>
              <a:rPr lang="tr-TR" sz="1100" dirty="0"/>
              <a:t> yürürlüğe girmesiyle yurt içinde ödenen karbon fiyatlarının SKDM sertifika bedelinden mahsup edilmesi sonucu maiyet baskısının dengelenmesi</a:t>
            </a:r>
          </a:p>
        </p:txBody>
      </p:sp>
      <p:sp>
        <p:nvSpPr>
          <p:cNvPr id="41" name="Metin kutusu 40">
            <a:extLst>
              <a:ext uri="{FF2B5EF4-FFF2-40B4-BE49-F238E27FC236}">
                <a16:creationId xmlns:a16="http://schemas.microsoft.com/office/drawing/2014/main" id="{107393AF-699E-6337-179D-4FF1C5E37ACA}"/>
              </a:ext>
            </a:extLst>
          </p:cNvPr>
          <p:cNvSpPr txBox="1"/>
          <p:nvPr/>
        </p:nvSpPr>
        <p:spPr>
          <a:xfrm>
            <a:off x="6380198" y="4005064"/>
            <a:ext cx="5313283" cy="600164"/>
          </a:xfrm>
          <a:prstGeom prst="rect">
            <a:avLst/>
          </a:prstGeom>
          <a:noFill/>
        </p:spPr>
        <p:txBody>
          <a:bodyPr wrap="square" rtlCol="0">
            <a:spAutoFit/>
          </a:bodyPr>
          <a:lstStyle/>
          <a:p>
            <a:r>
              <a:rPr lang="tr-TR" sz="1100" dirty="0"/>
              <a:t>Cezalandırıcı varsayılan değerler (</a:t>
            </a:r>
            <a:r>
              <a:rPr lang="tr-TR" sz="1100" dirty="0" err="1"/>
              <a:t>default</a:t>
            </a:r>
            <a:r>
              <a:rPr lang="tr-TR" sz="1100" dirty="0"/>
              <a:t> </a:t>
            </a:r>
            <a:r>
              <a:rPr lang="tr-TR" sz="1100" dirty="0" err="1"/>
              <a:t>values</a:t>
            </a:r>
            <a:r>
              <a:rPr lang="tr-TR" sz="1100" dirty="0"/>
              <a:t>) yerine Toros </a:t>
            </a:r>
            <a:r>
              <a:rPr lang="tr-TR" sz="1100" dirty="0" err="1"/>
              <a:t>Tarım’ın</a:t>
            </a:r>
            <a:r>
              <a:rPr lang="tr-TR" sz="1100" dirty="0"/>
              <a:t> tesislerinde ölçülen ve akredite kuruluş tarafından doğrulanmış gerçek verilerin (</a:t>
            </a:r>
            <a:r>
              <a:rPr lang="tr-TR" sz="1100" dirty="0" err="1"/>
              <a:t>actual</a:t>
            </a:r>
            <a:r>
              <a:rPr lang="tr-TR" sz="1100" dirty="0"/>
              <a:t> </a:t>
            </a:r>
            <a:r>
              <a:rPr lang="tr-TR" sz="1100" dirty="0" err="1"/>
              <a:t>values</a:t>
            </a:r>
            <a:r>
              <a:rPr lang="tr-TR" sz="1100" dirty="0"/>
              <a:t>) kullanılmasıyla pazar üstünlüğü sağlanması </a:t>
            </a:r>
          </a:p>
        </p:txBody>
      </p:sp>
      <p:sp>
        <p:nvSpPr>
          <p:cNvPr id="68" name="Rectangle: Rounded Corners 4">
            <a:extLst>
              <a:ext uri="{FF2B5EF4-FFF2-40B4-BE49-F238E27FC236}">
                <a16:creationId xmlns:a16="http://schemas.microsoft.com/office/drawing/2014/main" id="{6C0F2328-6065-621C-9C99-11472AB7515A}"/>
              </a:ext>
            </a:extLst>
          </p:cNvPr>
          <p:cNvSpPr/>
          <p:nvPr/>
        </p:nvSpPr>
        <p:spPr>
          <a:xfrm>
            <a:off x="1378669" y="4782845"/>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TAMAMLANAN AKSİYONLAR</a:t>
            </a:r>
            <a:endParaRPr lang="en-US" sz="1400" b="1" dirty="0">
              <a:solidFill>
                <a:schemeClr val="bg1"/>
              </a:solidFill>
            </a:endParaRPr>
          </a:p>
        </p:txBody>
      </p:sp>
      <p:sp>
        <p:nvSpPr>
          <p:cNvPr id="70" name="Rectangle: Rounded Corners 4">
            <a:extLst>
              <a:ext uri="{FF2B5EF4-FFF2-40B4-BE49-F238E27FC236}">
                <a16:creationId xmlns:a16="http://schemas.microsoft.com/office/drawing/2014/main" id="{0C324F75-1C8F-179F-8B4F-26BCD8D1C8BB}"/>
              </a:ext>
            </a:extLst>
          </p:cNvPr>
          <p:cNvSpPr/>
          <p:nvPr/>
        </p:nvSpPr>
        <p:spPr>
          <a:xfrm>
            <a:off x="7280349" y="4736616"/>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DEVAM EDEN AKSİYONLAR</a:t>
            </a:r>
            <a:endParaRPr lang="en-US" sz="1400" b="1" dirty="0">
              <a:solidFill>
                <a:schemeClr val="bg1"/>
              </a:solidFill>
            </a:endParaRPr>
          </a:p>
        </p:txBody>
      </p:sp>
      <p:sp>
        <p:nvSpPr>
          <p:cNvPr id="71" name="Metin kutusu 70">
            <a:extLst>
              <a:ext uri="{FF2B5EF4-FFF2-40B4-BE49-F238E27FC236}">
                <a16:creationId xmlns:a16="http://schemas.microsoft.com/office/drawing/2014/main" id="{A7DDC9C4-521F-458F-33D4-E81EF24205C1}"/>
              </a:ext>
            </a:extLst>
          </p:cNvPr>
          <p:cNvSpPr txBox="1"/>
          <p:nvPr/>
        </p:nvSpPr>
        <p:spPr>
          <a:xfrm>
            <a:off x="285334" y="5054688"/>
            <a:ext cx="5522634" cy="1107996"/>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Geçiş döneminde zorunlu kılınan çeyreklik doğrulanmamış emisyon raporlarının hazırlanması ve AB ithalatçılarına sunulması</a:t>
            </a:r>
          </a:p>
          <a:p>
            <a:pPr marL="171450" indent="-171450">
              <a:buFont typeface="Wingdings" panose="05000000000000000000" pitchFamily="2" charset="2"/>
              <a:buChar char="Ø"/>
            </a:pPr>
            <a:r>
              <a:rPr lang="tr-TR" sz="1100" dirty="0"/>
              <a:t>Romanya’da bulunan </a:t>
            </a:r>
            <a:r>
              <a:rPr lang="tr-TR" sz="1100" dirty="0" err="1"/>
              <a:t>Agroport</a:t>
            </a:r>
            <a:r>
              <a:rPr lang="tr-TR" sz="1100" dirty="0"/>
              <a:t> için CBAM </a:t>
            </a:r>
            <a:r>
              <a:rPr lang="tr-TR" sz="1100" dirty="0" err="1"/>
              <a:t>Sicili’ne</a:t>
            </a:r>
            <a:r>
              <a:rPr lang="tr-TR" sz="1100" dirty="0"/>
              <a:t> kayıt olunması</a:t>
            </a:r>
          </a:p>
          <a:p>
            <a:pPr marL="171450" indent="-171450">
              <a:buFont typeface="Wingdings" panose="05000000000000000000" pitchFamily="2" charset="2"/>
              <a:buChar char="Ø"/>
            </a:pPr>
            <a:r>
              <a:rPr lang="tr-TR" sz="1100" dirty="0"/>
              <a:t>Güncel SKDM sertifika fiyatına göre Toros Tarım iç karbon fiyat analizinin yapılması ve farklı ürünler için olası maliyet etkilerinin gözlemlenmesi </a:t>
            </a:r>
          </a:p>
          <a:p>
            <a:pPr marL="171450" indent="-171450">
              <a:buFont typeface="Wingdings" panose="05000000000000000000" pitchFamily="2" charset="2"/>
              <a:buChar char="Ø"/>
            </a:pPr>
            <a:endParaRPr lang="tr-TR" sz="1100" dirty="0"/>
          </a:p>
        </p:txBody>
      </p:sp>
      <p:sp>
        <p:nvSpPr>
          <p:cNvPr id="73" name="Metin kutusu 72">
            <a:extLst>
              <a:ext uri="{FF2B5EF4-FFF2-40B4-BE49-F238E27FC236}">
                <a16:creationId xmlns:a16="http://schemas.microsoft.com/office/drawing/2014/main" id="{5A2495A1-D0FD-EE5F-1D59-FB17C7A4B434}"/>
              </a:ext>
            </a:extLst>
          </p:cNvPr>
          <p:cNvSpPr txBox="1"/>
          <p:nvPr/>
        </p:nvSpPr>
        <p:spPr>
          <a:xfrm>
            <a:off x="5993255" y="4981616"/>
            <a:ext cx="5522634" cy="1277273"/>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Dışarıdan alınan öncül maddeler için tedarikçilerden akredite doğrulama raporu alınması</a:t>
            </a:r>
          </a:p>
          <a:p>
            <a:pPr marL="171450" indent="-171450">
              <a:buFont typeface="Wingdings" panose="05000000000000000000" pitchFamily="2" charset="2"/>
              <a:buChar char="Ø"/>
            </a:pPr>
            <a:r>
              <a:rPr lang="tr-TR" sz="1100" dirty="0"/>
              <a:t>Geçiş dönemi boyunca tarafımızca hesaplanan ve raporlanan Kapsam 1 ve Kapsam 2 gömülü emisyonlarının bir ön-doğrulayıcı kuruluş tarafından ön-doğrulamasının yapılması ve mevcut durumun analiz edilmesi, ilerleyen dönemde akredite firma tarafından yıllık olarak doğrulanması</a:t>
            </a:r>
          </a:p>
          <a:p>
            <a:pPr marL="171450" indent="-171450">
              <a:buFont typeface="Wingdings" panose="05000000000000000000" pitchFamily="2" charset="2"/>
              <a:buChar char="Ø"/>
            </a:pPr>
            <a:r>
              <a:rPr lang="tr-TR" sz="1100" dirty="0"/>
              <a:t>Tesisin tüm veri kaynaklarını, ölçüm cihazlarını, üretim süreçlerini ve öncül maddelerini şeffaf şekilde belgeleyen bir İzleme Planı oluşturulması</a:t>
            </a:r>
          </a:p>
        </p:txBody>
      </p:sp>
      <p:pic>
        <p:nvPicPr>
          <p:cNvPr id="75" name="Grafik 74" descr="Bilgi düz dolguyla">
            <a:extLst>
              <a:ext uri="{FF2B5EF4-FFF2-40B4-BE49-F238E27FC236}">
                <a16:creationId xmlns:a16="http://schemas.microsoft.com/office/drawing/2014/main" id="{5ED27FED-4AF0-B6D4-7CA5-79B35BEC296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32" y="999904"/>
            <a:ext cx="914400" cy="914400"/>
          </a:xfrm>
          <a:prstGeom prst="rect">
            <a:avLst/>
          </a:prstGeom>
        </p:spPr>
      </p:pic>
      <p:sp>
        <p:nvSpPr>
          <p:cNvPr id="5" name="Dikdörtgen 4">
            <a:extLst>
              <a:ext uri="{FF2B5EF4-FFF2-40B4-BE49-F238E27FC236}">
                <a16:creationId xmlns:a16="http://schemas.microsoft.com/office/drawing/2014/main" id="{B82AFD66-AE72-4AD4-66E6-9D197E3E9684}"/>
              </a:ext>
            </a:extLst>
          </p:cNvPr>
          <p:cNvSpPr/>
          <p:nvPr/>
        </p:nvSpPr>
        <p:spPr>
          <a:xfrm>
            <a:off x="6672064" y="999904"/>
            <a:ext cx="3456384" cy="912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t>Bir önceki slayttaki en önemli 2 tanesi açıklanacak	- Bahadır Sucu</a:t>
            </a:r>
          </a:p>
        </p:txBody>
      </p:sp>
    </p:spTree>
    <p:extLst>
      <p:ext uri="{BB962C8B-B14F-4D97-AF65-F5344CB8AC3E}">
        <p14:creationId xmlns:p14="http://schemas.microsoft.com/office/powerpoint/2010/main" val="1294480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AC200-2B3A-8C59-8843-D2E3DD8AD84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76D7849-4B22-E4BB-291F-982B8F38CEF3}"/>
              </a:ext>
            </a:extLst>
          </p:cNvPr>
          <p:cNvSpPr>
            <a:spLocks noGrp="1"/>
          </p:cNvSpPr>
          <p:nvPr>
            <p:ph type="title"/>
          </p:nvPr>
        </p:nvSpPr>
        <p:spPr/>
        <p:txBody>
          <a:bodyPr/>
          <a:lstStyle/>
          <a:p>
            <a:r>
              <a:rPr lang="tr-TR" b="1" i="1" dirty="0"/>
              <a:t>AB Sınırda Karbon Düzenleme Mekanizması (SKDM/CBAM)</a:t>
            </a:r>
          </a:p>
        </p:txBody>
      </p:sp>
      <p:sp>
        <p:nvSpPr>
          <p:cNvPr id="4" name="Slayt Numarası Yer Tutucusu 3">
            <a:extLst>
              <a:ext uri="{FF2B5EF4-FFF2-40B4-BE49-F238E27FC236}">
                <a16:creationId xmlns:a16="http://schemas.microsoft.com/office/drawing/2014/main" id="{4FCD69D6-C737-B077-37D2-1E2A680D3B63}"/>
              </a:ext>
            </a:extLst>
          </p:cNvPr>
          <p:cNvSpPr>
            <a:spLocks noGrp="1"/>
          </p:cNvSpPr>
          <p:nvPr>
            <p:ph type="sldNum" sz="quarter" idx="4"/>
          </p:nvPr>
        </p:nvSpPr>
        <p:spPr/>
        <p:txBody>
          <a:bodyPr/>
          <a:lstStyle/>
          <a:p>
            <a:fld id="{42CA6F85-893A-4FE1-8820-DAA50ABDC7DA}" type="slidenum">
              <a:rPr lang="tr-TR" smtClean="0"/>
              <a:pPr/>
              <a:t>6</a:t>
            </a:fld>
            <a:endParaRPr lang="tr-TR"/>
          </a:p>
        </p:txBody>
      </p:sp>
      <p:sp>
        <p:nvSpPr>
          <p:cNvPr id="7" name="Metin kutusu 6">
            <a:extLst>
              <a:ext uri="{FF2B5EF4-FFF2-40B4-BE49-F238E27FC236}">
                <a16:creationId xmlns:a16="http://schemas.microsoft.com/office/drawing/2014/main" id="{5F77B772-E8FE-C154-C524-01D871708FB7}"/>
              </a:ext>
            </a:extLst>
          </p:cNvPr>
          <p:cNvSpPr txBox="1"/>
          <p:nvPr/>
        </p:nvSpPr>
        <p:spPr>
          <a:xfrm>
            <a:off x="1559496" y="838444"/>
            <a:ext cx="10042648" cy="1169551"/>
          </a:xfrm>
          <a:prstGeom prst="rect">
            <a:avLst/>
          </a:prstGeom>
          <a:noFill/>
        </p:spPr>
        <p:txBody>
          <a:bodyPr wrap="square" rtlCol="0">
            <a:spAutoFit/>
          </a:bodyPr>
          <a:lstStyle/>
          <a:p>
            <a:r>
              <a:rPr lang="tr-TR" sz="1400" b="1" dirty="0"/>
              <a:t>GENEL BİLGİLER</a:t>
            </a:r>
          </a:p>
          <a:p>
            <a:pPr marL="285750" indent="-285750">
              <a:buFont typeface="Wingdings" panose="05000000000000000000" pitchFamily="2" charset="2"/>
              <a:buChar char="Ø"/>
            </a:pPr>
            <a:r>
              <a:rPr lang="tr-TR" sz="1400" dirty="0"/>
              <a:t>EU 2023/956 sayılı Tüzük, AB Resmi Gazetesi’nde 16 Mayıs 2023 tarihinde yayımlanmıştır.</a:t>
            </a:r>
          </a:p>
          <a:p>
            <a:pPr marL="285750" indent="-285750">
              <a:buFont typeface="Wingdings" panose="05000000000000000000" pitchFamily="2" charset="2"/>
              <a:buChar char="Ø"/>
            </a:pPr>
            <a:r>
              <a:rPr lang="tr-TR" sz="1400" dirty="0"/>
              <a:t>SKDM aracılığıyla AB ilk aşamada çimento, demir-çelik, alüminyum, gübre, hidrojen ve elektrik sektörlerine ilişkin yerli ve ithal ürünlerin tabi olduğu karbon bedelini eşitlemeyi amaçlamaktadır.</a:t>
            </a:r>
          </a:p>
          <a:p>
            <a:pPr marL="285750" indent="-285750">
              <a:buFont typeface="Wingdings" panose="05000000000000000000" pitchFamily="2" charset="2"/>
              <a:buChar char="Ø"/>
            </a:pPr>
            <a:r>
              <a:rPr lang="tr-TR" sz="1400" dirty="0"/>
              <a:t>Regülasyon karbon kaçağını önlemek ve adil rekabet koşullarında düşük karbonlu üretimi teşvik etmektedir.</a:t>
            </a:r>
          </a:p>
        </p:txBody>
      </p:sp>
      <p:sp>
        <p:nvSpPr>
          <p:cNvPr id="3" name="Rectangle 2">
            <a:extLst>
              <a:ext uri="{FF2B5EF4-FFF2-40B4-BE49-F238E27FC236}">
                <a16:creationId xmlns:a16="http://schemas.microsoft.com/office/drawing/2014/main" id="{F176DE18-AB09-F1A3-B1B2-5FF29DEBCBF0}"/>
              </a:ext>
            </a:extLst>
          </p:cNvPr>
          <p:cNvSpPr/>
          <p:nvPr/>
        </p:nvSpPr>
        <p:spPr>
          <a:xfrm>
            <a:off x="110757" y="2608949"/>
            <a:ext cx="11767864" cy="206984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4">
            <a:extLst>
              <a:ext uri="{FF2B5EF4-FFF2-40B4-BE49-F238E27FC236}">
                <a16:creationId xmlns:a16="http://schemas.microsoft.com/office/drawing/2014/main" id="{4E010A04-FF54-1B26-3D2C-11089878D43A}"/>
              </a:ext>
            </a:extLst>
          </p:cNvPr>
          <p:cNvSpPr/>
          <p:nvPr/>
        </p:nvSpPr>
        <p:spPr>
          <a:xfrm>
            <a:off x="137866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RİSKLER</a:t>
            </a:r>
          </a:p>
        </p:txBody>
      </p:sp>
      <p:sp>
        <p:nvSpPr>
          <p:cNvPr id="9" name="Rectangle 8">
            <a:extLst>
              <a:ext uri="{FF2B5EF4-FFF2-40B4-BE49-F238E27FC236}">
                <a16:creationId xmlns:a16="http://schemas.microsoft.com/office/drawing/2014/main" id="{5C2733AB-9541-32E1-1F13-8D11AEC57986}"/>
              </a:ext>
            </a:extLst>
          </p:cNvPr>
          <p:cNvSpPr/>
          <p:nvPr/>
        </p:nvSpPr>
        <p:spPr>
          <a:xfrm>
            <a:off x="285334" y="2918338"/>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11" name="Rectangle: Rounded Corners 18">
            <a:extLst>
              <a:ext uri="{FF2B5EF4-FFF2-40B4-BE49-F238E27FC236}">
                <a16:creationId xmlns:a16="http://schemas.microsoft.com/office/drawing/2014/main" id="{E3FF1A1B-0EB2-07A6-845E-46990A930ED1}"/>
              </a:ext>
            </a:extLst>
          </p:cNvPr>
          <p:cNvSpPr/>
          <p:nvPr/>
        </p:nvSpPr>
        <p:spPr>
          <a:xfrm>
            <a:off x="728034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FIRSATLAR</a:t>
            </a:r>
          </a:p>
        </p:txBody>
      </p:sp>
      <p:sp>
        <p:nvSpPr>
          <p:cNvPr id="14" name="Rectangle 17">
            <a:extLst>
              <a:ext uri="{FF2B5EF4-FFF2-40B4-BE49-F238E27FC236}">
                <a16:creationId xmlns:a16="http://schemas.microsoft.com/office/drawing/2014/main" id="{946E9C8A-1BE1-AE17-FEA0-49E03C6C30AA}"/>
              </a:ext>
            </a:extLst>
          </p:cNvPr>
          <p:cNvSpPr/>
          <p:nvPr/>
        </p:nvSpPr>
        <p:spPr>
          <a:xfrm>
            <a:off x="119336" y="2195235"/>
            <a:ext cx="11747839" cy="368784"/>
          </a:xfrm>
          <a:prstGeom prst="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527175" indent="-1527175" algn="ctr"/>
            <a:r>
              <a:rPr lang="tr-TR" sz="1600" b="1" dirty="0">
                <a:solidFill>
                  <a:schemeClr val="bg1"/>
                </a:solidFill>
              </a:rPr>
              <a:t>RİSKLER/FIRSATLAR</a:t>
            </a:r>
            <a:endParaRPr lang="en-US" sz="1600" dirty="0">
              <a:solidFill>
                <a:schemeClr val="bg1"/>
              </a:solidFill>
            </a:endParaRPr>
          </a:p>
        </p:txBody>
      </p:sp>
      <p:sp>
        <p:nvSpPr>
          <p:cNvPr id="15" name="Oval 14">
            <a:extLst>
              <a:ext uri="{FF2B5EF4-FFF2-40B4-BE49-F238E27FC236}">
                <a16:creationId xmlns:a16="http://schemas.microsoft.com/office/drawing/2014/main" id="{F00447C1-62D9-D34C-1FF2-73BE759A664D}"/>
              </a:ext>
            </a:extLst>
          </p:cNvPr>
          <p:cNvSpPr/>
          <p:nvPr/>
        </p:nvSpPr>
        <p:spPr>
          <a:xfrm>
            <a:off x="285793" y="2985810"/>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16" name="Oval 15">
            <a:extLst>
              <a:ext uri="{FF2B5EF4-FFF2-40B4-BE49-F238E27FC236}">
                <a16:creationId xmlns:a16="http://schemas.microsoft.com/office/drawing/2014/main" id="{447397A2-CB6C-D480-4057-D0BC7FDFE6A7}"/>
              </a:ext>
            </a:extLst>
          </p:cNvPr>
          <p:cNvSpPr/>
          <p:nvPr/>
        </p:nvSpPr>
        <p:spPr>
          <a:xfrm>
            <a:off x="276653" y="3529237"/>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17" name="Oval 16">
            <a:extLst>
              <a:ext uri="{FF2B5EF4-FFF2-40B4-BE49-F238E27FC236}">
                <a16:creationId xmlns:a16="http://schemas.microsoft.com/office/drawing/2014/main" id="{DAF70228-5964-29A8-DF10-74A866B5E788}"/>
              </a:ext>
            </a:extLst>
          </p:cNvPr>
          <p:cNvSpPr/>
          <p:nvPr/>
        </p:nvSpPr>
        <p:spPr>
          <a:xfrm>
            <a:off x="276193" y="406571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19" name="Metin kutusu 18">
            <a:extLst>
              <a:ext uri="{FF2B5EF4-FFF2-40B4-BE49-F238E27FC236}">
                <a16:creationId xmlns:a16="http://schemas.microsoft.com/office/drawing/2014/main" id="{9A8B7C70-143F-9BDD-9D6B-749EB1FF2B34}"/>
              </a:ext>
            </a:extLst>
          </p:cNvPr>
          <p:cNvSpPr txBox="1"/>
          <p:nvPr/>
        </p:nvSpPr>
        <p:spPr>
          <a:xfrm>
            <a:off x="588674" y="2939146"/>
            <a:ext cx="5313283" cy="600164"/>
          </a:xfrm>
          <a:prstGeom prst="rect">
            <a:avLst/>
          </a:prstGeom>
          <a:noFill/>
        </p:spPr>
        <p:txBody>
          <a:bodyPr wrap="square" rtlCol="0">
            <a:spAutoFit/>
          </a:bodyPr>
          <a:lstStyle/>
          <a:p>
            <a:r>
              <a:rPr lang="tr-TR" sz="1100" dirty="0"/>
              <a:t>Proses emisyonlarının düşürülememesi ve </a:t>
            </a:r>
            <a:r>
              <a:rPr lang="tr-TR" sz="1100" dirty="0" err="1"/>
              <a:t>karbonsuzlaşma</a:t>
            </a:r>
            <a:r>
              <a:rPr lang="tr-TR" sz="1100" dirty="0"/>
              <a:t> yatırımlarını tamamlayan diğer üreticilerin emisyon maliyeti avantajı yakalaması durumunda AB pazarında olası ihracat marjı daralması ve pazar payı kaybı.</a:t>
            </a:r>
          </a:p>
        </p:txBody>
      </p:sp>
      <p:sp>
        <p:nvSpPr>
          <p:cNvPr id="25" name="Metin kutusu 24">
            <a:extLst>
              <a:ext uri="{FF2B5EF4-FFF2-40B4-BE49-F238E27FC236}">
                <a16:creationId xmlns:a16="http://schemas.microsoft.com/office/drawing/2014/main" id="{D723C832-6419-C767-4A6D-6E290FB52BD0}"/>
              </a:ext>
            </a:extLst>
          </p:cNvPr>
          <p:cNvSpPr txBox="1"/>
          <p:nvPr/>
        </p:nvSpPr>
        <p:spPr>
          <a:xfrm>
            <a:off x="579533" y="3501008"/>
            <a:ext cx="5313283" cy="600164"/>
          </a:xfrm>
          <a:prstGeom prst="rect">
            <a:avLst/>
          </a:prstGeom>
          <a:noFill/>
        </p:spPr>
        <p:txBody>
          <a:bodyPr wrap="square" rtlCol="0">
            <a:spAutoFit/>
          </a:bodyPr>
          <a:lstStyle/>
          <a:p>
            <a:r>
              <a:rPr lang="tr-TR" sz="1100" dirty="0"/>
              <a:t>Öncül girdilerin (ithal hammadde ve ara girdilerin) emisyon verilerinin yüksek olması ya da belgelenememesi sonucu ürün emisyonu hesaplamada varsayılan değerler (</a:t>
            </a:r>
            <a:r>
              <a:rPr lang="tr-TR" sz="1100" dirty="0" err="1"/>
              <a:t>default</a:t>
            </a:r>
            <a:r>
              <a:rPr lang="tr-TR" sz="1100" dirty="0"/>
              <a:t> </a:t>
            </a:r>
            <a:r>
              <a:rPr lang="tr-TR" sz="1100" dirty="0" err="1"/>
              <a:t>values</a:t>
            </a:r>
            <a:r>
              <a:rPr lang="tr-TR" sz="1100" dirty="0"/>
              <a:t>) kullanılmasını gerektirmesi</a:t>
            </a:r>
          </a:p>
        </p:txBody>
      </p:sp>
      <p:sp>
        <p:nvSpPr>
          <p:cNvPr id="27" name="Metin kutusu 26">
            <a:extLst>
              <a:ext uri="{FF2B5EF4-FFF2-40B4-BE49-F238E27FC236}">
                <a16:creationId xmlns:a16="http://schemas.microsoft.com/office/drawing/2014/main" id="{A3737416-C4EA-61A4-D9D2-88BAE4B2F139}"/>
              </a:ext>
            </a:extLst>
          </p:cNvPr>
          <p:cNvSpPr txBox="1"/>
          <p:nvPr/>
        </p:nvSpPr>
        <p:spPr>
          <a:xfrm>
            <a:off x="579532" y="4078625"/>
            <a:ext cx="5313283" cy="600164"/>
          </a:xfrm>
          <a:prstGeom prst="rect">
            <a:avLst/>
          </a:prstGeom>
          <a:noFill/>
        </p:spPr>
        <p:txBody>
          <a:bodyPr wrap="square" rtlCol="0">
            <a:spAutoFit/>
          </a:bodyPr>
          <a:lstStyle/>
          <a:p>
            <a:r>
              <a:rPr lang="tr-TR" sz="1100" dirty="0"/>
              <a:t>Bağımsız doğrulayıcılar tarafından gerçek verilerin (</a:t>
            </a:r>
            <a:r>
              <a:rPr lang="tr-TR" sz="1100" dirty="0" err="1"/>
              <a:t>actual</a:t>
            </a:r>
            <a:r>
              <a:rPr lang="tr-TR" sz="1100" dirty="0"/>
              <a:t> </a:t>
            </a:r>
            <a:r>
              <a:rPr lang="tr-TR" sz="1100" dirty="0" err="1"/>
              <a:t>emission</a:t>
            </a:r>
            <a:r>
              <a:rPr lang="tr-TR" sz="1100" dirty="0"/>
              <a:t> data) denetlenmesi ve SKDM </a:t>
            </a:r>
            <a:r>
              <a:rPr lang="tr-TR" sz="1100" dirty="0" err="1"/>
              <a:t>Sicili’ne</a:t>
            </a:r>
            <a:r>
              <a:rPr lang="tr-TR" sz="1100" dirty="0"/>
              <a:t> yüklenmesi süreçlerindeki olası metodolojik aksaklıklar sonucu gümrükte ceza veya ithalat durdurma riskleri</a:t>
            </a:r>
          </a:p>
        </p:txBody>
      </p:sp>
      <p:sp>
        <p:nvSpPr>
          <p:cNvPr id="29" name="Rectangle 8">
            <a:extLst>
              <a:ext uri="{FF2B5EF4-FFF2-40B4-BE49-F238E27FC236}">
                <a16:creationId xmlns:a16="http://schemas.microsoft.com/office/drawing/2014/main" id="{8F96498C-0499-6A06-9A67-F6A16060A897}"/>
              </a:ext>
            </a:extLst>
          </p:cNvPr>
          <p:cNvSpPr/>
          <p:nvPr/>
        </p:nvSpPr>
        <p:spPr>
          <a:xfrm>
            <a:off x="6086000" y="2933353"/>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31" name="Oval 30">
            <a:extLst>
              <a:ext uri="{FF2B5EF4-FFF2-40B4-BE49-F238E27FC236}">
                <a16:creationId xmlns:a16="http://schemas.microsoft.com/office/drawing/2014/main" id="{A09043F5-E74E-4912-D3BC-B108770A553F}"/>
              </a:ext>
            </a:extLst>
          </p:cNvPr>
          <p:cNvSpPr/>
          <p:nvPr/>
        </p:nvSpPr>
        <p:spPr>
          <a:xfrm>
            <a:off x="6086459" y="300082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33" name="Oval 32">
            <a:extLst>
              <a:ext uri="{FF2B5EF4-FFF2-40B4-BE49-F238E27FC236}">
                <a16:creationId xmlns:a16="http://schemas.microsoft.com/office/drawing/2014/main" id="{3D8AA79D-5BBB-F61C-05B3-F1BB45F2F2F7}"/>
              </a:ext>
            </a:extLst>
          </p:cNvPr>
          <p:cNvSpPr/>
          <p:nvPr/>
        </p:nvSpPr>
        <p:spPr>
          <a:xfrm>
            <a:off x="6077319" y="3544252"/>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35" name="Oval 34">
            <a:extLst>
              <a:ext uri="{FF2B5EF4-FFF2-40B4-BE49-F238E27FC236}">
                <a16:creationId xmlns:a16="http://schemas.microsoft.com/office/drawing/2014/main" id="{D0BCAB89-1108-61DF-0FF2-01D6085D836C}"/>
              </a:ext>
            </a:extLst>
          </p:cNvPr>
          <p:cNvSpPr/>
          <p:nvPr/>
        </p:nvSpPr>
        <p:spPr>
          <a:xfrm>
            <a:off x="6076859" y="4080726"/>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37" name="Metin kutusu 36">
            <a:extLst>
              <a:ext uri="{FF2B5EF4-FFF2-40B4-BE49-F238E27FC236}">
                <a16:creationId xmlns:a16="http://schemas.microsoft.com/office/drawing/2014/main" id="{C8EA161E-4990-F230-15B9-98690C421095}"/>
              </a:ext>
            </a:extLst>
          </p:cNvPr>
          <p:cNvSpPr txBox="1"/>
          <p:nvPr/>
        </p:nvSpPr>
        <p:spPr>
          <a:xfrm>
            <a:off x="6389340" y="2954161"/>
            <a:ext cx="5313283" cy="600164"/>
          </a:xfrm>
          <a:prstGeom prst="rect">
            <a:avLst/>
          </a:prstGeom>
          <a:noFill/>
        </p:spPr>
        <p:txBody>
          <a:bodyPr wrap="square" rtlCol="0">
            <a:spAutoFit/>
          </a:bodyPr>
          <a:lstStyle/>
          <a:p>
            <a:r>
              <a:rPr lang="tr-TR" sz="1100" dirty="0"/>
              <a:t>Tesislerde katalitik N2O azaltım teknolojileri ve enerji verimliliği projeleri yatırımları yapılarak gömülü emisyonların düşürülmesi sonucunda «düşük karbonlu gübre» segmentinde AB pazarında rekabet üstünlüğü sağlanması</a:t>
            </a:r>
          </a:p>
        </p:txBody>
      </p:sp>
      <p:sp>
        <p:nvSpPr>
          <p:cNvPr id="39" name="Metin kutusu 38">
            <a:extLst>
              <a:ext uri="{FF2B5EF4-FFF2-40B4-BE49-F238E27FC236}">
                <a16:creationId xmlns:a16="http://schemas.microsoft.com/office/drawing/2014/main" id="{B921A8AC-0BFF-75F8-9BAB-1F63274B201C}"/>
              </a:ext>
            </a:extLst>
          </p:cNvPr>
          <p:cNvSpPr txBox="1"/>
          <p:nvPr/>
        </p:nvSpPr>
        <p:spPr>
          <a:xfrm>
            <a:off x="6380199" y="3486879"/>
            <a:ext cx="5313283" cy="600164"/>
          </a:xfrm>
          <a:prstGeom prst="rect">
            <a:avLst/>
          </a:prstGeom>
          <a:noFill/>
        </p:spPr>
        <p:txBody>
          <a:bodyPr wrap="square" rtlCol="0">
            <a:spAutoFit/>
          </a:bodyPr>
          <a:lstStyle/>
          <a:p>
            <a:r>
              <a:rPr lang="tr-TR" sz="1100" dirty="0"/>
              <a:t>İklim Kanunu ve Türkiye </a:t>
            </a:r>
            <a:r>
              <a:rPr lang="tr-TR" sz="1100" dirty="0" err="1"/>
              <a:t>ETS’nin</a:t>
            </a:r>
            <a:r>
              <a:rPr lang="tr-TR" sz="1100" dirty="0"/>
              <a:t> yürürlüğe girmesiyle yurt içinde ödenen karbon fiyatlarının SKDM sertifika bedelinden mahsup edilmesi sonucu maiyet baskısının dengelenmesi</a:t>
            </a:r>
          </a:p>
        </p:txBody>
      </p:sp>
      <p:sp>
        <p:nvSpPr>
          <p:cNvPr id="41" name="Metin kutusu 40">
            <a:extLst>
              <a:ext uri="{FF2B5EF4-FFF2-40B4-BE49-F238E27FC236}">
                <a16:creationId xmlns:a16="http://schemas.microsoft.com/office/drawing/2014/main" id="{A1E26F0B-0D58-560A-4364-4A884CA1BD76}"/>
              </a:ext>
            </a:extLst>
          </p:cNvPr>
          <p:cNvSpPr txBox="1"/>
          <p:nvPr/>
        </p:nvSpPr>
        <p:spPr>
          <a:xfrm>
            <a:off x="6380198" y="4005064"/>
            <a:ext cx="5313283" cy="600164"/>
          </a:xfrm>
          <a:prstGeom prst="rect">
            <a:avLst/>
          </a:prstGeom>
          <a:noFill/>
        </p:spPr>
        <p:txBody>
          <a:bodyPr wrap="square" rtlCol="0">
            <a:spAutoFit/>
          </a:bodyPr>
          <a:lstStyle/>
          <a:p>
            <a:r>
              <a:rPr lang="tr-TR" sz="1100" dirty="0"/>
              <a:t>Cezalandırıcı varsayılan değerler (</a:t>
            </a:r>
            <a:r>
              <a:rPr lang="tr-TR" sz="1100" dirty="0" err="1"/>
              <a:t>default</a:t>
            </a:r>
            <a:r>
              <a:rPr lang="tr-TR" sz="1100" dirty="0"/>
              <a:t> </a:t>
            </a:r>
            <a:r>
              <a:rPr lang="tr-TR" sz="1100" dirty="0" err="1"/>
              <a:t>values</a:t>
            </a:r>
            <a:r>
              <a:rPr lang="tr-TR" sz="1100" dirty="0"/>
              <a:t>) yerine Toros </a:t>
            </a:r>
            <a:r>
              <a:rPr lang="tr-TR" sz="1100" dirty="0" err="1"/>
              <a:t>Tarım’ın</a:t>
            </a:r>
            <a:r>
              <a:rPr lang="tr-TR" sz="1100" dirty="0"/>
              <a:t> tesislerinde ölçülen ve akredite kuruluş tarafından doğrulanmış gerçek verilerin (</a:t>
            </a:r>
            <a:r>
              <a:rPr lang="tr-TR" sz="1100" dirty="0" err="1"/>
              <a:t>actual</a:t>
            </a:r>
            <a:r>
              <a:rPr lang="tr-TR" sz="1100" dirty="0"/>
              <a:t> </a:t>
            </a:r>
            <a:r>
              <a:rPr lang="tr-TR" sz="1100" dirty="0" err="1"/>
              <a:t>values</a:t>
            </a:r>
            <a:r>
              <a:rPr lang="tr-TR" sz="1100" dirty="0"/>
              <a:t>) kullanılmasıyla pazar üstünlüğü sağlanması </a:t>
            </a:r>
          </a:p>
        </p:txBody>
      </p:sp>
      <p:sp>
        <p:nvSpPr>
          <p:cNvPr id="68" name="Rectangle: Rounded Corners 4">
            <a:extLst>
              <a:ext uri="{FF2B5EF4-FFF2-40B4-BE49-F238E27FC236}">
                <a16:creationId xmlns:a16="http://schemas.microsoft.com/office/drawing/2014/main" id="{2F77D7CD-088F-A034-A002-7CC07B67C6D0}"/>
              </a:ext>
            </a:extLst>
          </p:cNvPr>
          <p:cNvSpPr/>
          <p:nvPr/>
        </p:nvSpPr>
        <p:spPr>
          <a:xfrm>
            <a:off x="1378669" y="4782845"/>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TAMAMLANAN AKSİYONLAR</a:t>
            </a:r>
            <a:endParaRPr lang="en-US" sz="1400" b="1" dirty="0">
              <a:solidFill>
                <a:schemeClr val="bg1"/>
              </a:solidFill>
            </a:endParaRPr>
          </a:p>
        </p:txBody>
      </p:sp>
      <p:sp>
        <p:nvSpPr>
          <p:cNvPr id="70" name="Rectangle: Rounded Corners 4">
            <a:extLst>
              <a:ext uri="{FF2B5EF4-FFF2-40B4-BE49-F238E27FC236}">
                <a16:creationId xmlns:a16="http://schemas.microsoft.com/office/drawing/2014/main" id="{31A4A5C7-A54B-FE1D-5C71-FF529EE29685}"/>
              </a:ext>
            </a:extLst>
          </p:cNvPr>
          <p:cNvSpPr/>
          <p:nvPr/>
        </p:nvSpPr>
        <p:spPr>
          <a:xfrm>
            <a:off x="7280349" y="4736616"/>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DEVAM EDEN AKSİYONLAR</a:t>
            </a:r>
            <a:endParaRPr lang="en-US" sz="1400" b="1" dirty="0">
              <a:solidFill>
                <a:schemeClr val="bg1"/>
              </a:solidFill>
            </a:endParaRPr>
          </a:p>
        </p:txBody>
      </p:sp>
      <p:sp>
        <p:nvSpPr>
          <p:cNvPr id="71" name="Metin kutusu 70">
            <a:extLst>
              <a:ext uri="{FF2B5EF4-FFF2-40B4-BE49-F238E27FC236}">
                <a16:creationId xmlns:a16="http://schemas.microsoft.com/office/drawing/2014/main" id="{9C8EA805-525F-2CD0-23DE-028EEC4986C8}"/>
              </a:ext>
            </a:extLst>
          </p:cNvPr>
          <p:cNvSpPr txBox="1"/>
          <p:nvPr/>
        </p:nvSpPr>
        <p:spPr>
          <a:xfrm>
            <a:off x="285334" y="5054688"/>
            <a:ext cx="5522634" cy="1107996"/>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Geçiş döneminde zorunlu kılınan çeyreklik doğrulanmamış emisyon raporlarının hazırlanması ve AB ithalatçılarına sunulması</a:t>
            </a:r>
          </a:p>
          <a:p>
            <a:pPr marL="171450" indent="-171450">
              <a:buFont typeface="Wingdings" panose="05000000000000000000" pitchFamily="2" charset="2"/>
              <a:buChar char="Ø"/>
            </a:pPr>
            <a:r>
              <a:rPr lang="tr-TR" sz="1100" dirty="0"/>
              <a:t>Romanya’da bulunan </a:t>
            </a:r>
            <a:r>
              <a:rPr lang="tr-TR" sz="1100" dirty="0" err="1"/>
              <a:t>Agroport</a:t>
            </a:r>
            <a:r>
              <a:rPr lang="tr-TR" sz="1100" dirty="0"/>
              <a:t> için CBAM </a:t>
            </a:r>
            <a:r>
              <a:rPr lang="tr-TR" sz="1100" dirty="0" err="1"/>
              <a:t>Sicili’ne</a:t>
            </a:r>
            <a:r>
              <a:rPr lang="tr-TR" sz="1100" dirty="0"/>
              <a:t> kayıt olunması</a:t>
            </a:r>
          </a:p>
          <a:p>
            <a:pPr marL="171450" indent="-171450">
              <a:buFont typeface="Wingdings" panose="05000000000000000000" pitchFamily="2" charset="2"/>
              <a:buChar char="Ø"/>
            </a:pPr>
            <a:r>
              <a:rPr lang="tr-TR" sz="1100" dirty="0"/>
              <a:t>Güncel SKDM sertifika fiyatına göre Toros Tarım iç karbon fiyat analizinin yapılması ve farklı ürünler için olası maliyet etkilerinin gözlemlenmesi </a:t>
            </a:r>
          </a:p>
          <a:p>
            <a:pPr marL="171450" indent="-171450">
              <a:buFont typeface="Wingdings" panose="05000000000000000000" pitchFamily="2" charset="2"/>
              <a:buChar char="Ø"/>
            </a:pPr>
            <a:endParaRPr lang="tr-TR" sz="1100" dirty="0"/>
          </a:p>
        </p:txBody>
      </p:sp>
      <p:sp>
        <p:nvSpPr>
          <p:cNvPr id="73" name="Metin kutusu 72">
            <a:extLst>
              <a:ext uri="{FF2B5EF4-FFF2-40B4-BE49-F238E27FC236}">
                <a16:creationId xmlns:a16="http://schemas.microsoft.com/office/drawing/2014/main" id="{FF286ADD-30DF-D61D-B632-418D85615E39}"/>
              </a:ext>
            </a:extLst>
          </p:cNvPr>
          <p:cNvSpPr txBox="1"/>
          <p:nvPr/>
        </p:nvSpPr>
        <p:spPr>
          <a:xfrm>
            <a:off x="5993255" y="4981616"/>
            <a:ext cx="5522634" cy="1277273"/>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Dışarıdan alınan öncül maddeler için tedarikçilerden akredite doğrulama raporu alınması</a:t>
            </a:r>
          </a:p>
          <a:p>
            <a:pPr marL="171450" indent="-171450">
              <a:buFont typeface="Wingdings" panose="05000000000000000000" pitchFamily="2" charset="2"/>
              <a:buChar char="Ø"/>
            </a:pPr>
            <a:r>
              <a:rPr lang="tr-TR" sz="1100" dirty="0"/>
              <a:t>Geçiş dönemi boyunca tarafımızca hesaplanan ve raporlanan Kapsam 1 ve Kapsam 2 gömülü emisyonlarının bir ön-doğrulayıcı kuruluş tarafından ön-doğrulamasının yapılması ve mevcut durumun analiz edilmesi, ilerleyen dönemde akredite firma tarafından yıllık olarak doğrulanması</a:t>
            </a:r>
          </a:p>
          <a:p>
            <a:pPr marL="171450" indent="-171450">
              <a:buFont typeface="Wingdings" panose="05000000000000000000" pitchFamily="2" charset="2"/>
              <a:buChar char="Ø"/>
            </a:pPr>
            <a:r>
              <a:rPr lang="tr-TR" sz="1100" dirty="0"/>
              <a:t>Tesisin tüm veri kaynaklarını, ölçüm cihazlarını, üretim süreçlerini ve öncül maddelerini şeffaf şekilde belgeleyen bir İzleme Planı oluşturulması</a:t>
            </a:r>
          </a:p>
        </p:txBody>
      </p:sp>
      <p:pic>
        <p:nvPicPr>
          <p:cNvPr id="75" name="Grafik 74" descr="Bilgi düz dolguyla">
            <a:extLst>
              <a:ext uri="{FF2B5EF4-FFF2-40B4-BE49-F238E27FC236}">
                <a16:creationId xmlns:a16="http://schemas.microsoft.com/office/drawing/2014/main" id="{959A0104-D42C-9B59-DAB7-38564EC4F94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32" y="999904"/>
            <a:ext cx="914400" cy="914400"/>
          </a:xfrm>
          <a:prstGeom prst="rect">
            <a:avLst/>
          </a:prstGeom>
        </p:spPr>
      </p:pic>
      <p:sp>
        <p:nvSpPr>
          <p:cNvPr id="5" name="Dikdörtgen 4">
            <a:extLst>
              <a:ext uri="{FF2B5EF4-FFF2-40B4-BE49-F238E27FC236}">
                <a16:creationId xmlns:a16="http://schemas.microsoft.com/office/drawing/2014/main" id="{4CCD85B6-FEAF-F7B8-EB1D-9A7FEB2CEA4F}"/>
              </a:ext>
            </a:extLst>
          </p:cNvPr>
          <p:cNvSpPr/>
          <p:nvPr/>
        </p:nvSpPr>
        <p:spPr>
          <a:xfrm>
            <a:off x="8256240" y="774567"/>
            <a:ext cx="4392488" cy="1834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t>Bir slayt olarak nedir, genel amacı nedir? Eklenecek – </a:t>
            </a:r>
            <a:r>
              <a:rPr lang="tr-TR" dirty="0" err="1"/>
              <a:t>Batıkan</a:t>
            </a:r>
            <a:endParaRPr lang="tr-TR" dirty="0"/>
          </a:p>
          <a:p>
            <a:pPr algn="ctr"/>
            <a:r>
              <a:rPr lang="tr-TR" dirty="0"/>
              <a:t>İki sayfaya bölünecek</a:t>
            </a:r>
          </a:p>
        </p:txBody>
      </p:sp>
    </p:spTree>
    <p:extLst>
      <p:ext uri="{BB962C8B-B14F-4D97-AF65-F5344CB8AC3E}">
        <p14:creationId xmlns:p14="http://schemas.microsoft.com/office/powerpoint/2010/main" val="2529650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68054-47C3-D2CB-F83D-1D8E0BA87C8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2796797-E8AE-BF3B-8764-347424875FDB}"/>
              </a:ext>
            </a:extLst>
          </p:cNvPr>
          <p:cNvSpPr>
            <a:spLocks noGrp="1"/>
          </p:cNvSpPr>
          <p:nvPr>
            <p:ph type="title"/>
          </p:nvPr>
        </p:nvSpPr>
        <p:spPr/>
        <p:txBody>
          <a:bodyPr/>
          <a:lstStyle/>
          <a:p>
            <a:r>
              <a:rPr lang="tr-TR" b="1" i="1" dirty="0"/>
              <a:t>Türkiye Emisyon Ticaret Sistemi (ETS) Yönetmeliği</a:t>
            </a:r>
          </a:p>
        </p:txBody>
      </p:sp>
      <p:sp>
        <p:nvSpPr>
          <p:cNvPr id="4" name="Slayt Numarası Yer Tutucusu 3">
            <a:extLst>
              <a:ext uri="{FF2B5EF4-FFF2-40B4-BE49-F238E27FC236}">
                <a16:creationId xmlns:a16="http://schemas.microsoft.com/office/drawing/2014/main" id="{AD0C3DEF-1611-3903-2EF2-A839D4584201}"/>
              </a:ext>
            </a:extLst>
          </p:cNvPr>
          <p:cNvSpPr>
            <a:spLocks noGrp="1"/>
          </p:cNvSpPr>
          <p:nvPr>
            <p:ph type="sldNum" sz="quarter" idx="4"/>
          </p:nvPr>
        </p:nvSpPr>
        <p:spPr/>
        <p:txBody>
          <a:bodyPr/>
          <a:lstStyle/>
          <a:p>
            <a:fld id="{42CA6F85-893A-4FE1-8820-DAA50ABDC7DA}" type="slidenum">
              <a:rPr lang="tr-TR" smtClean="0"/>
              <a:pPr/>
              <a:t>8</a:t>
            </a:fld>
            <a:endParaRPr lang="tr-TR"/>
          </a:p>
        </p:txBody>
      </p:sp>
      <p:sp>
        <p:nvSpPr>
          <p:cNvPr id="7" name="Metin kutusu 6">
            <a:extLst>
              <a:ext uri="{FF2B5EF4-FFF2-40B4-BE49-F238E27FC236}">
                <a16:creationId xmlns:a16="http://schemas.microsoft.com/office/drawing/2014/main" id="{9D39B5D4-A1E5-4478-B44C-B89798A3E09F}"/>
              </a:ext>
            </a:extLst>
          </p:cNvPr>
          <p:cNvSpPr txBox="1"/>
          <p:nvPr/>
        </p:nvSpPr>
        <p:spPr>
          <a:xfrm>
            <a:off x="1559496" y="764704"/>
            <a:ext cx="10042648" cy="1384995"/>
          </a:xfrm>
          <a:prstGeom prst="rect">
            <a:avLst/>
          </a:prstGeom>
          <a:noFill/>
        </p:spPr>
        <p:txBody>
          <a:bodyPr wrap="square" rtlCol="0">
            <a:spAutoFit/>
          </a:bodyPr>
          <a:lstStyle/>
          <a:p>
            <a:r>
              <a:rPr lang="tr-TR" sz="1400" b="1" dirty="0"/>
              <a:t>GENEL BİLGİLER</a:t>
            </a:r>
          </a:p>
          <a:p>
            <a:pPr marL="285750" indent="-285750">
              <a:buFont typeface="Wingdings" panose="05000000000000000000" pitchFamily="2" charset="2"/>
              <a:buChar char="Ø"/>
            </a:pPr>
            <a:r>
              <a:rPr lang="tr-TR" sz="1400" dirty="0"/>
              <a:t>Yönetmelik, 27.08.2026 tarih ve 33353 Sayılı Resmi </a:t>
            </a:r>
            <a:r>
              <a:rPr lang="tr-TR" sz="1400" dirty="0" err="1"/>
              <a:t>Gazete’de</a:t>
            </a:r>
            <a:r>
              <a:rPr lang="tr-TR" sz="1400" dirty="0"/>
              <a:t> yayımlanmıştır.</a:t>
            </a:r>
          </a:p>
          <a:p>
            <a:pPr marL="285750" indent="-285750">
              <a:buFont typeface="Wingdings" panose="05000000000000000000" pitchFamily="2" charset="2"/>
              <a:buChar char="Ø"/>
            </a:pPr>
            <a:r>
              <a:rPr lang="tr-TR" sz="1400" dirty="0"/>
              <a:t>Başlıca amaçları, tesislerde mevzuata uygun şekilde izleme, raporlama ve doğrulama (MRV) altyapısını kurmak ve piyasa temelli bir emisyon ticaret mekanizması oluşturmaktır.</a:t>
            </a:r>
          </a:p>
          <a:p>
            <a:pPr marL="285750" indent="-285750">
              <a:buFont typeface="Wingdings" panose="05000000000000000000" pitchFamily="2" charset="2"/>
              <a:buChar char="Ø"/>
            </a:pPr>
            <a:r>
              <a:rPr lang="tr-TR" sz="1400" dirty="0"/>
              <a:t>İklim Kanunu’na dayanarak sanayi tesislerinin sera gazı emisyon izin süreçlerini, ücretsiz tahsisat dağıtım kurallarını, yaptırım ve esneklik araçlarını düzenleyerek düşük karbonlu ekonomiye geçişi yönetir.</a:t>
            </a:r>
          </a:p>
        </p:txBody>
      </p:sp>
      <p:sp>
        <p:nvSpPr>
          <p:cNvPr id="3" name="Rectangle 2">
            <a:extLst>
              <a:ext uri="{FF2B5EF4-FFF2-40B4-BE49-F238E27FC236}">
                <a16:creationId xmlns:a16="http://schemas.microsoft.com/office/drawing/2014/main" id="{141AD11B-AF70-C92F-6B34-7686F0C55BB1}"/>
              </a:ext>
            </a:extLst>
          </p:cNvPr>
          <p:cNvSpPr/>
          <p:nvPr/>
        </p:nvSpPr>
        <p:spPr>
          <a:xfrm>
            <a:off x="110757" y="2608949"/>
            <a:ext cx="11767864" cy="206984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4">
            <a:extLst>
              <a:ext uri="{FF2B5EF4-FFF2-40B4-BE49-F238E27FC236}">
                <a16:creationId xmlns:a16="http://schemas.microsoft.com/office/drawing/2014/main" id="{35564724-B3EC-A816-E7DE-7254C56F9A38}"/>
              </a:ext>
            </a:extLst>
          </p:cNvPr>
          <p:cNvSpPr/>
          <p:nvPr/>
        </p:nvSpPr>
        <p:spPr>
          <a:xfrm>
            <a:off x="137866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RİSKLER</a:t>
            </a:r>
          </a:p>
        </p:txBody>
      </p:sp>
      <p:sp>
        <p:nvSpPr>
          <p:cNvPr id="9" name="Rectangle 8">
            <a:extLst>
              <a:ext uri="{FF2B5EF4-FFF2-40B4-BE49-F238E27FC236}">
                <a16:creationId xmlns:a16="http://schemas.microsoft.com/office/drawing/2014/main" id="{F556794E-294E-41EC-DA73-77E3413A49ED}"/>
              </a:ext>
            </a:extLst>
          </p:cNvPr>
          <p:cNvSpPr/>
          <p:nvPr/>
        </p:nvSpPr>
        <p:spPr>
          <a:xfrm>
            <a:off x="285334" y="2918338"/>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11" name="Rectangle: Rounded Corners 18">
            <a:extLst>
              <a:ext uri="{FF2B5EF4-FFF2-40B4-BE49-F238E27FC236}">
                <a16:creationId xmlns:a16="http://schemas.microsoft.com/office/drawing/2014/main" id="{7A4C47CF-603B-E187-9CD1-03C7AA0F3788}"/>
              </a:ext>
            </a:extLst>
          </p:cNvPr>
          <p:cNvSpPr/>
          <p:nvPr/>
        </p:nvSpPr>
        <p:spPr>
          <a:xfrm>
            <a:off x="728034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FIRSATLAR</a:t>
            </a:r>
          </a:p>
        </p:txBody>
      </p:sp>
      <p:sp>
        <p:nvSpPr>
          <p:cNvPr id="14" name="Rectangle 17">
            <a:extLst>
              <a:ext uri="{FF2B5EF4-FFF2-40B4-BE49-F238E27FC236}">
                <a16:creationId xmlns:a16="http://schemas.microsoft.com/office/drawing/2014/main" id="{A1CBF464-724A-4815-B461-86B4F9434D66}"/>
              </a:ext>
            </a:extLst>
          </p:cNvPr>
          <p:cNvSpPr/>
          <p:nvPr/>
        </p:nvSpPr>
        <p:spPr>
          <a:xfrm>
            <a:off x="119336" y="2195235"/>
            <a:ext cx="11747839" cy="368784"/>
          </a:xfrm>
          <a:prstGeom prst="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527175" indent="-1527175" algn="ctr"/>
            <a:r>
              <a:rPr lang="tr-TR" sz="1600" b="1" dirty="0">
                <a:solidFill>
                  <a:schemeClr val="bg1"/>
                </a:solidFill>
              </a:rPr>
              <a:t>RİSKLER/FIRSATLAR</a:t>
            </a:r>
            <a:endParaRPr lang="en-US" sz="1600" dirty="0">
              <a:solidFill>
                <a:schemeClr val="bg1"/>
              </a:solidFill>
            </a:endParaRPr>
          </a:p>
        </p:txBody>
      </p:sp>
      <p:sp>
        <p:nvSpPr>
          <p:cNvPr id="15" name="Oval 14">
            <a:extLst>
              <a:ext uri="{FF2B5EF4-FFF2-40B4-BE49-F238E27FC236}">
                <a16:creationId xmlns:a16="http://schemas.microsoft.com/office/drawing/2014/main" id="{1F847BC5-F796-A56C-572A-94640299932C}"/>
              </a:ext>
            </a:extLst>
          </p:cNvPr>
          <p:cNvSpPr/>
          <p:nvPr/>
        </p:nvSpPr>
        <p:spPr>
          <a:xfrm>
            <a:off x="285793" y="2985810"/>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16" name="Oval 15">
            <a:extLst>
              <a:ext uri="{FF2B5EF4-FFF2-40B4-BE49-F238E27FC236}">
                <a16:creationId xmlns:a16="http://schemas.microsoft.com/office/drawing/2014/main" id="{7CA096C9-0895-70D9-4203-3E819FB051EF}"/>
              </a:ext>
            </a:extLst>
          </p:cNvPr>
          <p:cNvSpPr/>
          <p:nvPr/>
        </p:nvSpPr>
        <p:spPr>
          <a:xfrm>
            <a:off x="276653" y="3529237"/>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17" name="Oval 16">
            <a:extLst>
              <a:ext uri="{FF2B5EF4-FFF2-40B4-BE49-F238E27FC236}">
                <a16:creationId xmlns:a16="http://schemas.microsoft.com/office/drawing/2014/main" id="{E74F0752-3154-5D34-B6CF-35199E12BBE0}"/>
              </a:ext>
            </a:extLst>
          </p:cNvPr>
          <p:cNvSpPr/>
          <p:nvPr/>
        </p:nvSpPr>
        <p:spPr>
          <a:xfrm>
            <a:off x="276193" y="406571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19" name="Metin kutusu 18">
            <a:extLst>
              <a:ext uri="{FF2B5EF4-FFF2-40B4-BE49-F238E27FC236}">
                <a16:creationId xmlns:a16="http://schemas.microsoft.com/office/drawing/2014/main" id="{8DCA2499-78C0-99F7-E5DA-B962D18C2BEA}"/>
              </a:ext>
            </a:extLst>
          </p:cNvPr>
          <p:cNvSpPr txBox="1"/>
          <p:nvPr/>
        </p:nvSpPr>
        <p:spPr>
          <a:xfrm>
            <a:off x="588674" y="2939146"/>
            <a:ext cx="5313283" cy="600164"/>
          </a:xfrm>
          <a:prstGeom prst="rect">
            <a:avLst/>
          </a:prstGeom>
          <a:noFill/>
        </p:spPr>
        <p:txBody>
          <a:bodyPr wrap="square" rtlCol="0">
            <a:spAutoFit/>
          </a:bodyPr>
          <a:lstStyle/>
          <a:p>
            <a:r>
              <a:rPr lang="tr-TR" sz="1100" dirty="0"/>
              <a:t>Emisyonların belirlenen kıyas değerlerini (</a:t>
            </a:r>
            <a:r>
              <a:rPr lang="tr-TR" sz="1100" dirty="0" err="1"/>
              <a:t>benchmark</a:t>
            </a:r>
            <a:r>
              <a:rPr lang="tr-TR" sz="1100" dirty="0"/>
              <a:t>) aşması durumunda, birincil ihalelerden veya spot piyasadan ilave tahsisat satın alma gerekliliği doğması sonucunda operasyonel maliyet baskısı oluşması</a:t>
            </a:r>
          </a:p>
        </p:txBody>
      </p:sp>
      <p:sp>
        <p:nvSpPr>
          <p:cNvPr id="25" name="Metin kutusu 24">
            <a:extLst>
              <a:ext uri="{FF2B5EF4-FFF2-40B4-BE49-F238E27FC236}">
                <a16:creationId xmlns:a16="http://schemas.microsoft.com/office/drawing/2014/main" id="{241FDB3D-EDCB-1148-B5A4-52A9BC5564E2}"/>
              </a:ext>
            </a:extLst>
          </p:cNvPr>
          <p:cNvSpPr txBox="1"/>
          <p:nvPr/>
        </p:nvSpPr>
        <p:spPr>
          <a:xfrm>
            <a:off x="579533" y="3501008"/>
            <a:ext cx="5313283" cy="600164"/>
          </a:xfrm>
          <a:prstGeom prst="rect">
            <a:avLst/>
          </a:prstGeom>
          <a:noFill/>
        </p:spPr>
        <p:txBody>
          <a:bodyPr wrap="square" rtlCol="0">
            <a:spAutoFit/>
          </a:bodyPr>
          <a:lstStyle/>
          <a:p>
            <a:r>
              <a:rPr lang="tr-TR" sz="1100" dirty="0"/>
              <a:t>İzleme süreçlerinin gecikmesi, İzleme Metodolojisi Planlarının zamanında verilmemesi veya doğrulanmış sera gazı raporlarının teslim edilmemesi durumunda iki kat artırımlı para cezalarıyla karşılaşılması </a:t>
            </a:r>
          </a:p>
        </p:txBody>
      </p:sp>
      <p:sp>
        <p:nvSpPr>
          <p:cNvPr id="27" name="Metin kutusu 26">
            <a:extLst>
              <a:ext uri="{FF2B5EF4-FFF2-40B4-BE49-F238E27FC236}">
                <a16:creationId xmlns:a16="http://schemas.microsoft.com/office/drawing/2014/main" id="{F6C602D4-636A-6652-6468-DE3659D49F0F}"/>
              </a:ext>
            </a:extLst>
          </p:cNvPr>
          <p:cNvSpPr txBox="1"/>
          <p:nvPr/>
        </p:nvSpPr>
        <p:spPr>
          <a:xfrm>
            <a:off x="579532" y="4078625"/>
            <a:ext cx="5313283" cy="430887"/>
          </a:xfrm>
          <a:prstGeom prst="rect">
            <a:avLst/>
          </a:prstGeom>
          <a:noFill/>
        </p:spPr>
        <p:txBody>
          <a:bodyPr wrap="square" rtlCol="0">
            <a:spAutoFit/>
          </a:bodyPr>
          <a:lstStyle/>
          <a:p>
            <a:r>
              <a:rPr lang="tr-TR" sz="1100" dirty="0"/>
              <a:t>Yıl sonu teslim döneminde olası piyasa fiyat dalgalanmaları ve ek rezerv maliyeti oluşması sonucunda finansal </a:t>
            </a:r>
            <a:r>
              <a:rPr lang="tr-TR" sz="1100" dirty="0" err="1"/>
              <a:t>tahminlenebilirliğin</a:t>
            </a:r>
            <a:r>
              <a:rPr lang="tr-TR" sz="1100" dirty="0"/>
              <a:t> zorlaşması</a:t>
            </a:r>
          </a:p>
        </p:txBody>
      </p:sp>
      <p:sp>
        <p:nvSpPr>
          <p:cNvPr id="29" name="Rectangle 8">
            <a:extLst>
              <a:ext uri="{FF2B5EF4-FFF2-40B4-BE49-F238E27FC236}">
                <a16:creationId xmlns:a16="http://schemas.microsoft.com/office/drawing/2014/main" id="{674840EC-212E-32B8-598F-F142A34E34EC}"/>
              </a:ext>
            </a:extLst>
          </p:cNvPr>
          <p:cNvSpPr/>
          <p:nvPr/>
        </p:nvSpPr>
        <p:spPr>
          <a:xfrm>
            <a:off x="6086000" y="2933353"/>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31" name="Oval 30">
            <a:extLst>
              <a:ext uri="{FF2B5EF4-FFF2-40B4-BE49-F238E27FC236}">
                <a16:creationId xmlns:a16="http://schemas.microsoft.com/office/drawing/2014/main" id="{23E19A1B-694E-2CBE-8214-C14A9D6EB5C3}"/>
              </a:ext>
            </a:extLst>
          </p:cNvPr>
          <p:cNvSpPr/>
          <p:nvPr/>
        </p:nvSpPr>
        <p:spPr>
          <a:xfrm>
            <a:off x="6086459" y="300082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33" name="Oval 32">
            <a:extLst>
              <a:ext uri="{FF2B5EF4-FFF2-40B4-BE49-F238E27FC236}">
                <a16:creationId xmlns:a16="http://schemas.microsoft.com/office/drawing/2014/main" id="{888BFCCB-C44B-B1E6-F5E4-C1E49969529C}"/>
              </a:ext>
            </a:extLst>
          </p:cNvPr>
          <p:cNvSpPr/>
          <p:nvPr/>
        </p:nvSpPr>
        <p:spPr>
          <a:xfrm>
            <a:off x="6077319" y="3544252"/>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35" name="Oval 34">
            <a:extLst>
              <a:ext uri="{FF2B5EF4-FFF2-40B4-BE49-F238E27FC236}">
                <a16:creationId xmlns:a16="http://schemas.microsoft.com/office/drawing/2014/main" id="{988D37B1-B618-208C-5139-558ED3884B52}"/>
              </a:ext>
            </a:extLst>
          </p:cNvPr>
          <p:cNvSpPr/>
          <p:nvPr/>
        </p:nvSpPr>
        <p:spPr>
          <a:xfrm>
            <a:off x="6076859" y="4080726"/>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37" name="Metin kutusu 36">
            <a:extLst>
              <a:ext uri="{FF2B5EF4-FFF2-40B4-BE49-F238E27FC236}">
                <a16:creationId xmlns:a16="http://schemas.microsoft.com/office/drawing/2014/main" id="{EF00AB5C-F5F2-4BAF-1C4B-D18BEDC42C1E}"/>
              </a:ext>
            </a:extLst>
          </p:cNvPr>
          <p:cNvSpPr txBox="1"/>
          <p:nvPr/>
        </p:nvSpPr>
        <p:spPr>
          <a:xfrm>
            <a:off x="6389340" y="2954161"/>
            <a:ext cx="5313283" cy="430887"/>
          </a:xfrm>
          <a:prstGeom prst="rect">
            <a:avLst/>
          </a:prstGeom>
          <a:noFill/>
        </p:spPr>
        <p:txBody>
          <a:bodyPr wrap="square" rtlCol="0">
            <a:spAutoFit/>
          </a:bodyPr>
          <a:lstStyle/>
          <a:p>
            <a:r>
              <a:rPr lang="tr-TR" sz="1100" dirty="0"/>
              <a:t>Üretim hattında kıyas değerlerinin (</a:t>
            </a:r>
            <a:r>
              <a:rPr lang="tr-TR" sz="1100" dirty="0" err="1"/>
              <a:t>benchmark</a:t>
            </a:r>
            <a:r>
              <a:rPr lang="tr-TR" sz="1100" dirty="0"/>
              <a:t>) altında kalarak tahsisat fazlası yaratılması sonucu ikincil piyasalarda bu </a:t>
            </a:r>
            <a:r>
              <a:rPr lang="tr-TR" sz="1100" dirty="0" err="1"/>
              <a:t>tahsisatların</a:t>
            </a:r>
            <a:r>
              <a:rPr lang="tr-TR" sz="1100" dirty="0"/>
              <a:t> satışı ile ilave gelir elde edilmesi</a:t>
            </a:r>
          </a:p>
        </p:txBody>
      </p:sp>
      <p:sp>
        <p:nvSpPr>
          <p:cNvPr id="39" name="Metin kutusu 38">
            <a:extLst>
              <a:ext uri="{FF2B5EF4-FFF2-40B4-BE49-F238E27FC236}">
                <a16:creationId xmlns:a16="http://schemas.microsoft.com/office/drawing/2014/main" id="{71B03E48-86E5-4329-721B-1243147BA34B}"/>
              </a:ext>
            </a:extLst>
          </p:cNvPr>
          <p:cNvSpPr txBox="1"/>
          <p:nvPr/>
        </p:nvSpPr>
        <p:spPr>
          <a:xfrm>
            <a:off x="6380199" y="3404900"/>
            <a:ext cx="5313283" cy="600164"/>
          </a:xfrm>
          <a:prstGeom prst="rect">
            <a:avLst/>
          </a:prstGeom>
          <a:noFill/>
        </p:spPr>
        <p:txBody>
          <a:bodyPr wrap="square" rtlCol="0">
            <a:spAutoFit/>
          </a:bodyPr>
          <a:lstStyle/>
          <a:p>
            <a:r>
              <a:rPr lang="tr-TR" sz="1100" dirty="0"/>
              <a:t>Ulusal düzeyde ödenen karbon maliyetlerinin doğrulanmış verilerle AB ihracatında SKDM kapsamında mahsuplaştırılması sonucu uluslararası rekabet avantajını koruma fırsatı doğması</a:t>
            </a:r>
          </a:p>
        </p:txBody>
      </p:sp>
      <p:sp>
        <p:nvSpPr>
          <p:cNvPr id="41" name="Metin kutusu 40">
            <a:extLst>
              <a:ext uri="{FF2B5EF4-FFF2-40B4-BE49-F238E27FC236}">
                <a16:creationId xmlns:a16="http://schemas.microsoft.com/office/drawing/2014/main" id="{CC28AD99-063A-2B35-C147-1B6CC9B7241E}"/>
              </a:ext>
            </a:extLst>
          </p:cNvPr>
          <p:cNvSpPr txBox="1"/>
          <p:nvPr/>
        </p:nvSpPr>
        <p:spPr>
          <a:xfrm>
            <a:off x="6380198" y="4005064"/>
            <a:ext cx="5313283" cy="600164"/>
          </a:xfrm>
          <a:prstGeom prst="rect">
            <a:avLst/>
          </a:prstGeom>
          <a:noFill/>
        </p:spPr>
        <p:txBody>
          <a:bodyPr wrap="square" rtlCol="0">
            <a:spAutoFit/>
          </a:bodyPr>
          <a:lstStyle/>
          <a:p>
            <a:r>
              <a:rPr lang="tr-TR" sz="1100" dirty="0"/>
              <a:t>Karbon kredileri ile belirli oranlarda denkleştirme (</a:t>
            </a:r>
            <a:r>
              <a:rPr lang="tr-TR" sz="1100" dirty="0" err="1"/>
              <a:t>offsetting</a:t>
            </a:r>
            <a:r>
              <a:rPr lang="tr-TR" sz="1100" dirty="0"/>
              <a:t>) yapabilme ve diğer mekanizmaları kullanarak stratejik bir karbon portföyü yönetimi gerçekleştirme imkanı sağlanması</a:t>
            </a:r>
          </a:p>
        </p:txBody>
      </p:sp>
      <p:sp>
        <p:nvSpPr>
          <p:cNvPr id="68" name="Rectangle: Rounded Corners 4">
            <a:extLst>
              <a:ext uri="{FF2B5EF4-FFF2-40B4-BE49-F238E27FC236}">
                <a16:creationId xmlns:a16="http://schemas.microsoft.com/office/drawing/2014/main" id="{5B70CABF-0A53-9F26-DF71-CE02660058F9}"/>
              </a:ext>
            </a:extLst>
          </p:cNvPr>
          <p:cNvSpPr/>
          <p:nvPr/>
        </p:nvSpPr>
        <p:spPr>
          <a:xfrm>
            <a:off x="1378669" y="4782845"/>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TAMAMLANAN AKSİYONLAR</a:t>
            </a:r>
            <a:endParaRPr lang="en-US" sz="1400" b="1" dirty="0">
              <a:solidFill>
                <a:schemeClr val="bg1"/>
              </a:solidFill>
            </a:endParaRPr>
          </a:p>
        </p:txBody>
      </p:sp>
      <p:sp>
        <p:nvSpPr>
          <p:cNvPr id="70" name="Rectangle: Rounded Corners 4">
            <a:extLst>
              <a:ext uri="{FF2B5EF4-FFF2-40B4-BE49-F238E27FC236}">
                <a16:creationId xmlns:a16="http://schemas.microsoft.com/office/drawing/2014/main" id="{9CEDFA19-14AF-E26E-775C-5A085354C9F0}"/>
              </a:ext>
            </a:extLst>
          </p:cNvPr>
          <p:cNvSpPr/>
          <p:nvPr/>
        </p:nvSpPr>
        <p:spPr>
          <a:xfrm>
            <a:off x="7280349" y="4736616"/>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DEVAM EDEN AKSİYONLAR</a:t>
            </a:r>
            <a:endParaRPr lang="en-US" sz="1400" b="1" dirty="0">
              <a:solidFill>
                <a:schemeClr val="bg1"/>
              </a:solidFill>
            </a:endParaRPr>
          </a:p>
        </p:txBody>
      </p:sp>
      <p:pic>
        <p:nvPicPr>
          <p:cNvPr id="75" name="Grafik 74" descr="Bilgi düz dolguyla">
            <a:extLst>
              <a:ext uri="{FF2B5EF4-FFF2-40B4-BE49-F238E27FC236}">
                <a16:creationId xmlns:a16="http://schemas.microsoft.com/office/drawing/2014/main" id="{E2F9B1F1-0C71-51D0-47B1-B2326165E39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32" y="999904"/>
            <a:ext cx="914400" cy="914400"/>
          </a:xfrm>
          <a:prstGeom prst="rect">
            <a:avLst/>
          </a:prstGeom>
        </p:spPr>
      </p:pic>
      <p:sp>
        <p:nvSpPr>
          <p:cNvPr id="8" name="Dikdörtgen 7">
            <a:extLst>
              <a:ext uri="{FF2B5EF4-FFF2-40B4-BE49-F238E27FC236}">
                <a16:creationId xmlns:a16="http://schemas.microsoft.com/office/drawing/2014/main" id="{78D511E5-C681-82C1-60F6-6D8482831F2D}"/>
              </a:ext>
            </a:extLst>
          </p:cNvPr>
          <p:cNvSpPr/>
          <p:nvPr/>
        </p:nvSpPr>
        <p:spPr>
          <a:xfrm>
            <a:off x="8256240" y="774567"/>
            <a:ext cx="4392488" cy="1834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t>Bahadır Sucu</a:t>
            </a:r>
          </a:p>
        </p:txBody>
      </p:sp>
    </p:spTree>
    <p:extLst>
      <p:ext uri="{BB962C8B-B14F-4D97-AF65-F5344CB8AC3E}">
        <p14:creationId xmlns:p14="http://schemas.microsoft.com/office/powerpoint/2010/main" val="1937385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6DCA0-AD8A-8933-C2EE-EDD370859C8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343C372-5BEB-1B4E-52B6-193470253140}"/>
              </a:ext>
            </a:extLst>
          </p:cNvPr>
          <p:cNvSpPr>
            <a:spLocks noGrp="1"/>
          </p:cNvSpPr>
          <p:nvPr>
            <p:ph type="title"/>
          </p:nvPr>
        </p:nvSpPr>
        <p:spPr/>
        <p:txBody>
          <a:bodyPr/>
          <a:lstStyle/>
          <a:p>
            <a:r>
              <a:rPr lang="tr-TR" b="1" i="1" dirty="0"/>
              <a:t>Su Kanunu Taslağı ve Su Verimliliği Yönetmeliği</a:t>
            </a:r>
          </a:p>
        </p:txBody>
      </p:sp>
      <p:sp>
        <p:nvSpPr>
          <p:cNvPr id="4" name="Slayt Numarası Yer Tutucusu 3">
            <a:extLst>
              <a:ext uri="{FF2B5EF4-FFF2-40B4-BE49-F238E27FC236}">
                <a16:creationId xmlns:a16="http://schemas.microsoft.com/office/drawing/2014/main" id="{359FE90D-8A88-99E6-E254-ABB9CCD92B3A}"/>
              </a:ext>
            </a:extLst>
          </p:cNvPr>
          <p:cNvSpPr>
            <a:spLocks noGrp="1"/>
          </p:cNvSpPr>
          <p:nvPr>
            <p:ph type="sldNum" sz="quarter" idx="4"/>
          </p:nvPr>
        </p:nvSpPr>
        <p:spPr/>
        <p:txBody>
          <a:bodyPr/>
          <a:lstStyle/>
          <a:p>
            <a:fld id="{42CA6F85-893A-4FE1-8820-DAA50ABDC7DA}" type="slidenum">
              <a:rPr lang="tr-TR" smtClean="0"/>
              <a:pPr/>
              <a:t>9</a:t>
            </a:fld>
            <a:endParaRPr lang="tr-TR"/>
          </a:p>
        </p:txBody>
      </p:sp>
      <p:sp>
        <p:nvSpPr>
          <p:cNvPr id="7" name="Metin kutusu 6">
            <a:extLst>
              <a:ext uri="{FF2B5EF4-FFF2-40B4-BE49-F238E27FC236}">
                <a16:creationId xmlns:a16="http://schemas.microsoft.com/office/drawing/2014/main" id="{7498B923-2362-2E07-D730-1E408D4E2E8E}"/>
              </a:ext>
            </a:extLst>
          </p:cNvPr>
          <p:cNvSpPr txBox="1"/>
          <p:nvPr/>
        </p:nvSpPr>
        <p:spPr>
          <a:xfrm>
            <a:off x="1559495" y="747861"/>
            <a:ext cx="10307679" cy="1384995"/>
          </a:xfrm>
          <a:prstGeom prst="rect">
            <a:avLst/>
          </a:prstGeom>
          <a:noFill/>
        </p:spPr>
        <p:txBody>
          <a:bodyPr wrap="square" rtlCol="0">
            <a:spAutoFit/>
          </a:bodyPr>
          <a:lstStyle/>
          <a:p>
            <a:r>
              <a:rPr lang="tr-TR" sz="1400" b="1" dirty="0"/>
              <a:t>GENEL BİLGİLER</a:t>
            </a:r>
          </a:p>
          <a:p>
            <a:pPr marL="285750" indent="-285750">
              <a:buFont typeface="Wingdings" panose="05000000000000000000" pitchFamily="2" charset="2"/>
              <a:buChar char="Ø"/>
            </a:pPr>
            <a:r>
              <a:rPr lang="tr-TR" sz="1400" dirty="0"/>
              <a:t>27.12.2024 tarih ve 32765 Sayılı Resmi </a:t>
            </a:r>
            <a:r>
              <a:rPr lang="tr-TR" sz="1400" dirty="0" err="1"/>
              <a:t>Gazete’de</a:t>
            </a:r>
            <a:r>
              <a:rPr lang="tr-TR" sz="1400" dirty="0"/>
              <a:t> Su Verimliliği Yönetmeliği ve 27.04.2026 tarihinde Su Kanunu Taslağı yayımlanmıştır.</a:t>
            </a:r>
          </a:p>
          <a:p>
            <a:pPr marL="285750" indent="-285750">
              <a:buFont typeface="Wingdings" panose="05000000000000000000" pitchFamily="2" charset="2"/>
              <a:buChar char="Ø"/>
            </a:pPr>
            <a:r>
              <a:rPr lang="tr-TR" sz="1400" dirty="0"/>
              <a:t>Bu regülasyonlar, ölçüm ve izleme sistemlerinin kurulmasını zorunlu kılarak tüm verilerin Ulusal Su Bilgi Sitemi ile Su Verimliliği Bilgi Sistemine entegre edilmesini ve yıllık olarak raporlanmasını temin etmeyi amaçlar.</a:t>
            </a:r>
          </a:p>
          <a:p>
            <a:pPr marL="285750" indent="-285750">
              <a:buFont typeface="Wingdings" panose="05000000000000000000" pitchFamily="2" charset="2"/>
              <a:buChar char="Ø"/>
            </a:pPr>
            <a:r>
              <a:rPr lang="tr-TR" sz="1400" dirty="0"/>
              <a:t>Yağmur suyu, gri su, atık su gibi geleneksel olmayan su kaynaklarının kullanımını teşvik ederek endüstriyel işletmeler için ağır idari para cezaları ile desteklenen kademeli bir belgelendirme (Mavi, Yeşil, Turkuaz) mekanizması oluşturmayı hedefler.</a:t>
            </a:r>
          </a:p>
        </p:txBody>
      </p:sp>
      <p:sp>
        <p:nvSpPr>
          <p:cNvPr id="3" name="Rectangle 2">
            <a:extLst>
              <a:ext uri="{FF2B5EF4-FFF2-40B4-BE49-F238E27FC236}">
                <a16:creationId xmlns:a16="http://schemas.microsoft.com/office/drawing/2014/main" id="{6810843F-DE19-97B0-A8E4-8929F1D88A82}"/>
              </a:ext>
            </a:extLst>
          </p:cNvPr>
          <p:cNvSpPr/>
          <p:nvPr/>
        </p:nvSpPr>
        <p:spPr>
          <a:xfrm>
            <a:off x="110757" y="2608949"/>
            <a:ext cx="11767864" cy="206984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4">
            <a:extLst>
              <a:ext uri="{FF2B5EF4-FFF2-40B4-BE49-F238E27FC236}">
                <a16:creationId xmlns:a16="http://schemas.microsoft.com/office/drawing/2014/main" id="{D82FECBC-9E07-79FC-927A-094E86AAC556}"/>
              </a:ext>
            </a:extLst>
          </p:cNvPr>
          <p:cNvSpPr/>
          <p:nvPr/>
        </p:nvSpPr>
        <p:spPr>
          <a:xfrm>
            <a:off x="137866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RİSKLER</a:t>
            </a:r>
          </a:p>
        </p:txBody>
      </p:sp>
      <p:sp>
        <p:nvSpPr>
          <p:cNvPr id="9" name="Rectangle 8">
            <a:extLst>
              <a:ext uri="{FF2B5EF4-FFF2-40B4-BE49-F238E27FC236}">
                <a16:creationId xmlns:a16="http://schemas.microsoft.com/office/drawing/2014/main" id="{6D7A3236-0A43-A5F9-1AFD-59BBF3920504}"/>
              </a:ext>
            </a:extLst>
          </p:cNvPr>
          <p:cNvSpPr/>
          <p:nvPr/>
        </p:nvSpPr>
        <p:spPr>
          <a:xfrm>
            <a:off x="285334" y="2918338"/>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11" name="Rectangle: Rounded Corners 18">
            <a:extLst>
              <a:ext uri="{FF2B5EF4-FFF2-40B4-BE49-F238E27FC236}">
                <a16:creationId xmlns:a16="http://schemas.microsoft.com/office/drawing/2014/main" id="{424861FC-EA11-1C86-FE2B-BB2DBF7EC48F}"/>
              </a:ext>
            </a:extLst>
          </p:cNvPr>
          <p:cNvSpPr/>
          <p:nvPr/>
        </p:nvSpPr>
        <p:spPr>
          <a:xfrm>
            <a:off x="728034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FIRSATLAR</a:t>
            </a:r>
          </a:p>
        </p:txBody>
      </p:sp>
      <p:sp>
        <p:nvSpPr>
          <p:cNvPr id="14" name="Rectangle 17">
            <a:extLst>
              <a:ext uri="{FF2B5EF4-FFF2-40B4-BE49-F238E27FC236}">
                <a16:creationId xmlns:a16="http://schemas.microsoft.com/office/drawing/2014/main" id="{404D098D-482A-88BA-1CD9-D70418159883}"/>
              </a:ext>
            </a:extLst>
          </p:cNvPr>
          <p:cNvSpPr/>
          <p:nvPr/>
        </p:nvSpPr>
        <p:spPr>
          <a:xfrm>
            <a:off x="119336" y="2195235"/>
            <a:ext cx="11747839" cy="368784"/>
          </a:xfrm>
          <a:prstGeom prst="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527175" indent="-1527175" algn="ctr"/>
            <a:r>
              <a:rPr lang="tr-TR" sz="1600" b="1" dirty="0">
                <a:solidFill>
                  <a:schemeClr val="bg1"/>
                </a:solidFill>
              </a:rPr>
              <a:t>RİSKLER/FIRSATLAR</a:t>
            </a:r>
            <a:endParaRPr lang="en-US" sz="1600" dirty="0">
              <a:solidFill>
                <a:schemeClr val="bg1"/>
              </a:solidFill>
            </a:endParaRPr>
          </a:p>
        </p:txBody>
      </p:sp>
      <p:sp>
        <p:nvSpPr>
          <p:cNvPr id="15" name="Oval 14">
            <a:extLst>
              <a:ext uri="{FF2B5EF4-FFF2-40B4-BE49-F238E27FC236}">
                <a16:creationId xmlns:a16="http://schemas.microsoft.com/office/drawing/2014/main" id="{DF85963D-2A04-7050-0257-3B16C3C3864D}"/>
              </a:ext>
            </a:extLst>
          </p:cNvPr>
          <p:cNvSpPr/>
          <p:nvPr/>
        </p:nvSpPr>
        <p:spPr>
          <a:xfrm>
            <a:off x="285793" y="2985810"/>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16" name="Oval 15">
            <a:extLst>
              <a:ext uri="{FF2B5EF4-FFF2-40B4-BE49-F238E27FC236}">
                <a16:creationId xmlns:a16="http://schemas.microsoft.com/office/drawing/2014/main" id="{0D69AF7C-86FC-ECE9-B2CF-7674F96D6300}"/>
              </a:ext>
            </a:extLst>
          </p:cNvPr>
          <p:cNvSpPr/>
          <p:nvPr/>
        </p:nvSpPr>
        <p:spPr>
          <a:xfrm>
            <a:off x="276653" y="3727917"/>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17" name="Oval 16">
            <a:extLst>
              <a:ext uri="{FF2B5EF4-FFF2-40B4-BE49-F238E27FC236}">
                <a16:creationId xmlns:a16="http://schemas.microsoft.com/office/drawing/2014/main" id="{34169D93-07DF-A3D8-59D7-DDC556E330B8}"/>
              </a:ext>
            </a:extLst>
          </p:cNvPr>
          <p:cNvSpPr/>
          <p:nvPr/>
        </p:nvSpPr>
        <p:spPr>
          <a:xfrm>
            <a:off x="276193" y="430398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19" name="Metin kutusu 18">
            <a:extLst>
              <a:ext uri="{FF2B5EF4-FFF2-40B4-BE49-F238E27FC236}">
                <a16:creationId xmlns:a16="http://schemas.microsoft.com/office/drawing/2014/main" id="{B6439FFC-63F3-BEFA-C413-D98250A1DA0E}"/>
              </a:ext>
            </a:extLst>
          </p:cNvPr>
          <p:cNvSpPr txBox="1"/>
          <p:nvPr/>
        </p:nvSpPr>
        <p:spPr>
          <a:xfrm>
            <a:off x="588674" y="2852936"/>
            <a:ext cx="5313283" cy="938719"/>
          </a:xfrm>
          <a:prstGeom prst="rect">
            <a:avLst/>
          </a:prstGeom>
          <a:noFill/>
        </p:spPr>
        <p:txBody>
          <a:bodyPr wrap="square" rtlCol="0">
            <a:spAutoFit/>
          </a:bodyPr>
          <a:lstStyle/>
          <a:p>
            <a:r>
              <a:rPr lang="tr-TR" sz="1100" dirty="0"/>
              <a:t>Endüstriyel tesislerin ve Serbest Bölgelerin ilk olarak sistem üzerinden Mavi Belge Başvurusu yapması ve 5 yıl içerisinde Yeşil Belge alma yükümlülüğü bulunmaktadır. Beyanların yapılmaması veya denetimlerde eksiklik bulunmasının ardından 90 günlük iyileştirme süresi içerisinde tedbir alınmaması halinde belgenin iptal edilmesi riski ve 100.000 TL’den 5.000.000 TL’ye kadar idari para cezalarıyla karşılaşılması</a:t>
            </a:r>
          </a:p>
        </p:txBody>
      </p:sp>
      <p:sp>
        <p:nvSpPr>
          <p:cNvPr id="25" name="Metin kutusu 24">
            <a:extLst>
              <a:ext uri="{FF2B5EF4-FFF2-40B4-BE49-F238E27FC236}">
                <a16:creationId xmlns:a16="http://schemas.microsoft.com/office/drawing/2014/main" id="{DE462DF7-193B-1DF1-0805-9B4EFCFB3AA1}"/>
              </a:ext>
            </a:extLst>
          </p:cNvPr>
          <p:cNvSpPr txBox="1"/>
          <p:nvPr/>
        </p:nvSpPr>
        <p:spPr>
          <a:xfrm>
            <a:off x="623392" y="3717032"/>
            <a:ext cx="5313283" cy="600164"/>
          </a:xfrm>
          <a:prstGeom prst="rect">
            <a:avLst/>
          </a:prstGeom>
          <a:noFill/>
        </p:spPr>
        <p:txBody>
          <a:bodyPr wrap="square" rtlCol="0">
            <a:spAutoFit/>
          </a:bodyPr>
          <a:lstStyle/>
          <a:p>
            <a:r>
              <a:rPr lang="tr-TR" sz="1100" dirty="0"/>
              <a:t>Su tahsis belgesindeki limitlerin aşılması, belgesiz su kullanımı veya zorunlu olan ölçüm ve izleme sistemlerinin çalıştırılmaması artan cezalara ve su tahsis belgesinin doğrudan iptal edilmesine yol açabilir.</a:t>
            </a:r>
          </a:p>
        </p:txBody>
      </p:sp>
      <p:sp>
        <p:nvSpPr>
          <p:cNvPr id="29" name="Rectangle 8">
            <a:extLst>
              <a:ext uri="{FF2B5EF4-FFF2-40B4-BE49-F238E27FC236}">
                <a16:creationId xmlns:a16="http://schemas.microsoft.com/office/drawing/2014/main" id="{620FEF8A-8269-1793-9923-D975D72A546D}"/>
              </a:ext>
            </a:extLst>
          </p:cNvPr>
          <p:cNvSpPr/>
          <p:nvPr/>
        </p:nvSpPr>
        <p:spPr>
          <a:xfrm>
            <a:off x="6086000" y="2933353"/>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31" name="Oval 30">
            <a:extLst>
              <a:ext uri="{FF2B5EF4-FFF2-40B4-BE49-F238E27FC236}">
                <a16:creationId xmlns:a16="http://schemas.microsoft.com/office/drawing/2014/main" id="{F029EBB4-D7FF-9E74-7D38-E0629BF54CED}"/>
              </a:ext>
            </a:extLst>
          </p:cNvPr>
          <p:cNvSpPr/>
          <p:nvPr/>
        </p:nvSpPr>
        <p:spPr>
          <a:xfrm>
            <a:off x="6086459" y="300082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33" name="Oval 32">
            <a:extLst>
              <a:ext uri="{FF2B5EF4-FFF2-40B4-BE49-F238E27FC236}">
                <a16:creationId xmlns:a16="http://schemas.microsoft.com/office/drawing/2014/main" id="{92F6FD25-13C2-925D-D07A-9BC21A8A4D24}"/>
              </a:ext>
            </a:extLst>
          </p:cNvPr>
          <p:cNvSpPr/>
          <p:nvPr/>
        </p:nvSpPr>
        <p:spPr>
          <a:xfrm>
            <a:off x="6077319" y="358390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35" name="Oval 34">
            <a:extLst>
              <a:ext uri="{FF2B5EF4-FFF2-40B4-BE49-F238E27FC236}">
                <a16:creationId xmlns:a16="http://schemas.microsoft.com/office/drawing/2014/main" id="{F304922A-E469-FD49-86ED-A41D39E3BF34}"/>
              </a:ext>
            </a:extLst>
          </p:cNvPr>
          <p:cNvSpPr/>
          <p:nvPr/>
        </p:nvSpPr>
        <p:spPr>
          <a:xfrm>
            <a:off x="6076859" y="415996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37" name="Metin kutusu 36">
            <a:extLst>
              <a:ext uri="{FF2B5EF4-FFF2-40B4-BE49-F238E27FC236}">
                <a16:creationId xmlns:a16="http://schemas.microsoft.com/office/drawing/2014/main" id="{4BD6BB02-7D55-4071-60EA-8B6914664BFE}"/>
              </a:ext>
            </a:extLst>
          </p:cNvPr>
          <p:cNvSpPr txBox="1"/>
          <p:nvPr/>
        </p:nvSpPr>
        <p:spPr>
          <a:xfrm>
            <a:off x="6389340" y="2954161"/>
            <a:ext cx="5313283" cy="600164"/>
          </a:xfrm>
          <a:prstGeom prst="rect">
            <a:avLst/>
          </a:prstGeom>
          <a:noFill/>
        </p:spPr>
        <p:txBody>
          <a:bodyPr wrap="square" rtlCol="0">
            <a:spAutoFit/>
          </a:bodyPr>
          <a:lstStyle/>
          <a:p>
            <a:r>
              <a:rPr lang="tr-TR" sz="1100" dirty="0"/>
              <a:t>Tesislerde dijital varlık yönetimine geçilmesi ve ölçüm/izleme ekipmanlarının yeterli ve uygun şekilde yerleştirilmesi sonucu uyum sürecindeki operasyonel yükün azaltılması ve sektörel öncülük fırsatı yakalanması</a:t>
            </a:r>
          </a:p>
        </p:txBody>
      </p:sp>
      <p:sp>
        <p:nvSpPr>
          <p:cNvPr id="39" name="Metin kutusu 38">
            <a:extLst>
              <a:ext uri="{FF2B5EF4-FFF2-40B4-BE49-F238E27FC236}">
                <a16:creationId xmlns:a16="http://schemas.microsoft.com/office/drawing/2014/main" id="{1BCAF787-B0A6-4966-8278-56B8795E7F02}"/>
              </a:ext>
            </a:extLst>
          </p:cNvPr>
          <p:cNvSpPr txBox="1"/>
          <p:nvPr/>
        </p:nvSpPr>
        <p:spPr>
          <a:xfrm>
            <a:off x="6380199" y="3501008"/>
            <a:ext cx="5313283" cy="600164"/>
          </a:xfrm>
          <a:prstGeom prst="rect">
            <a:avLst/>
          </a:prstGeom>
          <a:noFill/>
        </p:spPr>
        <p:txBody>
          <a:bodyPr wrap="square" rtlCol="0">
            <a:spAutoFit/>
          </a:bodyPr>
          <a:lstStyle/>
          <a:p>
            <a:r>
              <a:rPr lang="tr-TR" sz="1100" dirty="0"/>
              <a:t>Gönen ve Meram tesislerimizde oluşan sıvı fermente atığının ileri biyolojik arıtım projeleriyle geri kazanılması sonucu belge süreçlerinin hızlanması ve su ayak izinin azaltılması</a:t>
            </a:r>
          </a:p>
        </p:txBody>
      </p:sp>
      <p:sp>
        <p:nvSpPr>
          <p:cNvPr id="41" name="Metin kutusu 40">
            <a:extLst>
              <a:ext uri="{FF2B5EF4-FFF2-40B4-BE49-F238E27FC236}">
                <a16:creationId xmlns:a16="http://schemas.microsoft.com/office/drawing/2014/main" id="{9E1048D4-9DC2-1CF3-E503-C0F5B6D4F915}"/>
              </a:ext>
            </a:extLst>
          </p:cNvPr>
          <p:cNvSpPr txBox="1"/>
          <p:nvPr/>
        </p:nvSpPr>
        <p:spPr>
          <a:xfrm>
            <a:off x="6380198" y="4078233"/>
            <a:ext cx="5313283" cy="430887"/>
          </a:xfrm>
          <a:prstGeom prst="rect">
            <a:avLst/>
          </a:prstGeom>
          <a:noFill/>
        </p:spPr>
        <p:txBody>
          <a:bodyPr wrap="square" rtlCol="0">
            <a:spAutoFit/>
          </a:bodyPr>
          <a:lstStyle/>
          <a:p>
            <a:r>
              <a:rPr lang="tr-TR" sz="1100" dirty="0"/>
              <a:t>Belge yükümlülüklerinin yerine getirilmesi ve su verilerinin şeffaf olarak toplanması sonucunda CDP ve TSRS raporlamaları için doğrulanmış ve güçlü bir veri setinin oluşması</a:t>
            </a:r>
          </a:p>
        </p:txBody>
      </p:sp>
      <p:sp>
        <p:nvSpPr>
          <p:cNvPr id="68" name="Rectangle: Rounded Corners 4">
            <a:extLst>
              <a:ext uri="{FF2B5EF4-FFF2-40B4-BE49-F238E27FC236}">
                <a16:creationId xmlns:a16="http://schemas.microsoft.com/office/drawing/2014/main" id="{DA4284DD-67AC-7075-5377-DEE5C46A02E8}"/>
              </a:ext>
            </a:extLst>
          </p:cNvPr>
          <p:cNvSpPr/>
          <p:nvPr/>
        </p:nvSpPr>
        <p:spPr>
          <a:xfrm>
            <a:off x="1378669" y="4782845"/>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TAMAMLANAN AKSİYONLAR</a:t>
            </a:r>
            <a:endParaRPr lang="en-US" sz="1400" b="1" dirty="0">
              <a:solidFill>
                <a:schemeClr val="bg1"/>
              </a:solidFill>
            </a:endParaRPr>
          </a:p>
        </p:txBody>
      </p:sp>
      <p:sp>
        <p:nvSpPr>
          <p:cNvPr id="70" name="Rectangle: Rounded Corners 4">
            <a:extLst>
              <a:ext uri="{FF2B5EF4-FFF2-40B4-BE49-F238E27FC236}">
                <a16:creationId xmlns:a16="http://schemas.microsoft.com/office/drawing/2014/main" id="{2FAF28E6-2E3F-906E-AB37-4C74891981FC}"/>
              </a:ext>
            </a:extLst>
          </p:cNvPr>
          <p:cNvSpPr/>
          <p:nvPr/>
        </p:nvSpPr>
        <p:spPr>
          <a:xfrm>
            <a:off x="7280349" y="4736616"/>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DEVAM EDEN AKSİYONLAR</a:t>
            </a:r>
            <a:endParaRPr lang="en-US" sz="1400" b="1" dirty="0">
              <a:solidFill>
                <a:schemeClr val="bg1"/>
              </a:solidFill>
            </a:endParaRPr>
          </a:p>
        </p:txBody>
      </p:sp>
      <p:sp>
        <p:nvSpPr>
          <p:cNvPr id="71" name="Metin kutusu 70">
            <a:extLst>
              <a:ext uri="{FF2B5EF4-FFF2-40B4-BE49-F238E27FC236}">
                <a16:creationId xmlns:a16="http://schemas.microsoft.com/office/drawing/2014/main" id="{12C09D76-F12B-2585-EAF4-1BB1368A532E}"/>
              </a:ext>
            </a:extLst>
          </p:cNvPr>
          <p:cNvSpPr txBox="1"/>
          <p:nvPr/>
        </p:nvSpPr>
        <p:spPr>
          <a:xfrm>
            <a:off x="285334" y="5054688"/>
            <a:ext cx="5522634" cy="1446550"/>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İlk olarak online toplantılar üzerinden bilgilendirme toplantıları yapılmış ve Su Verimliliği Ekipleri oluşturulmuştur.</a:t>
            </a:r>
          </a:p>
          <a:p>
            <a:pPr marL="171450" indent="-171450">
              <a:buFont typeface="Wingdings" panose="05000000000000000000" pitchFamily="2" charset="2"/>
              <a:buChar char="Ø"/>
            </a:pPr>
            <a:r>
              <a:rPr lang="tr-TR" sz="1100" dirty="0"/>
              <a:t>Ardından tesislere saha ziyaretleri gerçekleştirilmiş olup bu ziyaretlerde «Su Verimliliği Eğitimi» verilmiş, su kullanım noktaları belirlenmiş ve sayaç haritalandırması gerçekleştirilmiştir. Ayrıca hedefler ve planlar oluşturulmuştur.</a:t>
            </a:r>
          </a:p>
          <a:p>
            <a:pPr marL="171450" indent="-171450">
              <a:buFont typeface="Wingdings" panose="05000000000000000000" pitchFamily="2" charset="2"/>
              <a:buChar char="Ø"/>
            </a:pPr>
            <a:r>
              <a:rPr lang="tr-TR" sz="1100" dirty="0"/>
              <a:t>Su Verimliliği Bilgi Sistemi’nin açılmasının ardından yetkilendirme başvuruları yapılmış olup bu başvuruların onaylamasının ardından Mavi Belge başvurusu için veri giriş aşamasına geçilecektir.</a:t>
            </a:r>
          </a:p>
        </p:txBody>
      </p:sp>
      <p:sp>
        <p:nvSpPr>
          <p:cNvPr id="73" name="Metin kutusu 72">
            <a:extLst>
              <a:ext uri="{FF2B5EF4-FFF2-40B4-BE49-F238E27FC236}">
                <a16:creationId xmlns:a16="http://schemas.microsoft.com/office/drawing/2014/main" id="{08F1A11F-432A-329C-92E3-4DFEEFB7AA31}"/>
              </a:ext>
            </a:extLst>
          </p:cNvPr>
          <p:cNvSpPr txBox="1"/>
          <p:nvPr/>
        </p:nvSpPr>
        <p:spPr>
          <a:xfrm>
            <a:off x="5993255" y="4981616"/>
            <a:ext cx="5522634" cy="938719"/>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Tesislerde sayaç takılması planlanan noktalara uygun sayaçların temin edilmesi ve takılması</a:t>
            </a:r>
          </a:p>
          <a:p>
            <a:pPr marL="171450" indent="-171450">
              <a:buFont typeface="Wingdings" panose="05000000000000000000" pitchFamily="2" charset="2"/>
              <a:buChar char="Ø"/>
            </a:pPr>
            <a:r>
              <a:rPr lang="tr-TR" sz="1100" dirty="0"/>
              <a:t>Mevcut durumdaki su verimli ekipman envanterinin oluşturulması</a:t>
            </a:r>
          </a:p>
          <a:p>
            <a:pPr marL="171450" indent="-171450">
              <a:buFont typeface="Wingdings" panose="05000000000000000000" pitchFamily="2" charset="2"/>
              <a:buChar char="Ø"/>
            </a:pPr>
            <a:r>
              <a:rPr lang="tr-TR" sz="1100" dirty="0"/>
              <a:t>Yetkilendirme onayı alan tesislerimizde (Ceyhan ve Meram) Mavi Belge başvurusu doğrultusunda veri girişlerine başlanmış olup , diğer tesislerimizde yapılan Yetkilendirme başvurularının onaylanması beklenmekledir.</a:t>
            </a:r>
          </a:p>
        </p:txBody>
      </p:sp>
      <p:pic>
        <p:nvPicPr>
          <p:cNvPr id="75" name="Grafik 74" descr="Bilgi düz dolguyla">
            <a:extLst>
              <a:ext uri="{FF2B5EF4-FFF2-40B4-BE49-F238E27FC236}">
                <a16:creationId xmlns:a16="http://schemas.microsoft.com/office/drawing/2014/main" id="{A216B51D-972A-BCF1-C749-A81A5D049D4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32" y="999904"/>
            <a:ext cx="914400" cy="914400"/>
          </a:xfrm>
          <a:prstGeom prst="rect">
            <a:avLst/>
          </a:prstGeom>
        </p:spPr>
      </p:pic>
      <p:sp>
        <p:nvSpPr>
          <p:cNvPr id="8" name="Metin kutusu 7">
            <a:extLst>
              <a:ext uri="{FF2B5EF4-FFF2-40B4-BE49-F238E27FC236}">
                <a16:creationId xmlns:a16="http://schemas.microsoft.com/office/drawing/2014/main" id="{1AB3A113-4353-66F4-0637-4FDA5DA87727}"/>
              </a:ext>
            </a:extLst>
          </p:cNvPr>
          <p:cNvSpPr txBox="1"/>
          <p:nvPr/>
        </p:nvSpPr>
        <p:spPr>
          <a:xfrm>
            <a:off x="635477" y="4221088"/>
            <a:ext cx="5313283" cy="430887"/>
          </a:xfrm>
          <a:prstGeom prst="rect">
            <a:avLst/>
          </a:prstGeom>
          <a:noFill/>
        </p:spPr>
        <p:txBody>
          <a:bodyPr wrap="square" rtlCol="0">
            <a:spAutoFit/>
          </a:bodyPr>
          <a:lstStyle/>
          <a:p>
            <a:r>
              <a:rPr lang="tr-TR" sz="1100" dirty="0"/>
              <a:t>Su kaynaklarını olumsuz etkileyen deşarj veya sızıntı durumlarında 2.000.000 TL’ye varan para cezalarıyla karşı kaşıya kalınması</a:t>
            </a:r>
          </a:p>
        </p:txBody>
      </p:sp>
      <p:sp>
        <p:nvSpPr>
          <p:cNvPr id="10" name="Dikdörtgen 9">
            <a:extLst>
              <a:ext uri="{FF2B5EF4-FFF2-40B4-BE49-F238E27FC236}">
                <a16:creationId xmlns:a16="http://schemas.microsoft.com/office/drawing/2014/main" id="{D8FD4582-7793-6406-2FE9-FFB82C09D722}"/>
              </a:ext>
            </a:extLst>
          </p:cNvPr>
          <p:cNvSpPr/>
          <p:nvPr/>
        </p:nvSpPr>
        <p:spPr>
          <a:xfrm>
            <a:off x="8256240" y="774567"/>
            <a:ext cx="4392488" cy="1834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err="1"/>
              <a:t>Batıkan</a:t>
            </a:r>
            <a:endParaRPr lang="tr-TR" dirty="0"/>
          </a:p>
        </p:txBody>
      </p:sp>
    </p:spTree>
    <p:extLst>
      <p:ext uri="{BB962C8B-B14F-4D97-AF65-F5344CB8AC3E}">
        <p14:creationId xmlns:p14="http://schemas.microsoft.com/office/powerpoint/2010/main" val="2450524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B61D6-2ECF-E6D8-C6B6-93F9B994603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46EE096-29BF-A330-E8C2-B4DD8D791961}"/>
              </a:ext>
            </a:extLst>
          </p:cNvPr>
          <p:cNvSpPr>
            <a:spLocks noGrp="1"/>
          </p:cNvSpPr>
          <p:nvPr>
            <p:ph type="title"/>
          </p:nvPr>
        </p:nvSpPr>
        <p:spPr/>
        <p:txBody>
          <a:bodyPr>
            <a:normAutofit fontScale="90000"/>
          </a:bodyPr>
          <a:lstStyle/>
          <a:p>
            <a:r>
              <a:rPr lang="tr-TR" b="1" i="1" dirty="0"/>
              <a:t>Sanayide Yeşil Dönüşüm (SYD) ve Endüstriyel Emisyonların Yönetimi Yönetmeliği (EEYY)</a:t>
            </a:r>
          </a:p>
        </p:txBody>
      </p:sp>
      <p:sp>
        <p:nvSpPr>
          <p:cNvPr id="4" name="Slayt Numarası Yer Tutucusu 3">
            <a:extLst>
              <a:ext uri="{FF2B5EF4-FFF2-40B4-BE49-F238E27FC236}">
                <a16:creationId xmlns:a16="http://schemas.microsoft.com/office/drawing/2014/main" id="{1887B8E5-D996-DA02-6996-06500E01E3E7}"/>
              </a:ext>
            </a:extLst>
          </p:cNvPr>
          <p:cNvSpPr>
            <a:spLocks noGrp="1"/>
          </p:cNvSpPr>
          <p:nvPr>
            <p:ph type="sldNum" sz="quarter" idx="4"/>
          </p:nvPr>
        </p:nvSpPr>
        <p:spPr/>
        <p:txBody>
          <a:bodyPr/>
          <a:lstStyle/>
          <a:p>
            <a:fld id="{42CA6F85-893A-4FE1-8820-DAA50ABDC7DA}" type="slidenum">
              <a:rPr lang="tr-TR" smtClean="0"/>
              <a:pPr/>
              <a:t>10</a:t>
            </a:fld>
            <a:endParaRPr lang="tr-TR"/>
          </a:p>
        </p:txBody>
      </p:sp>
      <p:sp>
        <p:nvSpPr>
          <p:cNvPr id="7" name="Metin kutusu 6">
            <a:extLst>
              <a:ext uri="{FF2B5EF4-FFF2-40B4-BE49-F238E27FC236}">
                <a16:creationId xmlns:a16="http://schemas.microsoft.com/office/drawing/2014/main" id="{52A56E2B-B849-3AE9-F193-A138CEE1B027}"/>
              </a:ext>
            </a:extLst>
          </p:cNvPr>
          <p:cNvSpPr txBox="1"/>
          <p:nvPr/>
        </p:nvSpPr>
        <p:spPr>
          <a:xfrm>
            <a:off x="1559495" y="747861"/>
            <a:ext cx="10307679" cy="1384995"/>
          </a:xfrm>
          <a:prstGeom prst="rect">
            <a:avLst/>
          </a:prstGeom>
          <a:noFill/>
        </p:spPr>
        <p:txBody>
          <a:bodyPr wrap="square" rtlCol="0">
            <a:spAutoFit/>
          </a:bodyPr>
          <a:lstStyle/>
          <a:p>
            <a:r>
              <a:rPr lang="tr-TR" sz="1400" b="1" dirty="0"/>
              <a:t>GENEL BİLGİLER</a:t>
            </a:r>
          </a:p>
          <a:p>
            <a:pPr marL="285750" indent="-285750">
              <a:buFont typeface="Wingdings" panose="05000000000000000000" pitchFamily="2" charset="2"/>
              <a:buChar char="Ø"/>
            </a:pPr>
            <a:r>
              <a:rPr lang="tr-TR" sz="1400" dirty="0"/>
              <a:t>Endüstriyel Emisyonların Yönetimi Yönetmeliği, 14.01.2025 tarihli ve 32782 Sayılı Resmi </a:t>
            </a:r>
            <a:r>
              <a:rPr lang="tr-TR" sz="1400" dirty="0" err="1"/>
              <a:t>Gazete’de</a:t>
            </a:r>
            <a:r>
              <a:rPr lang="tr-TR" sz="1400" dirty="0"/>
              <a:t> yayımlanmıştır.</a:t>
            </a:r>
          </a:p>
          <a:p>
            <a:pPr marL="285750" indent="-285750">
              <a:buFont typeface="Wingdings" panose="05000000000000000000" pitchFamily="2" charset="2"/>
              <a:buChar char="Ø"/>
            </a:pPr>
            <a:r>
              <a:rPr lang="tr-TR" sz="1400" dirty="0"/>
              <a:t>Sanayide Yeşil Dönüşüm, döngüsel ekonomi, kaynak verimliliği ve </a:t>
            </a:r>
            <a:r>
              <a:rPr lang="tr-TR" sz="1400" dirty="0" err="1"/>
              <a:t>karbonsuzlaşma</a:t>
            </a:r>
            <a:r>
              <a:rPr lang="tr-TR" sz="1400" dirty="0"/>
              <a:t> süreçlerini destekleyecek idari ve teknik esasları belirlemeyi amaçlar.</a:t>
            </a:r>
          </a:p>
          <a:p>
            <a:pPr marL="285750" indent="-285750">
              <a:buFont typeface="Wingdings" panose="05000000000000000000" pitchFamily="2" charset="2"/>
              <a:buChar char="Ø"/>
            </a:pPr>
            <a:r>
              <a:rPr lang="tr-TR" sz="1400" dirty="0"/>
              <a:t>Mevcut En İyi Teknikler (MET) ve Emisyon Sınır Değerleri (ESD) temel alınarak sanayi tesislerinin çevresel performansını kategorize eden Sanayide Yeşil Dönüşüm (SYD) Belgesi sistemini oluşturmayı hedefler.</a:t>
            </a:r>
          </a:p>
        </p:txBody>
      </p:sp>
      <p:sp>
        <p:nvSpPr>
          <p:cNvPr id="3" name="Rectangle 2">
            <a:extLst>
              <a:ext uri="{FF2B5EF4-FFF2-40B4-BE49-F238E27FC236}">
                <a16:creationId xmlns:a16="http://schemas.microsoft.com/office/drawing/2014/main" id="{1046612B-92EF-C085-4DF9-18D09DDA6BD8}"/>
              </a:ext>
            </a:extLst>
          </p:cNvPr>
          <p:cNvSpPr/>
          <p:nvPr/>
        </p:nvSpPr>
        <p:spPr>
          <a:xfrm>
            <a:off x="110757" y="2608949"/>
            <a:ext cx="11767864" cy="206984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4">
            <a:extLst>
              <a:ext uri="{FF2B5EF4-FFF2-40B4-BE49-F238E27FC236}">
                <a16:creationId xmlns:a16="http://schemas.microsoft.com/office/drawing/2014/main" id="{9CA0BD38-67F5-8CCB-87E8-2BC849F4239B}"/>
              </a:ext>
            </a:extLst>
          </p:cNvPr>
          <p:cNvSpPr/>
          <p:nvPr/>
        </p:nvSpPr>
        <p:spPr>
          <a:xfrm>
            <a:off x="137866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RİSKLER</a:t>
            </a:r>
          </a:p>
        </p:txBody>
      </p:sp>
      <p:sp>
        <p:nvSpPr>
          <p:cNvPr id="9" name="Rectangle 8">
            <a:extLst>
              <a:ext uri="{FF2B5EF4-FFF2-40B4-BE49-F238E27FC236}">
                <a16:creationId xmlns:a16="http://schemas.microsoft.com/office/drawing/2014/main" id="{0BB8C261-24ED-EBC6-60A8-0D52A9FA6254}"/>
              </a:ext>
            </a:extLst>
          </p:cNvPr>
          <p:cNvSpPr/>
          <p:nvPr/>
        </p:nvSpPr>
        <p:spPr>
          <a:xfrm>
            <a:off x="285334" y="2918338"/>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11" name="Rectangle: Rounded Corners 18">
            <a:extLst>
              <a:ext uri="{FF2B5EF4-FFF2-40B4-BE49-F238E27FC236}">
                <a16:creationId xmlns:a16="http://schemas.microsoft.com/office/drawing/2014/main" id="{EE1691A2-19FB-E467-E490-0DFAF0263F5E}"/>
              </a:ext>
            </a:extLst>
          </p:cNvPr>
          <p:cNvSpPr/>
          <p:nvPr/>
        </p:nvSpPr>
        <p:spPr>
          <a:xfrm>
            <a:off x="728034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FIRSATLAR</a:t>
            </a:r>
          </a:p>
        </p:txBody>
      </p:sp>
      <p:sp>
        <p:nvSpPr>
          <p:cNvPr id="14" name="Rectangle 17">
            <a:extLst>
              <a:ext uri="{FF2B5EF4-FFF2-40B4-BE49-F238E27FC236}">
                <a16:creationId xmlns:a16="http://schemas.microsoft.com/office/drawing/2014/main" id="{78203B90-03A0-694F-9393-A500D43D94B7}"/>
              </a:ext>
            </a:extLst>
          </p:cNvPr>
          <p:cNvSpPr/>
          <p:nvPr/>
        </p:nvSpPr>
        <p:spPr>
          <a:xfrm>
            <a:off x="119336" y="2195235"/>
            <a:ext cx="11747839" cy="368784"/>
          </a:xfrm>
          <a:prstGeom prst="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527175" indent="-1527175" algn="ctr"/>
            <a:r>
              <a:rPr lang="tr-TR" sz="1600" b="1" dirty="0">
                <a:solidFill>
                  <a:schemeClr val="bg1"/>
                </a:solidFill>
              </a:rPr>
              <a:t>RİSKLER/FIRSATLAR</a:t>
            </a:r>
            <a:endParaRPr lang="en-US" sz="1600" dirty="0">
              <a:solidFill>
                <a:schemeClr val="bg1"/>
              </a:solidFill>
            </a:endParaRPr>
          </a:p>
        </p:txBody>
      </p:sp>
      <p:sp>
        <p:nvSpPr>
          <p:cNvPr id="15" name="Oval 14">
            <a:extLst>
              <a:ext uri="{FF2B5EF4-FFF2-40B4-BE49-F238E27FC236}">
                <a16:creationId xmlns:a16="http://schemas.microsoft.com/office/drawing/2014/main" id="{94978387-68E1-68FD-A29E-019B7DDE2E5C}"/>
              </a:ext>
            </a:extLst>
          </p:cNvPr>
          <p:cNvSpPr/>
          <p:nvPr/>
        </p:nvSpPr>
        <p:spPr>
          <a:xfrm>
            <a:off x="285793" y="2985810"/>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16" name="Oval 15">
            <a:extLst>
              <a:ext uri="{FF2B5EF4-FFF2-40B4-BE49-F238E27FC236}">
                <a16:creationId xmlns:a16="http://schemas.microsoft.com/office/drawing/2014/main" id="{E4DE101F-6436-1573-B154-ED8A39791968}"/>
              </a:ext>
            </a:extLst>
          </p:cNvPr>
          <p:cNvSpPr/>
          <p:nvPr/>
        </p:nvSpPr>
        <p:spPr>
          <a:xfrm>
            <a:off x="276653" y="3727917"/>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17" name="Oval 16">
            <a:extLst>
              <a:ext uri="{FF2B5EF4-FFF2-40B4-BE49-F238E27FC236}">
                <a16:creationId xmlns:a16="http://schemas.microsoft.com/office/drawing/2014/main" id="{8CA206E1-CAF0-44FF-776B-8610C2FC7719}"/>
              </a:ext>
            </a:extLst>
          </p:cNvPr>
          <p:cNvSpPr/>
          <p:nvPr/>
        </p:nvSpPr>
        <p:spPr>
          <a:xfrm>
            <a:off x="276193" y="430398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19" name="Metin kutusu 18">
            <a:extLst>
              <a:ext uri="{FF2B5EF4-FFF2-40B4-BE49-F238E27FC236}">
                <a16:creationId xmlns:a16="http://schemas.microsoft.com/office/drawing/2014/main" id="{27A012DC-7A52-BEDD-CB5C-F7805CC72391}"/>
              </a:ext>
            </a:extLst>
          </p:cNvPr>
          <p:cNvSpPr txBox="1"/>
          <p:nvPr/>
        </p:nvSpPr>
        <p:spPr>
          <a:xfrm>
            <a:off x="588674" y="2852936"/>
            <a:ext cx="5313283" cy="769441"/>
          </a:xfrm>
          <a:prstGeom prst="rect">
            <a:avLst/>
          </a:prstGeom>
          <a:noFill/>
        </p:spPr>
        <p:txBody>
          <a:bodyPr wrap="square" rtlCol="0">
            <a:spAutoFit/>
          </a:bodyPr>
          <a:lstStyle/>
          <a:p>
            <a:r>
              <a:rPr lang="tr-TR" sz="1100" dirty="0"/>
              <a:t>Mevcut tesislerin en geç 31.12.2028’e kadar asgari «F» seviyesinde, 2030’a kadar ise asgari «D» seviyesinde SYD belgesi alma zorunluluğu bulunmaktadır. Bu belgenin Çevre İzin ve Lisans belgelerinin yenilenmesi için ön koşul olması ve «D» seviyesinin altına düşülmesi belge iptaline ve ciddi operasyonel risklerin oluşmasına neden olabilir.</a:t>
            </a:r>
          </a:p>
        </p:txBody>
      </p:sp>
      <p:sp>
        <p:nvSpPr>
          <p:cNvPr id="25" name="Metin kutusu 24">
            <a:extLst>
              <a:ext uri="{FF2B5EF4-FFF2-40B4-BE49-F238E27FC236}">
                <a16:creationId xmlns:a16="http://schemas.microsoft.com/office/drawing/2014/main" id="{5A6CC74C-FC74-33E2-EAD2-8D77AF70397C}"/>
              </a:ext>
            </a:extLst>
          </p:cNvPr>
          <p:cNvSpPr txBox="1"/>
          <p:nvPr/>
        </p:nvSpPr>
        <p:spPr>
          <a:xfrm>
            <a:off x="623392" y="3645024"/>
            <a:ext cx="5313283" cy="600164"/>
          </a:xfrm>
          <a:prstGeom prst="rect">
            <a:avLst/>
          </a:prstGeom>
          <a:noFill/>
        </p:spPr>
        <p:txBody>
          <a:bodyPr wrap="square" rtlCol="0">
            <a:spAutoFit/>
          </a:bodyPr>
          <a:lstStyle/>
          <a:p>
            <a:r>
              <a:rPr lang="tr-TR" sz="1100" dirty="0"/>
              <a:t>Üretim tesislerinin sektörel MET dokümanlarındaki sınır değerlere (MET-İES) uyum sağlayacak şekilde yenilenmesinin gerekmesi sonucu teknolojik revizyon ve donanım maliyetlerinin doğması</a:t>
            </a:r>
          </a:p>
        </p:txBody>
      </p:sp>
      <p:sp>
        <p:nvSpPr>
          <p:cNvPr id="29" name="Rectangle 8">
            <a:extLst>
              <a:ext uri="{FF2B5EF4-FFF2-40B4-BE49-F238E27FC236}">
                <a16:creationId xmlns:a16="http://schemas.microsoft.com/office/drawing/2014/main" id="{D5D54EDD-36E6-B330-FE60-F166A68C691C}"/>
              </a:ext>
            </a:extLst>
          </p:cNvPr>
          <p:cNvSpPr/>
          <p:nvPr/>
        </p:nvSpPr>
        <p:spPr>
          <a:xfrm>
            <a:off x="6086000" y="2933353"/>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31" name="Oval 30">
            <a:extLst>
              <a:ext uri="{FF2B5EF4-FFF2-40B4-BE49-F238E27FC236}">
                <a16:creationId xmlns:a16="http://schemas.microsoft.com/office/drawing/2014/main" id="{E02C2C65-4A1A-7A9A-F588-62D214F08C16}"/>
              </a:ext>
            </a:extLst>
          </p:cNvPr>
          <p:cNvSpPr/>
          <p:nvPr/>
        </p:nvSpPr>
        <p:spPr>
          <a:xfrm>
            <a:off x="6086459" y="300082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33" name="Oval 32">
            <a:extLst>
              <a:ext uri="{FF2B5EF4-FFF2-40B4-BE49-F238E27FC236}">
                <a16:creationId xmlns:a16="http://schemas.microsoft.com/office/drawing/2014/main" id="{C756610B-F02E-600C-67C9-FD3BFEEBC9FA}"/>
              </a:ext>
            </a:extLst>
          </p:cNvPr>
          <p:cNvSpPr/>
          <p:nvPr/>
        </p:nvSpPr>
        <p:spPr>
          <a:xfrm>
            <a:off x="6077319" y="358390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35" name="Oval 34">
            <a:extLst>
              <a:ext uri="{FF2B5EF4-FFF2-40B4-BE49-F238E27FC236}">
                <a16:creationId xmlns:a16="http://schemas.microsoft.com/office/drawing/2014/main" id="{363A3E9E-59F5-86E5-B837-8A25F0808AD2}"/>
              </a:ext>
            </a:extLst>
          </p:cNvPr>
          <p:cNvSpPr/>
          <p:nvPr/>
        </p:nvSpPr>
        <p:spPr>
          <a:xfrm>
            <a:off x="6076859" y="415996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37" name="Metin kutusu 36">
            <a:extLst>
              <a:ext uri="{FF2B5EF4-FFF2-40B4-BE49-F238E27FC236}">
                <a16:creationId xmlns:a16="http://schemas.microsoft.com/office/drawing/2014/main" id="{D99D5730-9EF9-863B-9CF8-A8EC8E8C5B9F}"/>
              </a:ext>
            </a:extLst>
          </p:cNvPr>
          <p:cNvSpPr txBox="1"/>
          <p:nvPr/>
        </p:nvSpPr>
        <p:spPr>
          <a:xfrm>
            <a:off x="6389340" y="2875583"/>
            <a:ext cx="5313283" cy="769441"/>
          </a:xfrm>
          <a:prstGeom prst="rect">
            <a:avLst/>
          </a:prstGeom>
          <a:noFill/>
        </p:spPr>
        <p:txBody>
          <a:bodyPr wrap="square" rtlCol="0">
            <a:spAutoFit/>
          </a:bodyPr>
          <a:lstStyle/>
          <a:p>
            <a:r>
              <a:rPr lang="tr-TR" sz="1100" dirty="0"/>
              <a:t>Katalitik N2O redüksiyonu projesi, biyogaz tesislerindeki sıvı fermente atığının döngüsel olarak kullanımı veya </a:t>
            </a:r>
            <a:r>
              <a:rPr lang="tr-TR" sz="1100" dirty="0" err="1"/>
              <a:t>fosfojipsin</a:t>
            </a:r>
            <a:r>
              <a:rPr lang="tr-TR" sz="1100" dirty="0"/>
              <a:t> üretime katılan bir değere dönüştürülmesi gibi </a:t>
            </a:r>
            <a:r>
              <a:rPr lang="tr-TR" sz="1100" dirty="0" err="1"/>
              <a:t>projlerin</a:t>
            </a:r>
            <a:r>
              <a:rPr lang="tr-TR" sz="1100" dirty="0"/>
              <a:t> hayata geçirilmesi sonucu belge seviyelerinin artması ve hibe, teşvik, kredi gibi finansal mekanizmalara başvurularda avantaj elde edilmesi</a:t>
            </a:r>
          </a:p>
        </p:txBody>
      </p:sp>
      <p:sp>
        <p:nvSpPr>
          <p:cNvPr id="39" name="Metin kutusu 38">
            <a:extLst>
              <a:ext uri="{FF2B5EF4-FFF2-40B4-BE49-F238E27FC236}">
                <a16:creationId xmlns:a16="http://schemas.microsoft.com/office/drawing/2014/main" id="{C102C8A9-3D2F-12F5-6E50-FE087B7BBF46}"/>
              </a:ext>
            </a:extLst>
          </p:cNvPr>
          <p:cNvSpPr txBox="1"/>
          <p:nvPr/>
        </p:nvSpPr>
        <p:spPr>
          <a:xfrm>
            <a:off x="6380198" y="3573016"/>
            <a:ext cx="5313283" cy="600164"/>
          </a:xfrm>
          <a:prstGeom prst="rect">
            <a:avLst/>
          </a:prstGeom>
          <a:noFill/>
        </p:spPr>
        <p:txBody>
          <a:bodyPr wrap="square" rtlCol="0">
            <a:spAutoFit/>
          </a:bodyPr>
          <a:lstStyle/>
          <a:p>
            <a:r>
              <a:rPr lang="tr-TR" sz="1100" dirty="0"/>
              <a:t>Yönetmeliğin gerektirdiği MET uygulamaları ve sera gazı emisyonlarındaki azaltım adımları, SKDM, CDP veya sürdürülebilirlik raporlama süreçleri ile tam uyum sağlayarak doğrulanmış, güçlü bir kurumsal veri altyapısı oluşturur.</a:t>
            </a:r>
          </a:p>
        </p:txBody>
      </p:sp>
      <p:sp>
        <p:nvSpPr>
          <p:cNvPr id="41" name="Metin kutusu 40">
            <a:extLst>
              <a:ext uri="{FF2B5EF4-FFF2-40B4-BE49-F238E27FC236}">
                <a16:creationId xmlns:a16="http://schemas.microsoft.com/office/drawing/2014/main" id="{E513E450-C284-53B1-7E8B-AFF3FBFA11C3}"/>
              </a:ext>
            </a:extLst>
          </p:cNvPr>
          <p:cNvSpPr txBox="1"/>
          <p:nvPr/>
        </p:nvSpPr>
        <p:spPr>
          <a:xfrm>
            <a:off x="6380198" y="4077072"/>
            <a:ext cx="5313283" cy="600164"/>
          </a:xfrm>
          <a:prstGeom prst="rect">
            <a:avLst/>
          </a:prstGeom>
          <a:noFill/>
        </p:spPr>
        <p:txBody>
          <a:bodyPr wrap="square" rtlCol="0">
            <a:spAutoFit/>
          </a:bodyPr>
          <a:lstStyle/>
          <a:p>
            <a:r>
              <a:rPr lang="tr-TR" sz="1100" dirty="0"/>
              <a:t>Çevre yönetim birimlerinde en az üç yıl tecrübeye sahip personelin «SYD Sorumlusu» unvanı alması, belgelendirme süreçlerinin dış danışmanlara bağlı olmadan maliyet etkin şekilde yönetilmesini sağlar.</a:t>
            </a:r>
          </a:p>
        </p:txBody>
      </p:sp>
      <p:sp>
        <p:nvSpPr>
          <p:cNvPr id="68" name="Rectangle: Rounded Corners 4">
            <a:extLst>
              <a:ext uri="{FF2B5EF4-FFF2-40B4-BE49-F238E27FC236}">
                <a16:creationId xmlns:a16="http://schemas.microsoft.com/office/drawing/2014/main" id="{52E9E799-D4A3-80E8-A655-9C0BEB2E5921}"/>
              </a:ext>
            </a:extLst>
          </p:cNvPr>
          <p:cNvSpPr/>
          <p:nvPr/>
        </p:nvSpPr>
        <p:spPr>
          <a:xfrm>
            <a:off x="1378669" y="4782845"/>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TAMAMLANAN AKSİYONLAR</a:t>
            </a:r>
            <a:endParaRPr lang="en-US" sz="1400" b="1" dirty="0">
              <a:solidFill>
                <a:schemeClr val="bg1"/>
              </a:solidFill>
            </a:endParaRPr>
          </a:p>
        </p:txBody>
      </p:sp>
      <p:sp>
        <p:nvSpPr>
          <p:cNvPr id="70" name="Rectangle: Rounded Corners 4">
            <a:extLst>
              <a:ext uri="{FF2B5EF4-FFF2-40B4-BE49-F238E27FC236}">
                <a16:creationId xmlns:a16="http://schemas.microsoft.com/office/drawing/2014/main" id="{6BB12D19-7203-F615-421A-4FD956C19CFF}"/>
              </a:ext>
            </a:extLst>
          </p:cNvPr>
          <p:cNvSpPr/>
          <p:nvPr/>
        </p:nvSpPr>
        <p:spPr>
          <a:xfrm>
            <a:off x="7280349" y="4736616"/>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DEVAM EDEN AKSİYONLAR</a:t>
            </a:r>
            <a:endParaRPr lang="en-US" sz="1400" b="1" dirty="0">
              <a:solidFill>
                <a:schemeClr val="bg1"/>
              </a:solidFill>
            </a:endParaRPr>
          </a:p>
        </p:txBody>
      </p:sp>
      <p:pic>
        <p:nvPicPr>
          <p:cNvPr id="75" name="Grafik 74" descr="Bilgi düz dolguyla">
            <a:extLst>
              <a:ext uri="{FF2B5EF4-FFF2-40B4-BE49-F238E27FC236}">
                <a16:creationId xmlns:a16="http://schemas.microsoft.com/office/drawing/2014/main" id="{D2FC774D-52DF-6D60-E0E4-F8D1E88C394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32" y="999904"/>
            <a:ext cx="914400" cy="914400"/>
          </a:xfrm>
          <a:prstGeom prst="rect">
            <a:avLst/>
          </a:prstGeom>
        </p:spPr>
      </p:pic>
      <p:sp>
        <p:nvSpPr>
          <p:cNvPr id="8" name="Metin kutusu 7">
            <a:extLst>
              <a:ext uri="{FF2B5EF4-FFF2-40B4-BE49-F238E27FC236}">
                <a16:creationId xmlns:a16="http://schemas.microsoft.com/office/drawing/2014/main" id="{090A2C7F-D7F4-4E91-0509-1E0261F2C098}"/>
              </a:ext>
            </a:extLst>
          </p:cNvPr>
          <p:cNvSpPr txBox="1"/>
          <p:nvPr/>
        </p:nvSpPr>
        <p:spPr>
          <a:xfrm>
            <a:off x="635477" y="4221088"/>
            <a:ext cx="5313283" cy="430887"/>
          </a:xfrm>
          <a:prstGeom prst="rect">
            <a:avLst/>
          </a:prstGeom>
          <a:noFill/>
        </p:spPr>
        <p:txBody>
          <a:bodyPr wrap="square" rtlCol="0">
            <a:spAutoFit/>
          </a:bodyPr>
          <a:lstStyle/>
          <a:p>
            <a:r>
              <a:rPr lang="tr-TR" sz="1100" dirty="0"/>
              <a:t>SYD belgesinin 5 yılda bir veya önemli proses değişikliklerinde gözde geçirilmesi, çevreye zarar verecek bir uygunsuzluk durumunda belge iptali ve idari yaptırımlara yol açacaktır.</a:t>
            </a:r>
          </a:p>
        </p:txBody>
      </p:sp>
      <p:sp>
        <p:nvSpPr>
          <p:cNvPr id="10" name="Dikdörtgen 9">
            <a:extLst>
              <a:ext uri="{FF2B5EF4-FFF2-40B4-BE49-F238E27FC236}">
                <a16:creationId xmlns:a16="http://schemas.microsoft.com/office/drawing/2014/main" id="{99102FF4-647B-B95B-0440-CB83E3EDB266}"/>
              </a:ext>
            </a:extLst>
          </p:cNvPr>
          <p:cNvSpPr/>
          <p:nvPr/>
        </p:nvSpPr>
        <p:spPr>
          <a:xfrm>
            <a:off x="8256240" y="774567"/>
            <a:ext cx="4392488" cy="1834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err="1"/>
              <a:t>Batıkan</a:t>
            </a:r>
            <a:endParaRPr lang="tr-TR" dirty="0"/>
          </a:p>
        </p:txBody>
      </p:sp>
    </p:spTree>
    <p:extLst>
      <p:ext uri="{BB962C8B-B14F-4D97-AF65-F5344CB8AC3E}">
        <p14:creationId xmlns:p14="http://schemas.microsoft.com/office/powerpoint/2010/main" val="489314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53E20-E198-3E0A-4803-E12A660ECAF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7D5C214-20C3-E276-DC65-3BBADE9C7A9D}"/>
              </a:ext>
            </a:extLst>
          </p:cNvPr>
          <p:cNvSpPr>
            <a:spLocks noGrp="1"/>
          </p:cNvSpPr>
          <p:nvPr>
            <p:ph type="title"/>
          </p:nvPr>
        </p:nvSpPr>
        <p:spPr>
          <a:xfrm>
            <a:off x="9144" y="-3531"/>
            <a:ext cx="10701157" cy="778098"/>
          </a:xfrm>
        </p:spPr>
        <p:txBody>
          <a:bodyPr>
            <a:normAutofit fontScale="90000"/>
          </a:bodyPr>
          <a:lstStyle/>
          <a:p>
            <a:r>
              <a:rPr lang="tr-TR" b="1" i="1" dirty="0"/>
              <a:t>Kimyasalların Kaydı, Değerlendirilmesi, İzni ve Kısıtlanması Hakkında Yönetmelik (KKDİK)</a:t>
            </a:r>
          </a:p>
        </p:txBody>
      </p:sp>
      <p:sp>
        <p:nvSpPr>
          <p:cNvPr id="4" name="Slayt Numarası Yer Tutucusu 3">
            <a:extLst>
              <a:ext uri="{FF2B5EF4-FFF2-40B4-BE49-F238E27FC236}">
                <a16:creationId xmlns:a16="http://schemas.microsoft.com/office/drawing/2014/main" id="{64B7377D-3A24-43CD-BDD6-C6DB6FB8F00B}"/>
              </a:ext>
            </a:extLst>
          </p:cNvPr>
          <p:cNvSpPr>
            <a:spLocks noGrp="1"/>
          </p:cNvSpPr>
          <p:nvPr>
            <p:ph type="sldNum" sz="quarter" idx="4"/>
          </p:nvPr>
        </p:nvSpPr>
        <p:spPr/>
        <p:txBody>
          <a:bodyPr/>
          <a:lstStyle/>
          <a:p>
            <a:fld id="{42CA6F85-893A-4FE1-8820-DAA50ABDC7DA}" type="slidenum">
              <a:rPr lang="tr-TR" smtClean="0"/>
              <a:pPr/>
              <a:t>11</a:t>
            </a:fld>
            <a:endParaRPr lang="tr-TR"/>
          </a:p>
        </p:txBody>
      </p:sp>
      <p:sp>
        <p:nvSpPr>
          <p:cNvPr id="7" name="Metin kutusu 6">
            <a:extLst>
              <a:ext uri="{FF2B5EF4-FFF2-40B4-BE49-F238E27FC236}">
                <a16:creationId xmlns:a16="http://schemas.microsoft.com/office/drawing/2014/main" id="{FB3F8CD6-3077-38FE-216D-1BA45F8F24D4}"/>
              </a:ext>
            </a:extLst>
          </p:cNvPr>
          <p:cNvSpPr txBox="1"/>
          <p:nvPr/>
        </p:nvSpPr>
        <p:spPr>
          <a:xfrm>
            <a:off x="1559495" y="747861"/>
            <a:ext cx="10307679" cy="1384995"/>
          </a:xfrm>
          <a:prstGeom prst="rect">
            <a:avLst/>
          </a:prstGeom>
          <a:noFill/>
        </p:spPr>
        <p:txBody>
          <a:bodyPr wrap="square" rtlCol="0">
            <a:spAutoFit/>
          </a:bodyPr>
          <a:lstStyle/>
          <a:p>
            <a:r>
              <a:rPr lang="tr-TR" sz="1400" b="1" dirty="0"/>
              <a:t>GENEL BİLGİLER</a:t>
            </a:r>
          </a:p>
          <a:p>
            <a:pPr marL="285750" indent="-285750">
              <a:buFont typeface="Wingdings" panose="05000000000000000000" pitchFamily="2" charset="2"/>
              <a:buChar char="Ø"/>
            </a:pPr>
            <a:r>
              <a:rPr lang="tr-TR" sz="1400" dirty="0"/>
              <a:t>Yönetmelik, 23.06.2017 tarih ve 30105 Sayılı Resmi </a:t>
            </a:r>
            <a:r>
              <a:rPr lang="tr-TR" sz="1400" dirty="0" err="1"/>
              <a:t>Gazete’de</a:t>
            </a:r>
            <a:r>
              <a:rPr lang="tr-TR" sz="1400" dirty="0"/>
              <a:t> yayımlanmıştır.</a:t>
            </a:r>
          </a:p>
          <a:p>
            <a:pPr marL="285750" indent="-285750">
              <a:buFont typeface="Wingdings" panose="05000000000000000000" pitchFamily="2" charset="2"/>
              <a:buChar char="Ø"/>
            </a:pPr>
            <a:r>
              <a:rPr lang="tr-TR" sz="1400" dirty="0"/>
              <a:t>Üretimde kullanılan kimyasalların kayıt ve izin süreçlerinin tedarik zincirindeki tüm aktörler tarafından eksiksiz yürütülmesini sağlamayı amaçlar.</a:t>
            </a:r>
          </a:p>
          <a:p>
            <a:pPr marL="285750" indent="-285750">
              <a:buFont typeface="Wingdings" panose="05000000000000000000" pitchFamily="2" charset="2"/>
              <a:buChar char="Ø"/>
            </a:pPr>
            <a:r>
              <a:rPr lang="tr-TR" sz="1400" dirty="0"/>
              <a:t>Tesislerde imal ve ithal edilen veya karışım/eşya içerisinde kullanılan maddelerin kayıt altına alınarak, üretim sahasındaki kimyasal risklerin standartlaştırılması hedeflenir ve daha güvenli ikame kimyasalların üretime entegre edilmesi teşvik edilir. </a:t>
            </a:r>
          </a:p>
        </p:txBody>
      </p:sp>
      <p:sp>
        <p:nvSpPr>
          <p:cNvPr id="3" name="Rectangle 2">
            <a:extLst>
              <a:ext uri="{FF2B5EF4-FFF2-40B4-BE49-F238E27FC236}">
                <a16:creationId xmlns:a16="http://schemas.microsoft.com/office/drawing/2014/main" id="{3387D463-98F3-EC8C-56E6-95F950670B95}"/>
              </a:ext>
            </a:extLst>
          </p:cNvPr>
          <p:cNvSpPr/>
          <p:nvPr/>
        </p:nvSpPr>
        <p:spPr>
          <a:xfrm>
            <a:off x="110757" y="2608949"/>
            <a:ext cx="11767864" cy="206984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4">
            <a:extLst>
              <a:ext uri="{FF2B5EF4-FFF2-40B4-BE49-F238E27FC236}">
                <a16:creationId xmlns:a16="http://schemas.microsoft.com/office/drawing/2014/main" id="{60F35C4D-A4F6-8182-AA5D-5C321A91DDEE}"/>
              </a:ext>
            </a:extLst>
          </p:cNvPr>
          <p:cNvSpPr/>
          <p:nvPr/>
        </p:nvSpPr>
        <p:spPr>
          <a:xfrm>
            <a:off x="137866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RİSKLER</a:t>
            </a:r>
          </a:p>
        </p:txBody>
      </p:sp>
      <p:sp>
        <p:nvSpPr>
          <p:cNvPr id="9" name="Rectangle 8">
            <a:extLst>
              <a:ext uri="{FF2B5EF4-FFF2-40B4-BE49-F238E27FC236}">
                <a16:creationId xmlns:a16="http://schemas.microsoft.com/office/drawing/2014/main" id="{B03EDEFC-32CD-03E7-CF1A-38800B423A77}"/>
              </a:ext>
            </a:extLst>
          </p:cNvPr>
          <p:cNvSpPr/>
          <p:nvPr/>
        </p:nvSpPr>
        <p:spPr>
          <a:xfrm>
            <a:off x="285334" y="2918338"/>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11" name="Rectangle: Rounded Corners 18">
            <a:extLst>
              <a:ext uri="{FF2B5EF4-FFF2-40B4-BE49-F238E27FC236}">
                <a16:creationId xmlns:a16="http://schemas.microsoft.com/office/drawing/2014/main" id="{FEE1C2B7-BA12-A32B-7295-8E10265EE6BF}"/>
              </a:ext>
            </a:extLst>
          </p:cNvPr>
          <p:cNvSpPr/>
          <p:nvPr/>
        </p:nvSpPr>
        <p:spPr>
          <a:xfrm>
            <a:off x="728034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FIRSATLAR</a:t>
            </a:r>
          </a:p>
        </p:txBody>
      </p:sp>
      <p:sp>
        <p:nvSpPr>
          <p:cNvPr id="14" name="Rectangle 17">
            <a:extLst>
              <a:ext uri="{FF2B5EF4-FFF2-40B4-BE49-F238E27FC236}">
                <a16:creationId xmlns:a16="http://schemas.microsoft.com/office/drawing/2014/main" id="{B7E7D114-92B8-5BC2-ACA5-170A5F5E1E87}"/>
              </a:ext>
            </a:extLst>
          </p:cNvPr>
          <p:cNvSpPr/>
          <p:nvPr/>
        </p:nvSpPr>
        <p:spPr>
          <a:xfrm>
            <a:off x="119336" y="2195235"/>
            <a:ext cx="11747839" cy="368784"/>
          </a:xfrm>
          <a:prstGeom prst="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527175" indent="-1527175" algn="ctr"/>
            <a:r>
              <a:rPr lang="tr-TR" sz="1600" b="1" dirty="0">
                <a:solidFill>
                  <a:schemeClr val="bg1"/>
                </a:solidFill>
              </a:rPr>
              <a:t>RİSKLER/FIRSATLAR</a:t>
            </a:r>
            <a:endParaRPr lang="en-US" sz="1600" dirty="0">
              <a:solidFill>
                <a:schemeClr val="bg1"/>
              </a:solidFill>
            </a:endParaRPr>
          </a:p>
        </p:txBody>
      </p:sp>
      <p:sp>
        <p:nvSpPr>
          <p:cNvPr id="15" name="Oval 14">
            <a:extLst>
              <a:ext uri="{FF2B5EF4-FFF2-40B4-BE49-F238E27FC236}">
                <a16:creationId xmlns:a16="http://schemas.microsoft.com/office/drawing/2014/main" id="{2FA633D0-7D1E-C6E8-E89E-A0B8B1C3A19E}"/>
              </a:ext>
            </a:extLst>
          </p:cNvPr>
          <p:cNvSpPr/>
          <p:nvPr/>
        </p:nvSpPr>
        <p:spPr>
          <a:xfrm>
            <a:off x="285793" y="2985810"/>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16" name="Oval 15">
            <a:extLst>
              <a:ext uri="{FF2B5EF4-FFF2-40B4-BE49-F238E27FC236}">
                <a16:creationId xmlns:a16="http://schemas.microsoft.com/office/drawing/2014/main" id="{E220B07B-D8D7-84CB-767F-2CC5A239941B}"/>
              </a:ext>
            </a:extLst>
          </p:cNvPr>
          <p:cNvSpPr/>
          <p:nvPr/>
        </p:nvSpPr>
        <p:spPr>
          <a:xfrm>
            <a:off x="276653" y="3501008"/>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17" name="Oval 16">
            <a:extLst>
              <a:ext uri="{FF2B5EF4-FFF2-40B4-BE49-F238E27FC236}">
                <a16:creationId xmlns:a16="http://schemas.microsoft.com/office/drawing/2014/main" id="{E4A68F4A-D487-2BB9-76E3-682CC518E15E}"/>
              </a:ext>
            </a:extLst>
          </p:cNvPr>
          <p:cNvSpPr/>
          <p:nvPr/>
        </p:nvSpPr>
        <p:spPr>
          <a:xfrm>
            <a:off x="276193" y="4077072"/>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19" name="Metin kutusu 18">
            <a:extLst>
              <a:ext uri="{FF2B5EF4-FFF2-40B4-BE49-F238E27FC236}">
                <a16:creationId xmlns:a16="http://schemas.microsoft.com/office/drawing/2014/main" id="{8FDB35D1-A3CA-0C00-23B0-D5F965AADD56}"/>
              </a:ext>
            </a:extLst>
          </p:cNvPr>
          <p:cNvSpPr txBox="1"/>
          <p:nvPr/>
        </p:nvSpPr>
        <p:spPr>
          <a:xfrm>
            <a:off x="588674" y="2852936"/>
            <a:ext cx="5313283" cy="600164"/>
          </a:xfrm>
          <a:prstGeom prst="rect">
            <a:avLst/>
          </a:prstGeom>
          <a:noFill/>
        </p:spPr>
        <p:txBody>
          <a:bodyPr wrap="square" rtlCol="0">
            <a:spAutoFit/>
          </a:bodyPr>
          <a:lstStyle/>
          <a:p>
            <a:r>
              <a:rPr lang="tr-TR" sz="1100" dirty="0"/>
              <a:t>Maddeler ile ilgili geçiş takvimlerine uygun kayıt yapılmadığı takdirde imal edilemez ve piyasaya sürülemez. Alt tedarikçilerin kayıt yükümlülüklerini yerine getirmemesi sonucu hammaddelere erişimin kesilmesi</a:t>
            </a:r>
          </a:p>
        </p:txBody>
      </p:sp>
      <p:sp>
        <p:nvSpPr>
          <p:cNvPr id="25" name="Metin kutusu 24">
            <a:extLst>
              <a:ext uri="{FF2B5EF4-FFF2-40B4-BE49-F238E27FC236}">
                <a16:creationId xmlns:a16="http://schemas.microsoft.com/office/drawing/2014/main" id="{BE5D7D1F-5F73-5648-2877-DB986340E507}"/>
              </a:ext>
            </a:extLst>
          </p:cNvPr>
          <p:cNvSpPr txBox="1"/>
          <p:nvPr/>
        </p:nvSpPr>
        <p:spPr>
          <a:xfrm>
            <a:off x="566693" y="3429000"/>
            <a:ext cx="5313283" cy="600164"/>
          </a:xfrm>
          <a:prstGeom prst="rect">
            <a:avLst/>
          </a:prstGeom>
          <a:noFill/>
        </p:spPr>
        <p:txBody>
          <a:bodyPr wrap="square" rtlCol="0">
            <a:spAutoFit/>
          </a:bodyPr>
          <a:lstStyle/>
          <a:p>
            <a:r>
              <a:rPr lang="tr-TR" sz="1100" dirty="0"/>
              <a:t>Üretim proseslerinde yer alan kimyasalların </a:t>
            </a:r>
            <a:r>
              <a:rPr lang="tr-TR" sz="1100" dirty="0" err="1"/>
              <a:t>biyobirikimli</a:t>
            </a:r>
            <a:r>
              <a:rPr lang="tr-TR" sz="1100" dirty="0"/>
              <a:t>, toksik veya kanserojen olarak sınıflandırılıp Ek-14 veya Ek-17 listelerine alınması sonucu bu kimyasalların kullanımının yasaklanması veya zorunlu ikame süreçlerine maruz kalınması</a:t>
            </a:r>
          </a:p>
        </p:txBody>
      </p:sp>
      <p:sp>
        <p:nvSpPr>
          <p:cNvPr id="29" name="Rectangle 8">
            <a:extLst>
              <a:ext uri="{FF2B5EF4-FFF2-40B4-BE49-F238E27FC236}">
                <a16:creationId xmlns:a16="http://schemas.microsoft.com/office/drawing/2014/main" id="{C63BC47B-A107-508A-FC81-14715EF32BCC}"/>
              </a:ext>
            </a:extLst>
          </p:cNvPr>
          <p:cNvSpPr/>
          <p:nvPr/>
        </p:nvSpPr>
        <p:spPr>
          <a:xfrm>
            <a:off x="6086000" y="2933353"/>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31" name="Oval 30">
            <a:extLst>
              <a:ext uri="{FF2B5EF4-FFF2-40B4-BE49-F238E27FC236}">
                <a16:creationId xmlns:a16="http://schemas.microsoft.com/office/drawing/2014/main" id="{6BF2FA46-F59D-1217-6816-25FFAE1ECAAC}"/>
              </a:ext>
            </a:extLst>
          </p:cNvPr>
          <p:cNvSpPr/>
          <p:nvPr/>
        </p:nvSpPr>
        <p:spPr>
          <a:xfrm>
            <a:off x="6086459" y="300082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33" name="Oval 32">
            <a:extLst>
              <a:ext uri="{FF2B5EF4-FFF2-40B4-BE49-F238E27FC236}">
                <a16:creationId xmlns:a16="http://schemas.microsoft.com/office/drawing/2014/main" id="{9B7D8029-262D-8D03-C2ED-7B73814DCA22}"/>
              </a:ext>
            </a:extLst>
          </p:cNvPr>
          <p:cNvSpPr/>
          <p:nvPr/>
        </p:nvSpPr>
        <p:spPr>
          <a:xfrm>
            <a:off x="6077319" y="3717032"/>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35" name="Oval 34">
            <a:extLst>
              <a:ext uri="{FF2B5EF4-FFF2-40B4-BE49-F238E27FC236}">
                <a16:creationId xmlns:a16="http://schemas.microsoft.com/office/drawing/2014/main" id="{2D81FA1B-31A8-1EC9-3D91-7E33AC14D16B}"/>
              </a:ext>
            </a:extLst>
          </p:cNvPr>
          <p:cNvSpPr/>
          <p:nvPr/>
        </p:nvSpPr>
        <p:spPr>
          <a:xfrm>
            <a:off x="6076859" y="415996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37" name="Metin kutusu 36">
            <a:extLst>
              <a:ext uri="{FF2B5EF4-FFF2-40B4-BE49-F238E27FC236}">
                <a16:creationId xmlns:a16="http://schemas.microsoft.com/office/drawing/2014/main" id="{3C29A1B2-9156-E826-F3B1-B3B1F3AEAD79}"/>
              </a:ext>
            </a:extLst>
          </p:cNvPr>
          <p:cNvSpPr txBox="1"/>
          <p:nvPr/>
        </p:nvSpPr>
        <p:spPr>
          <a:xfrm>
            <a:off x="6340469" y="2924944"/>
            <a:ext cx="5313283" cy="769441"/>
          </a:xfrm>
          <a:prstGeom prst="rect">
            <a:avLst/>
          </a:prstGeom>
          <a:noFill/>
        </p:spPr>
        <p:txBody>
          <a:bodyPr wrap="square" rtlCol="0">
            <a:spAutoFit/>
          </a:bodyPr>
          <a:lstStyle/>
          <a:p>
            <a:r>
              <a:rPr lang="tr-TR" sz="1100" dirty="0"/>
              <a:t>Toros </a:t>
            </a:r>
            <a:r>
              <a:rPr lang="tr-TR" sz="1100" dirty="0" err="1"/>
              <a:t>Tarım’ın</a:t>
            </a:r>
            <a:r>
              <a:rPr lang="tr-TR" sz="1100" dirty="0"/>
              <a:t> ana ürün portföyündeki maddeler için MBDF içinde Lider Kayıt Ettiren statüsü alarak süreci yönetebilir ve elindeki tam çalışma raporlarını/test verilerini diğer kayıt ettirenlerle adil ve şeffaf bir şekilde paylaşarak ortak kayıt maliyetlerini geri kazanabilir.</a:t>
            </a:r>
          </a:p>
        </p:txBody>
      </p:sp>
      <p:sp>
        <p:nvSpPr>
          <p:cNvPr id="39" name="Metin kutusu 38">
            <a:extLst>
              <a:ext uri="{FF2B5EF4-FFF2-40B4-BE49-F238E27FC236}">
                <a16:creationId xmlns:a16="http://schemas.microsoft.com/office/drawing/2014/main" id="{D458B0B8-6553-359C-9D61-2DAB82540290}"/>
              </a:ext>
            </a:extLst>
          </p:cNvPr>
          <p:cNvSpPr txBox="1"/>
          <p:nvPr/>
        </p:nvSpPr>
        <p:spPr>
          <a:xfrm>
            <a:off x="6384032" y="3620924"/>
            <a:ext cx="5313283" cy="600164"/>
          </a:xfrm>
          <a:prstGeom prst="rect">
            <a:avLst/>
          </a:prstGeom>
          <a:noFill/>
        </p:spPr>
        <p:txBody>
          <a:bodyPr wrap="square" rtlCol="0">
            <a:spAutoFit/>
          </a:bodyPr>
          <a:lstStyle/>
          <a:p>
            <a:r>
              <a:rPr lang="tr-TR" sz="1100" dirty="0"/>
              <a:t>Alt kullanıcılara güncellenmiş GBF ve maruz kalma senaryolarının iletilmesi zorunluluğunun kurumsal şeffaflığı artırması ve bunun sonucunda şirketin çevresel ve iş sağlığı uyumunda sektörel güvenilirliğinin pekişmesi</a:t>
            </a:r>
          </a:p>
        </p:txBody>
      </p:sp>
      <p:sp>
        <p:nvSpPr>
          <p:cNvPr id="41" name="Metin kutusu 40">
            <a:extLst>
              <a:ext uri="{FF2B5EF4-FFF2-40B4-BE49-F238E27FC236}">
                <a16:creationId xmlns:a16="http://schemas.microsoft.com/office/drawing/2014/main" id="{DD86499A-2AC5-7730-2092-25813EA33894}"/>
              </a:ext>
            </a:extLst>
          </p:cNvPr>
          <p:cNvSpPr txBox="1"/>
          <p:nvPr/>
        </p:nvSpPr>
        <p:spPr>
          <a:xfrm>
            <a:off x="6419238" y="4149080"/>
            <a:ext cx="5313283" cy="600164"/>
          </a:xfrm>
          <a:prstGeom prst="rect">
            <a:avLst/>
          </a:prstGeom>
          <a:noFill/>
        </p:spPr>
        <p:txBody>
          <a:bodyPr wrap="square" rtlCol="0">
            <a:spAutoFit/>
          </a:bodyPr>
          <a:lstStyle/>
          <a:p>
            <a:r>
              <a:rPr lang="tr-TR" sz="1100" dirty="0"/>
              <a:t>AR-GE amacıyla sınırlı miktarda imal veya ithal edilen maddelerin 5 yıl süreyle kayıt yükümlülüğünden muaf tutulması sonucu Toros </a:t>
            </a:r>
            <a:r>
              <a:rPr lang="tr-TR" sz="1100" dirty="0" err="1"/>
              <a:t>Tarım’ın</a:t>
            </a:r>
            <a:r>
              <a:rPr lang="tr-TR" sz="1100" dirty="0"/>
              <a:t> yeni nesil, iklim dostu ürünlerini yüksek kayıt maliyetlerine katlanmadan geliştirme ve test etme imkanı sağlaması</a:t>
            </a:r>
          </a:p>
        </p:txBody>
      </p:sp>
      <p:sp>
        <p:nvSpPr>
          <p:cNvPr id="68" name="Rectangle: Rounded Corners 4">
            <a:extLst>
              <a:ext uri="{FF2B5EF4-FFF2-40B4-BE49-F238E27FC236}">
                <a16:creationId xmlns:a16="http://schemas.microsoft.com/office/drawing/2014/main" id="{139EC995-12A4-F7DF-850C-F4825869388E}"/>
              </a:ext>
            </a:extLst>
          </p:cNvPr>
          <p:cNvSpPr/>
          <p:nvPr/>
        </p:nvSpPr>
        <p:spPr>
          <a:xfrm>
            <a:off x="1378669" y="4741333"/>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TAMAMLANAN AKSİYONLAR</a:t>
            </a:r>
            <a:endParaRPr lang="en-US" sz="1400" b="1" dirty="0">
              <a:solidFill>
                <a:schemeClr val="bg1"/>
              </a:solidFill>
            </a:endParaRPr>
          </a:p>
        </p:txBody>
      </p:sp>
      <p:sp>
        <p:nvSpPr>
          <p:cNvPr id="70" name="Rectangle: Rounded Corners 4">
            <a:extLst>
              <a:ext uri="{FF2B5EF4-FFF2-40B4-BE49-F238E27FC236}">
                <a16:creationId xmlns:a16="http://schemas.microsoft.com/office/drawing/2014/main" id="{9855E830-8345-AADA-A0A3-D8A5542E1A0D}"/>
              </a:ext>
            </a:extLst>
          </p:cNvPr>
          <p:cNvSpPr/>
          <p:nvPr/>
        </p:nvSpPr>
        <p:spPr>
          <a:xfrm>
            <a:off x="7280349" y="4725144"/>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DEVAM EDEN AKSİYONLAR</a:t>
            </a:r>
            <a:endParaRPr lang="en-US" sz="1400" b="1" dirty="0">
              <a:solidFill>
                <a:schemeClr val="bg1"/>
              </a:solidFill>
            </a:endParaRPr>
          </a:p>
        </p:txBody>
      </p:sp>
      <p:pic>
        <p:nvPicPr>
          <p:cNvPr id="75" name="Grafik 74" descr="Bilgi düz dolguyla">
            <a:extLst>
              <a:ext uri="{FF2B5EF4-FFF2-40B4-BE49-F238E27FC236}">
                <a16:creationId xmlns:a16="http://schemas.microsoft.com/office/drawing/2014/main" id="{A3D16C71-D7F4-BA4D-30DC-DF03CCB7BD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32" y="999904"/>
            <a:ext cx="914400" cy="914400"/>
          </a:xfrm>
          <a:prstGeom prst="rect">
            <a:avLst/>
          </a:prstGeom>
        </p:spPr>
      </p:pic>
      <p:sp>
        <p:nvSpPr>
          <p:cNvPr id="8" name="Metin kutusu 7">
            <a:extLst>
              <a:ext uri="{FF2B5EF4-FFF2-40B4-BE49-F238E27FC236}">
                <a16:creationId xmlns:a16="http://schemas.microsoft.com/office/drawing/2014/main" id="{F15C24F0-52E3-CB99-3A42-D768353B771E}"/>
              </a:ext>
            </a:extLst>
          </p:cNvPr>
          <p:cNvSpPr txBox="1"/>
          <p:nvPr/>
        </p:nvSpPr>
        <p:spPr>
          <a:xfrm>
            <a:off x="635477" y="4221088"/>
            <a:ext cx="5313283" cy="261610"/>
          </a:xfrm>
          <a:prstGeom prst="rect">
            <a:avLst/>
          </a:prstGeom>
          <a:noFill/>
        </p:spPr>
        <p:txBody>
          <a:bodyPr wrap="square" rtlCol="0">
            <a:spAutoFit/>
          </a:bodyPr>
          <a:lstStyle/>
          <a:p>
            <a:endParaRPr lang="tr-TR" sz="1100" dirty="0"/>
          </a:p>
        </p:txBody>
      </p:sp>
      <p:sp>
        <p:nvSpPr>
          <p:cNvPr id="10" name="Metin kutusu 9">
            <a:extLst>
              <a:ext uri="{FF2B5EF4-FFF2-40B4-BE49-F238E27FC236}">
                <a16:creationId xmlns:a16="http://schemas.microsoft.com/office/drawing/2014/main" id="{973F199F-F369-379A-7D16-5C0B14B62068}"/>
              </a:ext>
            </a:extLst>
          </p:cNvPr>
          <p:cNvSpPr txBox="1"/>
          <p:nvPr/>
        </p:nvSpPr>
        <p:spPr>
          <a:xfrm>
            <a:off x="582926" y="4016981"/>
            <a:ext cx="5313283" cy="769441"/>
          </a:xfrm>
          <a:prstGeom prst="rect">
            <a:avLst/>
          </a:prstGeom>
          <a:noFill/>
        </p:spPr>
        <p:txBody>
          <a:bodyPr wrap="square" rtlCol="0">
            <a:spAutoFit/>
          </a:bodyPr>
          <a:lstStyle/>
          <a:p>
            <a:r>
              <a:rPr lang="tr-TR" sz="1100" dirty="0"/>
              <a:t>İmal veya ithal edilen kimyasallar için MBDF bünyesinde ortak kayıt sunulması, yeni testlerin yapılması ve Kimyasal Güvenlik Raporu hazırlanmasının yüksek maliyetler doğurması ve lider kayıt ettiren ile yaşanabilecek olası anlaşmazlıklar sonucu operasyonel yük oluşması</a:t>
            </a:r>
          </a:p>
        </p:txBody>
      </p:sp>
      <p:sp>
        <p:nvSpPr>
          <p:cNvPr id="12" name="Dikdörtgen 11">
            <a:extLst>
              <a:ext uri="{FF2B5EF4-FFF2-40B4-BE49-F238E27FC236}">
                <a16:creationId xmlns:a16="http://schemas.microsoft.com/office/drawing/2014/main" id="{2FBE98DB-4F65-4BE8-B02E-3CBC09E27CFA}"/>
              </a:ext>
            </a:extLst>
          </p:cNvPr>
          <p:cNvSpPr/>
          <p:nvPr/>
        </p:nvSpPr>
        <p:spPr>
          <a:xfrm>
            <a:off x="8256240" y="774567"/>
            <a:ext cx="4392488" cy="1834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t>Bahadır Sucu</a:t>
            </a:r>
          </a:p>
        </p:txBody>
      </p:sp>
    </p:spTree>
    <p:extLst>
      <p:ext uri="{BB962C8B-B14F-4D97-AF65-F5344CB8AC3E}">
        <p14:creationId xmlns:p14="http://schemas.microsoft.com/office/powerpoint/2010/main" val="2952034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049C8-F993-E650-1F7D-529D6600D0E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14223E9-D8B4-948D-A17A-AF7BD29015F5}"/>
              </a:ext>
            </a:extLst>
          </p:cNvPr>
          <p:cNvSpPr>
            <a:spLocks noGrp="1"/>
          </p:cNvSpPr>
          <p:nvPr>
            <p:ph type="title"/>
          </p:nvPr>
        </p:nvSpPr>
        <p:spPr/>
        <p:txBody>
          <a:bodyPr/>
          <a:lstStyle/>
          <a:p>
            <a:r>
              <a:rPr lang="tr-TR" b="1" i="1" dirty="0"/>
              <a:t>Türkiye Sürdürülebilirlik Raporlama Standartları (TSRS)</a:t>
            </a:r>
          </a:p>
        </p:txBody>
      </p:sp>
      <p:sp>
        <p:nvSpPr>
          <p:cNvPr id="4" name="Slayt Numarası Yer Tutucusu 3">
            <a:extLst>
              <a:ext uri="{FF2B5EF4-FFF2-40B4-BE49-F238E27FC236}">
                <a16:creationId xmlns:a16="http://schemas.microsoft.com/office/drawing/2014/main" id="{609F0F9F-36A3-DD1A-FE6F-A98FF1EF27C4}"/>
              </a:ext>
            </a:extLst>
          </p:cNvPr>
          <p:cNvSpPr>
            <a:spLocks noGrp="1"/>
          </p:cNvSpPr>
          <p:nvPr>
            <p:ph type="sldNum" sz="quarter" idx="4"/>
          </p:nvPr>
        </p:nvSpPr>
        <p:spPr/>
        <p:txBody>
          <a:bodyPr/>
          <a:lstStyle/>
          <a:p>
            <a:fld id="{42CA6F85-893A-4FE1-8820-DAA50ABDC7DA}" type="slidenum">
              <a:rPr lang="tr-TR" smtClean="0"/>
              <a:pPr/>
              <a:t>13</a:t>
            </a:fld>
            <a:endParaRPr lang="tr-TR"/>
          </a:p>
        </p:txBody>
      </p:sp>
      <p:sp>
        <p:nvSpPr>
          <p:cNvPr id="7" name="Metin kutusu 6">
            <a:extLst>
              <a:ext uri="{FF2B5EF4-FFF2-40B4-BE49-F238E27FC236}">
                <a16:creationId xmlns:a16="http://schemas.microsoft.com/office/drawing/2014/main" id="{A63E391F-DC25-6762-4CBC-EFB6199EC150}"/>
              </a:ext>
            </a:extLst>
          </p:cNvPr>
          <p:cNvSpPr txBox="1"/>
          <p:nvPr/>
        </p:nvSpPr>
        <p:spPr>
          <a:xfrm>
            <a:off x="1559496" y="838444"/>
            <a:ext cx="10042648" cy="1169551"/>
          </a:xfrm>
          <a:prstGeom prst="rect">
            <a:avLst/>
          </a:prstGeom>
          <a:noFill/>
        </p:spPr>
        <p:txBody>
          <a:bodyPr wrap="square" rtlCol="0">
            <a:spAutoFit/>
          </a:bodyPr>
          <a:lstStyle/>
          <a:p>
            <a:r>
              <a:rPr lang="tr-TR" sz="1400" b="1" dirty="0"/>
              <a:t>GENEL BİLGİLER</a:t>
            </a:r>
          </a:p>
          <a:p>
            <a:pPr marL="285750" indent="-285750">
              <a:buFont typeface="Wingdings" panose="05000000000000000000" pitchFamily="2" charset="2"/>
              <a:buChar char="Ø"/>
            </a:pPr>
            <a:r>
              <a:rPr lang="tr-TR" sz="1400" dirty="0"/>
              <a:t>TSRS 1 ve TSRS 2, KGK tarafından 29 Aralık 2023 tarihli ve 32414 Sayılı Resmi </a:t>
            </a:r>
            <a:r>
              <a:rPr lang="tr-TR" sz="1400" dirty="0" err="1"/>
              <a:t>Gazete’de</a:t>
            </a:r>
            <a:r>
              <a:rPr lang="tr-TR" sz="1400" dirty="0"/>
              <a:t> yayımlanmıştır. </a:t>
            </a:r>
          </a:p>
          <a:p>
            <a:pPr marL="285750" indent="-285750">
              <a:buFont typeface="Wingdings" panose="05000000000000000000" pitchFamily="2" charset="2"/>
              <a:buChar char="Ø"/>
            </a:pPr>
            <a:r>
              <a:rPr lang="tr-TR" sz="1400" dirty="0"/>
              <a:t>SKDM aracılığıyla AB ilk aşamada çimento, demir-çelik, alüminyum, gübre, hidrojen ve elektrik sektörlerine ilişkin yerli ve ithal ürünlerin tabi olduğu karbon bedelini eşitlemeyi amaçlamaktadır.</a:t>
            </a:r>
          </a:p>
          <a:p>
            <a:pPr marL="285750" indent="-285750">
              <a:buFont typeface="Wingdings" panose="05000000000000000000" pitchFamily="2" charset="2"/>
              <a:buChar char="Ø"/>
            </a:pPr>
            <a:r>
              <a:rPr lang="tr-TR" sz="1400" dirty="0"/>
              <a:t>Regülasyon karbon kaçağını önlemek ve adil rekabet koşullarında düşük karbonlu üretimi teşvik etmektedir.</a:t>
            </a:r>
          </a:p>
        </p:txBody>
      </p:sp>
      <p:sp>
        <p:nvSpPr>
          <p:cNvPr id="3" name="Rectangle 2">
            <a:extLst>
              <a:ext uri="{FF2B5EF4-FFF2-40B4-BE49-F238E27FC236}">
                <a16:creationId xmlns:a16="http://schemas.microsoft.com/office/drawing/2014/main" id="{4DC95865-077D-C111-A611-A8D584F44E22}"/>
              </a:ext>
            </a:extLst>
          </p:cNvPr>
          <p:cNvSpPr/>
          <p:nvPr/>
        </p:nvSpPr>
        <p:spPr>
          <a:xfrm>
            <a:off x="110757" y="2608949"/>
            <a:ext cx="11767864" cy="206984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4">
            <a:extLst>
              <a:ext uri="{FF2B5EF4-FFF2-40B4-BE49-F238E27FC236}">
                <a16:creationId xmlns:a16="http://schemas.microsoft.com/office/drawing/2014/main" id="{46F31C73-36F7-ABF3-51E3-8AD3A80257A1}"/>
              </a:ext>
            </a:extLst>
          </p:cNvPr>
          <p:cNvSpPr/>
          <p:nvPr/>
        </p:nvSpPr>
        <p:spPr>
          <a:xfrm>
            <a:off x="137866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RİSKLER</a:t>
            </a:r>
          </a:p>
        </p:txBody>
      </p:sp>
      <p:sp>
        <p:nvSpPr>
          <p:cNvPr id="9" name="Rectangle 8">
            <a:extLst>
              <a:ext uri="{FF2B5EF4-FFF2-40B4-BE49-F238E27FC236}">
                <a16:creationId xmlns:a16="http://schemas.microsoft.com/office/drawing/2014/main" id="{AB56D862-E5C0-0C49-9005-4B58ED744797}"/>
              </a:ext>
            </a:extLst>
          </p:cNvPr>
          <p:cNvSpPr/>
          <p:nvPr/>
        </p:nvSpPr>
        <p:spPr>
          <a:xfrm>
            <a:off x="285334" y="2918338"/>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11" name="Rectangle: Rounded Corners 18">
            <a:extLst>
              <a:ext uri="{FF2B5EF4-FFF2-40B4-BE49-F238E27FC236}">
                <a16:creationId xmlns:a16="http://schemas.microsoft.com/office/drawing/2014/main" id="{99281ADF-E89D-DC9F-1F53-083C1E90B655}"/>
              </a:ext>
            </a:extLst>
          </p:cNvPr>
          <p:cNvSpPr/>
          <p:nvPr/>
        </p:nvSpPr>
        <p:spPr>
          <a:xfrm>
            <a:off x="728034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FIRSATLAR</a:t>
            </a:r>
          </a:p>
        </p:txBody>
      </p:sp>
      <p:sp>
        <p:nvSpPr>
          <p:cNvPr id="14" name="Rectangle 17">
            <a:extLst>
              <a:ext uri="{FF2B5EF4-FFF2-40B4-BE49-F238E27FC236}">
                <a16:creationId xmlns:a16="http://schemas.microsoft.com/office/drawing/2014/main" id="{204E41D1-34ED-446E-C350-C40F37AC6FDB}"/>
              </a:ext>
            </a:extLst>
          </p:cNvPr>
          <p:cNvSpPr/>
          <p:nvPr/>
        </p:nvSpPr>
        <p:spPr>
          <a:xfrm>
            <a:off x="119336" y="2195235"/>
            <a:ext cx="11747839" cy="368784"/>
          </a:xfrm>
          <a:prstGeom prst="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527175" indent="-1527175" algn="ctr"/>
            <a:r>
              <a:rPr lang="tr-TR" sz="1600" b="1" dirty="0">
                <a:solidFill>
                  <a:schemeClr val="bg1"/>
                </a:solidFill>
              </a:rPr>
              <a:t>RİSKLER/FIRSATLAR</a:t>
            </a:r>
            <a:endParaRPr lang="en-US" sz="1600" dirty="0">
              <a:solidFill>
                <a:schemeClr val="bg1"/>
              </a:solidFill>
            </a:endParaRPr>
          </a:p>
        </p:txBody>
      </p:sp>
      <p:sp>
        <p:nvSpPr>
          <p:cNvPr id="15" name="Oval 14">
            <a:extLst>
              <a:ext uri="{FF2B5EF4-FFF2-40B4-BE49-F238E27FC236}">
                <a16:creationId xmlns:a16="http://schemas.microsoft.com/office/drawing/2014/main" id="{04D76649-0EA3-DF4A-D3CA-F40886E7B2AF}"/>
              </a:ext>
            </a:extLst>
          </p:cNvPr>
          <p:cNvSpPr/>
          <p:nvPr/>
        </p:nvSpPr>
        <p:spPr>
          <a:xfrm>
            <a:off x="285793" y="2985810"/>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16" name="Oval 15">
            <a:extLst>
              <a:ext uri="{FF2B5EF4-FFF2-40B4-BE49-F238E27FC236}">
                <a16:creationId xmlns:a16="http://schemas.microsoft.com/office/drawing/2014/main" id="{E2CDFCFE-A8D8-F728-8890-0C999787C8D9}"/>
              </a:ext>
            </a:extLst>
          </p:cNvPr>
          <p:cNvSpPr/>
          <p:nvPr/>
        </p:nvSpPr>
        <p:spPr>
          <a:xfrm>
            <a:off x="276653" y="3529237"/>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17" name="Oval 16">
            <a:extLst>
              <a:ext uri="{FF2B5EF4-FFF2-40B4-BE49-F238E27FC236}">
                <a16:creationId xmlns:a16="http://schemas.microsoft.com/office/drawing/2014/main" id="{AFE438AE-A96A-2CEC-A579-2571FA444034}"/>
              </a:ext>
            </a:extLst>
          </p:cNvPr>
          <p:cNvSpPr/>
          <p:nvPr/>
        </p:nvSpPr>
        <p:spPr>
          <a:xfrm>
            <a:off x="276193" y="406571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19" name="Metin kutusu 18">
            <a:extLst>
              <a:ext uri="{FF2B5EF4-FFF2-40B4-BE49-F238E27FC236}">
                <a16:creationId xmlns:a16="http://schemas.microsoft.com/office/drawing/2014/main" id="{6D10C843-8CDB-148E-73D1-B0A588DC7D51}"/>
              </a:ext>
            </a:extLst>
          </p:cNvPr>
          <p:cNvSpPr txBox="1"/>
          <p:nvPr/>
        </p:nvSpPr>
        <p:spPr>
          <a:xfrm>
            <a:off x="588674" y="2939146"/>
            <a:ext cx="5313283" cy="600164"/>
          </a:xfrm>
          <a:prstGeom prst="rect">
            <a:avLst/>
          </a:prstGeom>
          <a:noFill/>
        </p:spPr>
        <p:txBody>
          <a:bodyPr wrap="square" rtlCol="0">
            <a:spAutoFit/>
          </a:bodyPr>
          <a:lstStyle/>
          <a:p>
            <a:r>
              <a:rPr lang="tr-TR" sz="1100" dirty="0"/>
              <a:t>Proses emisyonlarının düşürülememesi ve </a:t>
            </a:r>
            <a:r>
              <a:rPr lang="tr-TR" sz="1100" dirty="0" err="1"/>
              <a:t>karbonsuzlaşma</a:t>
            </a:r>
            <a:r>
              <a:rPr lang="tr-TR" sz="1100" dirty="0"/>
              <a:t> yatırımlarını tamamlayan diğer üreticilerin emisyon maliyeti avantajı yakalaması durumunda AB pazarında olası ihracat marjı daralması ve pazar payı kaybı.</a:t>
            </a:r>
          </a:p>
        </p:txBody>
      </p:sp>
      <p:sp>
        <p:nvSpPr>
          <p:cNvPr id="25" name="Metin kutusu 24">
            <a:extLst>
              <a:ext uri="{FF2B5EF4-FFF2-40B4-BE49-F238E27FC236}">
                <a16:creationId xmlns:a16="http://schemas.microsoft.com/office/drawing/2014/main" id="{67D73C62-8F02-B27A-B915-5B68A1D7D75B}"/>
              </a:ext>
            </a:extLst>
          </p:cNvPr>
          <p:cNvSpPr txBox="1"/>
          <p:nvPr/>
        </p:nvSpPr>
        <p:spPr>
          <a:xfrm>
            <a:off x="579533" y="3501008"/>
            <a:ext cx="5313283" cy="600164"/>
          </a:xfrm>
          <a:prstGeom prst="rect">
            <a:avLst/>
          </a:prstGeom>
          <a:noFill/>
        </p:spPr>
        <p:txBody>
          <a:bodyPr wrap="square" rtlCol="0">
            <a:spAutoFit/>
          </a:bodyPr>
          <a:lstStyle/>
          <a:p>
            <a:r>
              <a:rPr lang="tr-TR" sz="1100" dirty="0"/>
              <a:t>Öncül girdilerin (ithal hammadde ve ara girdilerin) emisyon verilerinin yüksek olması ya da belgelenememesi sonucu ürün emisyonu hesaplamada varsayılan değerler (</a:t>
            </a:r>
            <a:r>
              <a:rPr lang="tr-TR" sz="1100" dirty="0" err="1"/>
              <a:t>default</a:t>
            </a:r>
            <a:r>
              <a:rPr lang="tr-TR" sz="1100" dirty="0"/>
              <a:t> </a:t>
            </a:r>
            <a:r>
              <a:rPr lang="tr-TR" sz="1100" dirty="0" err="1"/>
              <a:t>values</a:t>
            </a:r>
            <a:r>
              <a:rPr lang="tr-TR" sz="1100" dirty="0"/>
              <a:t>) kullanılmasını gerektirmesi</a:t>
            </a:r>
          </a:p>
        </p:txBody>
      </p:sp>
      <p:sp>
        <p:nvSpPr>
          <p:cNvPr id="27" name="Metin kutusu 26">
            <a:extLst>
              <a:ext uri="{FF2B5EF4-FFF2-40B4-BE49-F238E27FC236}">
                <a16:creationId xmlns:a16="http://schemas.microsoft.com/office/drawing/2014/main" id="{B04C31EB-9F21-1698-9DC7-55F962FB6AC5}"/>
              </a:ext>
            </a:extLst>
          </p:cNvPr>
          <p:cNvSpPr txBox="1"/>
          <p:nvPr/>
        </p:nvSpPr>
        <p:spPr>
          <a:xfrm>
            <a:off x="579532" y="4078625"/>
            <a:ext cx="5313283" cy="600164"/>
          </a:xfrm>
          <a:prstGeom prst="rect">
            <a:avLst/>
          </a:prstGeom>
          <a:noFill/>
        </p:spPr>
        <p:txBody>
          <a:bodyPr wrap="square" rtlCol="0">
            <a:spAutoFit/>
          </a:bodyPr>
          <a:lstStyle/>
          <a:p>
            <a:r>
              <a:rPr lang="tr-TR" sz="1100" dirty="0"/>
              <a:t>Bağımsız doğrulayıcılar tarafından gerçek verilerin (</a:t>
            </a:r>
            <a:r>
              <a:rPr lang="tr-TR" sz="1100" dirty="0" err="1"/>
              <a:t>actual</a:t>
            </a:r>
            <a:r>
              <a:rPr lang="tr-TR" sz="1100" dirty="0"/>
              <a:t> </a:t>
            </a:r>
            <a:r>
              <a:rPr lang="tr-TR" sz="1100" dirty="0" err="1"/>
              <a:t>emission</a:t>
            </a:r>
            <a:r>
              <a:rPr lang="tr-TR" sz="1100" dirty="0"/>
              <a:t> data) denetlenmesi ve SKDM </a:t>
            </a:r>
            <a:r>
              <a:rPr lang="tr-TR" sz="1100" dirty="0" err="1"/>
              <a:t>Sicili’ne</a:t>
            </a:r>
            <a:r>
              <a:rPr lang="tr-TR" sz="1100" dirty="0"/>
              <a:t> yüklenmesi süreçlerindeki olası metodolojik aksaklıklar sonucu gümrükte ceza veya ithalat durdurma riskleri</a:t>
            </a:r>
          </a:p>
        </p:txBody>
      </p:sp>
      <p:sp>
        <p:nvSpPr>
          <p:cNvPr id="29" name="Rectangle 8">
            <a:extLst>
              <a:ext uri="{FF2B5EF4-FFF2-40B4-BE49-F238E27FC236}">
                <a16:creationId xmlns:a16="http://schemas.microsoft.com/office/drawing/2014/main" id="{D5F95D6B-AB07-3449-CF97-50938F5498B3}"/>
              </a:ext>
            </a:extLst>
          </p:cNvPr>
          <p:cNvSpPr/>
          <p:nvPr/>
        </p:nvSpPr>
        <p:spPr>
          <a:xfrm>
            <a:off x="6086000" y="2933353"/>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31" name="Oval 30">
            <a:extLst>
              <a:ext uri="{FF2B5EF4-FFF2-40B4-BE49-F238E27FC236}">
                <a16:creationId xmlns:a16="http://schemas.microsoft.com/office/drawing/2014/main" id="{E9FE3179-5BB3-F6DB-7F93-99197DD6ADCA}"/>
              </a:ext>
            </a:extLst>
          </p:cNvPr>
          <p:cNvSpPr/>
          <p:nvPr/>
        </p:nvSpPr>
        <p:spPr>
          <a:xfrm>
            <a:off x="6086459" y="300082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33" name="Oval 32">
            <a:extLst>
              <a:ext uri="{FF2B5EF4-FFF2-40B4-BE49-F238E27FC236}">
                <a16:creationId xmlns:a16="http://schemas.microsoft.com/office/drawing/2014/main" id="{6278AF28-C4BE-0768-8061-9E9EF783FD97}"/>
              </a:ext>
            </a:extLst>
          </p:cNvPr>
          <p:cNvSpPr/>
          <p:nvPr/>
        </p:nvSpPr>
        <p:spPr>
          <a:xfrm>
            <a:off x="6077319" y="3544252"/>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35" name="Oval 34">
            <a:extLst>
              <a:ext uri="{FF2B5EF4-FFF2-40B4-BE49-F238E27FC236}">
                <a16:creationId xmlns:a16="http://schemas.microsoft.com/office/drawing/2014/main" id="{E44545CF-1EF5-75E7-03FC-315DCE0431DC}"/>
              </a:ext>
            </a:extLst>
          </p:cNvPr>
          <p:cNvSpPr/>
          <p:nvPr/>
        </p:nvSpPr>
        <p:spPr>
          <a:xfrm>
            <a:off x="6076859" y="4080726"/>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37" name="Metin kutusu 36">
            <a:extLst>
              <a:ext uri="{FF2B5EF4-FFF2-40B4-BE49-F238E27FC236}">
                <a16:creationId xmlns:a16="http://schemas.microsoft.com/office/drawing/2014/main" id="{6A6E6094-CBF6-BBD5-0D36-53F13B9FBEBA}"/>
              </a:ext>
            </a:extLst>
          </p:cNvPr>
          <p:cNvSpPr txBox="1"/>
          <p:nvPr/>
        </p:nvSpPr>
        <p:spPr>
          <a:xfrm>
            <a:off x="6389340" y="2954161"/>
            <a:ext cx="5313283" cy="600164"/>
          </a:xfrm>
          <a:prstGeom prst="rect">
            <a:avLst/>
          </a:prstGeom>
          <a:noFill/>
        </p:spPr>
        <p:txBody>
          <a:bodyPr wrap="square" rtlCol="0">
            <a:spAutoFit/>
          </a:bodyPr>
          <a:lstStyle/>
          <a:p>
            <a:r>
              <a:rPr lang="tr-TR" sz="1100" dirty="0"/>
              <a:t>Tesislerde katalitik N2O azaltım teknolojileri ve enerji verimliliği projeleri yatırımları yapılarak gömülü emisyonların düşürülmesi sonucunda «düşük karbonlu gübre» segmentinde AB pazarında rekabet üstünlüğü sağlanması</a:t>
            </a:r>
          </a:p>
        </p:txBody>
      </p:sp>
      <p:sp>
        <p:nvSpPr>
          <p:cNvPr id="39" name="Metin kutusu 38">
            <a:extLst>
              <a:ext uri="{FF2B5EF4-FFF2-40B4-BE49-F238E27FC236}">
                <a16:creationId xmlns:a16="http://schemas.microsoft.com/office/drawing/2014/main" id="{F2F333E5-6073-37E6-7066-905934C78AAA}"/>
              </a:ext>
            </a:extLst>
          </p:cNvPr>
          <p:cNvSpPr txBox="1"/>
          <p:nvPr/>
        </p:nvSpPr>
        <p:spPr>
          <a:xfrm>
            <a:off x="6380199" y="3486879"/>
            <a:ext cx="5313283" cy="600164"/>
          </a:xfrm>
          <a:prstGeom prst="rect">
            <a:avLst/>
          </a:prstGeom>
          <a:noFill/>
        </p:spPr>
        <p:txBody>
          <a:bodyPr wrap="square" rtlCol="0">
            <a:spAutoFit/>
          </a:bodyPr>
          <a:lstStyle/>
          <a:p>
            <a:r>
              <a:rPr lang="tr-TR" sz="1100" dirty="0"/>
              <a:t>İklim Kanunu ve Türkiye </a:t>
            </a:r>
            <a:r>
              <a:rPr lang="tr-TR" sz="1100" dirty="0" err="1"/>
              <a:t>ETS’nin</a:t>
            </a:r>
            <a:r>
              <a:rPr lang="tr-TR" sz="1100" dirty="0"/>
              <a:t> yürürlüğe girmesiyle yurt içinde ödenen karbon fiyatlarının SKDM sertifika bedelinden mahsup edilmesi sonucu maiyet baskısının dengelenmesi</a:t>
            </a:r>
          </a:p>
        </p:txBody>
      </p:sp>
      <p:sp>
        <p:nvSpPr>
          <p:cNvPr id="41" name="Metin kutusu 40">
            <a:extLst>
              <a:ext uri="{FF2B5EF4-FFF2-40B4-BE49-F238E27FC236}">
                <a16:creationId xmlns:a16="http://schemas.microsoft.com/office/drawing/2014/main" id="{DA11FC8B-578A-491E-87AB-AFFD8A2B2915}"/>
              </a:ext>
            </a:extLst>
          </p:cNvPr>
          <p:cNvSpPr txBox="1"/>
          <p:nvPr/>
        </p:nvSpPr>
        <p:spPr>
          <a:xfrm>
            <a:off x="6380198" y="4005064"/>
            <a:ext cx="5313283" cy="600164"/>
          </a:xfrm>
          <a:prstGeom prst="rect">
            <a:avLst/>
          </a:prstGeom>
          <a:noFill/>
        </p:spPr>
        <p:txBody>
          <a:bodyPr wrap="square" rtlCol="0">
            <a:spAutoFit/>
          </a:bodyPr>
          <a:lstStyle/>
          <a:p>
            <a:r>
              <a:rPr lang="tr-TR" sz="1100" dirty="0"/>
              <a:t>Cezalandırıcı varsayılan değerler (</a:t>
            </a:r>
            <a:r>
              <a:rPr lang="tr-TR" sz="1100" dirty="0" err="1"/>
              <a:t>default</a:t>
            </a:r>
            <a:r>
              <a:rPr lang="tr-TR" sz="1100" dirty="0"/>
              <a:t> </a:t>
            </a:r>
            <a:r>
              <a:rPr lang="tr-TR" sz="1100" dirty="0" err="1"/>
              <a:t>values</a:t>
            </a:r>
            <a:r>
              <a:rPr lang="tr-TR" sz="1100" dirty="0"/>
              <a:t>) yerine Toros </a:t>
            </a:r>
            <a:r>
              <a:rPr lang="tr-TR" sz="1100" dirty="0" err="1"/>
              <a:t>Tarım’ın</a:t>
            </a:r>
            <a:r>
              <a:rPr lang="tr-TR" sz="1100" dirty="0"/>
              <a:t> tesislerinde ölçülen ve akredite kuruluş tarafından doğrulanmış gerçek verilerin (</a:t>
            </a:r>
            <a:r>
              <a:rPr lang="tr-TR" sz="1100" dirty="0" err="1"/>
              <a:t>actual</a:t>
            </a:r>
            <a:r>
              <a:rPr lang="tr-TR" sz="1100" dirty="0"/>
              <a:t> </a:t>
            </a:r>
            <a:r>
              <a:rPr lang="tr-TR" sz="1100" dirty="0" err="1"/>
              <a:t>values</a:t>
            </a:r>
            <a:r>
              <a:rPr lang="tr-TR" sz="1100" dirty="0"/>
              <a:t>) kullanılmasıyla pazar üstünlüğü sağlanması </a:t>
            </a:r>
          </a:p>
        </p:txBody>
      </p:sp>
      <p:sp>
        <p:nvSpPr>
          <p:cNvPr id="68" name="Rectangle: Rounded Corners 4">
            <a:extLst>
              <a:ext uri="{FF2B5EF4-FFF2-40B4-BE49-F238E27FC236}">
                <a16:creationId xmlns:a16="http://schemas.microsoft.com/office/drawing/2014/main" id="{D40D6D8F-6E34-69E4-9E92-7F4CC0026F6B}"/>
              </a:ext>
            </a:extLst>
          </p:cNvPr>
          <p:cNvSpPr/>
          <p:nvPr/>
        </p:nvSpPr>
        <p:spPr>
          <a:xfrm>
            <a:off x="1378669" y="4782845"/>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TAMAMLANAN AKSİYONLAR</a:t>
            </a:r>
            <a:endParaRPr lang="en-US" sz="1400" b="1" dirty="0">
              <a:solidFill>
                <a:schemeClr val="bg1"/>
              </a:solidFill>
            </a:endParaRPr>
          </a:p>
        </p:txBody>
      </p:sp>
      <p:sp>
        <p:nvSpPr>
          <p:cNvPr id="70" name="Rectangle: Rounded Corners 4">
            <a:extLst>
              <a:ext uri="{FF2B5EF4-FFF2-40B4-BE49-F238E27FC236}">
                <a16:creationId xmlns:a16="http://schemas.microsoft.com/office/drawing/2014/main" id="{C20A7CAE-BFC6-D643-5B54-CE7E9EC85E23}"/>
              </a:ext>
            </a:extLst>
          </p:cNvPr>
          <p:cNvSpPr/>
          <p:nvPr/>
        </p:nvSpPr>
        <p:spPr>
          <a:xfrm>
            <a:off x="7280349" y="4736616"/>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DEVAM EDEN AKSİYONLAR</a:t>
            </a:r>
            <a:endParaRPr lang="en-US" sz="1400" b="1" dirty="0">
              <a:solidFill>
                <a:schemeClr val="bg1"/>
              </a:solidFill>
            </a:endParaRPr>
          </a:p>
        </p:txBody>
      </p:sp>
      <p:sp>
        <p:nvSpPr>
          <p:cNvPr id="71" name="Metin kutusu 70">
            <a:extLst>
              <a:ext uri="{FF2B5EF4-FFF2-40B4-BE49-F238E27FC236}">
                <a16:creationId xmlns:a16="http://schemas.microsoft.com/office/drawing/2014/main" id="{98D9CE30-897F-28C1-DEEE-7ED5E34960B0}"/>
              </a:ext>
            </a:extLst>
          </p:cNvPr>
          <p:cNvSpPr txBox="1"/>
          <p:nvPr/>
        </p:nvSpPr>
        <p:spPr>
          <a:xfrm>
            <a:off x="285334" y="5054688"/>
            <a:ext cx="5522634" cy="1107996"/>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Geçiş döneminde zorunlu kılınan çeyreklik doğrulanmamış emisyon raporlarının hazırlanması ve AB ithalatçılarına sunulması</a:t>
            </a:r>
          </a:p>
          <a:p>
            <a:pPr marL="171450" indent="-171450">
              <a:buFont typeface="Wingdings" panose="05000000000000000000" pitchFamily="2" charset="2"/>
              <a:buChar char="Ø"/>
            </a:pPr>
            <a:r>
              <a:rPr lang="tr-TR" sz="1100" dirty="0"/>
              <a:t>Romanya’da bulunan </a:t>
            </a:r>
            <a:r>
              <a:rPr lang="tr-TR" sz="1100" dirty="0" err="1"/>
              <a:t>Agroport</a:t>
            </a:r>
            <a:r>
              <a:rPr lang="tr-TR" sz="1100" dirty="0"/>
              <a:t> için CBAM </a:t>
            </a:r>
            <a:r>
              <a:rPr lang="tr-TR" sz="1100" dirty="0" err="1"/>
              <a:t>Sicili’ne</a:t>
            </a:r>
            <a:r>
              <a:rPr lang="tr-TR" sz="1100" dirty="0"/>
              <a:t> kayıt olunması</a:t>
            </a:r>
          </a:p>
          <a:p>
            <a:pPr marL="171450" indent="-171450">
              <a:buFont typeface="Wingdings" panose="05000000000000000000" pitchFamily="2" charset="2"/>
              <a:buChar char="Ø"/>
            </a:pPr>
            <a:r>
              <a:rPr lang="tr-TR" sz="1100" dirty="0"/>
              <a:t>Güncel SKDM sertifika fiyatına göre Toros Tarım iç karbon fiyat analizinin yapılması ve farklı ürünler için olası maliyet etkilerinin gözlemlenmesi </a:t>
            </a:r>
          </a:p>
          <a:p>
            <a:pPr marL="171450" indent="-171450">
              <a:buFont typeface="Wingdings" panose="05000000000000000000" pitchFamily="2" charset="2"/>
              <a:buChar char="Ø"/>
            </a:pPr>
            <a:endParaRPr lang="tr-TR" sz="1100" dirty="0"/>
          </a:p>
        </p:txBody>
      </p:sp>
      <p:sp>
        <p:nvSpPr>
          <p:cNvPr id="73" name="Metin kutusu 72">
            <a:extLst>
              <a:ext uri="{FF2B5EF4-FFF2-40B4-BE49-F238E27FC236}">
                <a16:creationId xmlns:a16="http://schemas.microsoft.com/office/drawing/2014/main" id="{8CCE7DD6-DC2B-CE26-376C-1CC60B69C271}"/>
              </a:ext>
            </a:extLst>
          </p:cNvPr>
          <p:cNvSpPr txBox="1"/>
          <p:nvPr/>
        </p:nvSpPr>
        <p:spPr>
          <a:xfrm>
            <a:off x="5993255" y="4981616"/>
            <a:ext cx="5522634" cy="1277273"/>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Dışarıdan alınan öncül maddeler için tedarikçilerden akredite doğrulama raporu alınması</a:t>
            </a:r>
          </a:p>
          <a:p>
            <a:pPr marL="171450" indent="-171450">
              <a:buFont typeface="Wingdings" panose="05000000000000000000" pitchFamily="2" charset="2"/>
              <a:buChar char="Ø"/>
            </a:pPr>
            <a:r>
              <a:rPr lang="tr-TR" sz="1100" dirty="0"/>
              <a:t>Geçiş dönemi boyunca tarafımızca hesaplanan ve raporlanan Kapsam 1 ve Kapsam 2 gömülü emisyonlarının bir ön-doğrulayıcı kuruluş tarafından ön-doğrulamasının yapılması ve mevcut durumun analiz edilmesi, ilerleyen dönemde akredite firma tarafından yıllık olarak doğrulanması</a:t>
            </a:r>
          </a:p>
          <a:p>
            <a:pPr marL="171450" indent="-171450">
              <a:buFont typeface="Wingdings" panose="05000000000000000000" pitchFamily="2" charset="2"/>
              <a:buChar char="Ø"/>
            </a:pPr>
            <a:r>
              <a:rPr lang="tr-TR" sz="1100" dirty="0"/>
              <a:t>Tesisin tüm veri kaynaklarını, ölçüm cihazlarını, üretim süreçlerini ve öncül maddelerini şeffaf şekilde belgeleyen bir İzleme Planı oluşturulması</a:t>
            </a:r>
          </a:p>
        </p:txBody>
      </p:sp>
      <p:pic>
        <p:nvPicPr>
          <p:cNvPr id="75" name="Grafik 74" descr="Bilgi düz dolguyla">
            <a:extLst>
              <a:ext uri="{FF2B5EF4-FFF2-40B4-BE49-F238E27FC236}">
                <a16:creationId xmlns:a16="http://schemas.microsoft.com/office/drawing/2014/main" id="{864AF229-A44A-5410-0544-BD42919574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32" y="999904"/>
            <a:ext cx="914400" cy="914400"/>
          </a:xfrm>
          <a:prstGeom prst="rect">
            <a:avLst/>
          </a:prstGeom>
        </p:spPr>
      </p:pic>
      <p:sp>
        <p:nvSpPr>
          <p:cNvPr id="8" name="Dikdörtgen 7">
            <a:extLst>
              <a:ext uri="{FF2B5EF4-FFF2-40B4-BE49-F238E27FC236}">
                <a16:creationId xmlns:a16="http://schemas.microsoft.com/office/drawing/2014/main" id="{F9FBE8A3-90C7-D455-C0B7-78F8F09B1770}"/>
              </a:ext>
            </a:extLst>
          </p:cNvPr>
          <p:cNvSpPr/>
          <p:nvPr/>
        </p:nvSpPr>
        <p:spPr>
          <a:xfrm>
            <a:off x="8256240" y="774567"/>
            <a:ext cx="4392488" cy="1834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err="1"/>
              <a:t>Batıkan</a:t>
            </a:r>
            <a:endParaRPr lang="tr-TR" dirty="0"/>
          </a:p>
        </p:txBody>
      </p:sp>
    </p:spTree>
    <p:extLst>
      <p:ext uri="{BB962C8B-B14F-4D97-AF65-F5344CB8AC3E}">
        <p14:creationId xmlns:p14="http://schemas.microsoft.com/office/powerpoint/2010/main" val="2595322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ody of water&#10;&#10;Description automatically generated">
            <a:extLst>
              <a:ext uri="{FF2B5EF4-FFF2-40B4-BE49-F238E27FC236}">
                <a16:creationId xmlns:a16="http://schemas.microsoft.com/office/drawing/2014/main" id="{B96F5AD1-71C0-4A5D-810A-4A81C3B371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4" y="-1"/>
            <a:ext cx="12179812" cy="6869631"/>
          </a:xfrm>
          <a:prstGeom prst="rect">
            <a:avLst/>
          </a:prstGeom>
        </p:spPr>
      </p:pic>
      <p:sp>
        <p:nvSpPr>
          <p:cNvPr id="10" name="Dikdörtgen 9"/>
          <p:cNvSpPr/>
          <p:nvPr/>
        </p:nvSpPr>
        <p:spPr>
          <a:xfrm flipH="1">
            <a:off x="-6094" y="2333050"/>
            <a:ext cx="12192000" cy="1018132"/>
          </a:xfrm>
          <a:prstGeom prst="rect">
            <a:avLst/>
          </a:prstGeom>
          <a:gradFill flip="none" rotWithShape="1">
            <a:gsLst>
              <a:gs pos="100000">
                <a:srgbClr val="FFFFFF">
                  <a:alpha val="0"/>
                  <a:lumMod val="0"/>
                  <a:lumOff val="100000"/>
                </a:srgbClr>
              </a:gs>
              <a:gs pos="50000">
                <a:srgbClr val="FFFFFF"/>
              </a:gs>
              <a:gs pos="33000">
                <a:srgbClr val="FFFFFF">
                  <a:alpha val="70000"/>
                </a:srgbClr>
              </a:gs>
              <a:gs pos="73000">
                <a:schemeClr val="bg1">
                  <a:alpha val="89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9" name="Dikdörtgen 8"/>
          <p:cNvSpPr/>
          <p:nvPr/>
        </p:nvSpPr>
        <p:spPr>
          <a:xfrm>
            <a:off x="-457200" y="5122969"/>
            <a:ext cx="12192000" cy="1228799"/>
          </a:xfrm>
          <a:prstGeom prst="rect">
            <a:avLst/>
          </a:prstGeom>
          <a:gradFill flip="none" rotWithShape="1">
            <a:gsLst>
              <a:gs pos="0">
                <a:schemeClr val="bg1">
                  <a:alpha val="0"/>
                  <a:lumMod val="0"/>
                </a:schemeClr>
              </a:gs>
              <a:gs pos="100000">
                <a:srgbClr val="FFFFFF">
                  <a:alpha val="0"/>
                  <a:lumMod val="0"/>
                  <a:lumOff val="100000"/>
                </a:srgbClr>
              </a:gs>
              <a:gs pos="53000">
                <a:srgbClr val="FFFFFF">
                  <a:alpha val="70000"/>
                </a:srgbClr>
              </a:gs>
              <a:gs pos="72000">
                <a:schemeClr val="bg1">
                  <a:alpha val="89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3" name="Dikdörtgen 3">
            <a:extLst>
              <a:ext uri="{FF2B5EF4-FFF2-40B4-BE49-F238E27FC236}">
                <a16:creationId xmlns:a16="http://schemas.microsoft.com/office/drawing/2014/main" id="{AA04BB1C-9EEE-4A83-8ECB-24E6D39D6711}"/>
              </a:ext>
            </a:extLst>
          </p:cNvPr>
          <p:cNvSpPr/>
          <p:nvPr/>
        </p:nvSpPr>
        <p:spPr>
          <a:xfrm>
            <a:off x="6493824" y="5637703"/>
            <a:ext cx="3441162" cy="87876"/>
          </a:xfrm>
          <a:prstGeom prst="rect">
            <a:avLst/>
          </a:prstGeom>
          <a:solidFill>
            <a:srgbClr val="0078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350" dirty="0"/>
          </a:p>
        </p:txBody>
      </p:sp>
      <p:sp>
        <p:nvSpPr>
          <p:cNvPr id="4" name="Rectangle 5">
            <a:extLst>
              <a:ext uri="{FF2B5EF4-FFF2-40B4-BE49-F238E27FC236}">
                <a16:creationId xmlns:a16="http://schemas.microsoft.com/office/drawing/2014/main" id="{478F123E-082F-403B-A423-D3C539C71EBB}"/>
              </a:ext>
            </a:extLst>
          </p:cNvPr>
          <p:cNvSpPr>
            <a:spLocks noChangeArrowheads="1"/>
          </p:cNvSpPr>
          <p:nvPr/>
        </p:nvSpPr>
        <p:spPr bwMode="auto">
          <a:xfrm>
            <a:off x="6460078" y="5176497"/>
            <a:ext cx="4430563" cy="536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47688">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defRPr>
            </a:lvl9pPr>
          </a:lstStyle>
          <a:p>
            <a:pPr>
              <a:lnSpc>
                <a:spcPct val="107000"/>
              </a:lnSpc>
              <a:spcBef>
                <a:spcPts val="750"/>
              </a:spcBef>
              <a:spcAft>
                <a:spcPts val="600"/>
              </a:spcAft>
            </a:pPr>
            <a:r>
              <a:rPr lang="tr-TR" altLang="tr-TR" sz="2700" b="1" dirty="0">
                <a:latin typeface="Arial" panose="020B0604020202020204" pitchFamily="34" charset="0"/>
                <a:ea typeface="Calibri" panose="020F0502020204030204" pitchFamily="34" charset="0"/>
                <a:cs typeface="Arial" panose="020B0604020202020204" pitchFamily="34" charset="0"/>
              </a:rPr>
              <a:t>TEŞEKKÜR EDERİZ</a:t>
            </a:r>
            <a:endParaRPr lang="en-US" altLang="tr-TR" sz="2700" b="1" dirty="0">
              <a:latin typeface="Arial" panose="020B0604020202020204" pitchFamily="34" charset="0"/>
              <a:ea typeface="Calibri" panose="020F0502020204030204" pitchFamily="34" charset="0"/>
              <a:cs typeface="Arial" panose="020B0604020202020204" pitchFamily="34" charset="0"/>
            </a:endParaRPr>
          </a:p>
        </p:txBody>
      </p:sp>
      <p:sp>
        <p:nvSpPr>
          <p:cNvPr id="11" name="Rectangle 5">
            <a:extLst>
              <a:ext uri="{FF2B5EF4-FFF2-40B4-BE49-F238E27FC236}">
                <a16:creationId xmlns:a16="http://schemas.microsoft.com/office/drawing/2014/main" id="{478F123E-082F-403B-A423-D3C539C71EBB}"/>
              </a:ext>
            </a:extLst>
          </p:cNvPr>
          <p:cNvSpPr>
            <a:spLocks noChangeArrowheads="1"/>
          </p:cNvSpPr>
          <p:nvPr/>
        </p:nvSpPr>
        <p:spPr bwMode="auto">
          <a:xfrm>
            <a:off x="762073" y="2488173"/>
            <a:ext cx="74661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47688">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defRPr>
            </a:lvl9pPr>
          </a:lstStyle>
          <a:p>
            <a:r>
              <a:rPr lang="en-US" sz="2000" b="1" dirty="0"/>
              <a:t>“We do not inherit the Earth from our ancestors; </a:t>
            </a:r>
          </a:p>
          <a:p>
            <a:r>
              <a:rPr lang="en-US" sz="2000" b="1" dirty="0"/>
              <a:t>we borrow it from our children </a:t>
            </a:r>
          </a:p>
        </p:txBody>
      </p:sp>
      <p:sp>
        <p:nvSpPr>
          <p:cNvPr id="12" name="Rectangle 11">
            <a:extLst>
              <a:ext uri="{FF2B5EF4-FFF2-40B4-BE49-F238E27FC236}">
                <a16:creationId xmlns:a16="http://schemas.microsoft.com/office/drawing/2014/main" id="{FAA3E0FE-6CBA-4BED-8D44-24F642E1B019}"/>
              </a:ext>
            </a:extLst>
          </p:cNvPr>
          <p:cNvSpPr>
            <a:spLocks noChangeArrowheads="1"/>
          </p:cNvSpPr>
          <p:nvPr/>
        </p:nvSpPr>
        <p:spPr bwMode="auto">
          <a:xfrm>
            <a:off x="7573015" y="3063630"/>
            <a:ext cx="28223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47688">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defRPr>
            </a:lvl9pPr>
          </a:lstStyle>
          <a:p>
            <a:pPr algn="r"/>
            <a:r>
              <a:rPr lang="en-US" sz="1200" dirty="0"/>
              <a:t>American Indian proverb</a:t>
            </a:r>
            <a:endParaRPr lang="tr-TR" sz="1200" dirty="0"/>
          </a:p>
        </p:txBody>
      </p:sp>
      <p:grpSp>
        <p:nvGrpSpPr>
          <p:cNvPr id="23" name="Grup 22"/>
          <p:cNvGrpSpPr/>
          <p:nvPr/>
        </p:nvGrpSpPr>
        <p:grpSpPr>
          <a:xfrm>
            <a:off x="7374932" y="1948693"/>
            <a:ext cx="1184413" cy="1312798"/>
            <a:chOff x="5383324" y="931049"/>
            <a:chExt cx="661002" cy="732652"/>
          </a:xfrm>
        </p:grpSpPr>
        <p:pic>
          <p:nvPicPr>
            <p:cNvPr id="21" name="Resim 20"/>
            <p:cNvPicPr>
              <a:picLocks noChangeAspect="1"/>
            </p:cNvPicPr>
            <p:nvPr/>
          </p:nvPicPr>
          <p:blipFill rotWithShape="1">
            <a:blip r:embed="rId3"/>
            <a:srcRect l="42179" t="57846" r="42597" b="25011"/>
            <a:stretch/>
          </p:blipFill>
          <p:spPr>
            <a:xfrm>
              <a:off x="5383324" y="931049"/>
              <a:ext cx="440668" cy="732652"/>
            </a:xfrm>
            <a:prstGeom prst="rect">
              <a:avLst/>
            </a:prstGeom>
          </p:spPr>
        </p:pic>
        <p:pic>
          <p:nvPicPr>
            <p:cNvPr id="22" name="Resim 21"/>
            <p:cNvPicPr>
              <a:picLocks noChangeAspect="1"/>
            </p:cNvPicPr>
            <p:nvPr/>
          </p:nvPicPr>
          <p:blipFill rotWithShape="1">
            <a:blip r:embed="rId3"/>
            <a:srcRect l="42179" t="57846" r="42597" b="25011"/>
            <a:stretch/>
          </p:blipFill>
          <p:spPr>
            <a:xfrm>
              <a:off x="5603658" y="931049"/>
              <a:ext cx="440668" cy="732652"/>
            </a:xfrm>
            <a:prstGeom prst="rect">
              <a:avLst/>
            </a:prstGeom>
          </p:spPr>
        </p:pic>
      </p:grpSp>
      <p:grpSp>
        <p:nvGrpSpPr>
          <p:cNvPr id="29" name="Grup 28"/>
          <p:cNvGrpSpPr/>
          <p:nvPr/>
        </p:nvGrpSpPr>
        <p:grpSpPr>
          <a:xfrm>
            <a:off x="10936442" y="5665496"/>
            <a:ext cx="1250999" cy="1198319"/>
            <a:chOff x="10936442" y="5665496"/>
            <a:chExt cx="1250999" cy="1198319"/>
          </a:xfrm>
        </p:grpSpPr>
        <p:sp>
          <p:nvSpPr>
            <p:cNvPr id="30" name="İkizkenar Üçgen 29"/>
            <p:cNvSpPr/>
            <p:nvPr/>
          </p:nvSpPr>
          <p:spPr>
            <a:xfrm>
              <a:off x="10936442" y="5665496"/>
              <a:ext cx="1249464" cy="1192503"/>
            </a:xfrm>
            <a:prstGeom prst="triangle">
              <a:avLst>
                <a:gd name="adj" fmla="val 100000"/>
              </a:avLst>
            </a:prstGeom>
            <a:solidFill>
              <a:schemeClr val="bg1"/>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31" name="İkizkenar Üçgen 30"/>
            <p:cNvSpPr/>
            <p:nvPr/>
          </p:nvSpPr>
          <p:spPr>
            <a:xfrm rot="10800000">
              <a:off x="10937977" y="5671312"/>
              <a:ext cx="1249464" cy="1192503"/>
            </a:xfrm>
            <a:prstGeom prst="triangle">
              <a:avLst>
                <a:gd name="adj" fmla="val 100000"/>
              </a:avLst>
            </a:prstGeom>
            <a:gradFill>
              <a:gsLst>
                <a:gs pos="39000">
                  <a:schemeClr val="bg1">
                    <a:lumMod val="75000"/>
                  </a:schemeClr>
                </a:gs>
                <a:gs pos="73000">
                  <a:schemeClr val="bg1">
                    <a:lumMod val="85000"/>
                  </a:schemeClr>
                </a:gs>
                <a:gs pos="58000">
                  <a:schemeClr val="bg1">
                    <a:lumMod val="95000"/>
                  </a:schemeClr>
                </a:gs>
                <a:gs pos="93000">
                  <a:schemeClr val="bg1">
                    <a:alpha val="0"/>
                  </a:schemeClr>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32" name="Resim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38730" y="6316432"/>
              <a:ext cx="670142" cy="474575"/>
            </a:xfrm>
            <a:prstGeom prst="rect">
              <a:avLst/>
            </a:prstGeom>
          </p:spPr>
        </p:pic>
      </p:grpSp>
    </p:spTree>
    <p:extLst>
      <p:ext uri="{BB962C8B-B14F-4D97-AF65-F5344CB8AC3E}">
        <p14:creationId xmlns:p14="http://schemas.microsoft.com/office/powerpoint/2010/main" val="1399654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2" presetClass="entr" presetSubtype="2" decel="100000" fill="hold" grpId="0" nodeType="withEffect">
                                  <p:stCondLst>
                                    <p:cond delay="50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1+#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par>
                                <p:cTn id="21" presetID="16" presetClass="entr" presetSubtype="37" fill="hold" grpId="0" nodeType="withEffect">
                                  <p:stCondLst>
                                    <p:cond delay="500"/>
                                  </p:stCondLst>
                                  <p:childTnLst>
                                    <p:set>
                                      <p:cBhvr>
                                        <p:cTn id="22" dur="1" fill="hold">
                                          <p:stCondLst>
                                            <p:cond delay="0"/>
                                          </p:stCondLst>
                                        </p:cTn>
                                        <p:tgtEl>
                                          <p:spTgt spid="3"/>
                                        </p:tgtEl>
                                        <p:attrNameLst>
                                          <p:attrName>style.visibility</p:attrName>
                                        </p:attrNameLst>
                                      </p:cBhvr>
                                      <p:to>
                                        <p:strVal val="visible"/>
                                      </p:to>
                                    </p:set>
                                    <p:animEffect transition="in" filter="barn(outVertical)">
                                      <p:cBhvr>
                                        <p:cTn id="23" dur="500"/>
                                        <p:tgtEl>
                                          <p:spTgt spid="3"/>
                                        </p:tgtEl>
                                      </p:cBhvr>
                                    </p:animEffect>
                                  </p:childTnLst>
                                </p:cTn>
                              </p:par>
                            </p:childTnLst>
                          </p:cTn>
                        </p:par>
                        <p:par>
                          <p:cTn id="24" fill="hold">
                            <p:stCondLst>
                              <p:cond delay="1500"/>
                            </p:stCondLst>
                            <p:childTnLst>
                              <p:par>
                                <p:cTn id="25" presetID="35" presetClass="path" presetSubtype="0" accel="50000" decel="50000" fill="hold" grpId="1" nodeType="afterEffect">
                                  <p:stCondLst>
                                    <p:cond delay="0"/>
                                  </p:stCondLst>
                                  <p:childTnLst>
                                    <p:animMotion origin="layout" path="M 1.66667E-6 -1.48148E-6 L -0.04753 -1.48148E-6 " pathEditMode="relative" rAng="0" ptsTypes="AA">
                                      <p:cBhvr>
                                        <p:cTn id="26" dur="2000" fill="hold"/>
                                        <p:tgtEl>
                                          <p:spTgt spid="4"/>
                                        </p:tgtEl>
                                        <p:attrNameLst>
                                          <p:attrName>ppt_x</p:attrName>
                                          <p:attrName>ppt_y</p:attrName>
                                        </p:attrNameLst>
                                      </p:cBhvr>
                                      <p:rCtr x="-238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animBg="1"/>
      <p:bldP spid="4" grpId="0"/>
      <p:bldP spid="4" grpId="1"/>
      <p:bldP spid="11" grpId="0"/>
      <p:bldP spid="12" grpId="0"/>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i="1" lang="tr-TR"/>
              <a:t>Türkiye İklim Kanunu</a:t>
            </a:r>
          </a:p>
        </p:txBody>
      </p:sp>
      <p:sp>
        <p:nvSpPr>
          <p:cNvPr id="4" name="Slayt Numarası Yer Tutucusu 3">
            <a:extLst>
              <a:ext uri="{FF2B5EF4-FFF2-40B4-BE49-F238E27FC236}">
                <a16:creationId xmlns:a16="http://schemas.microsoft.com/office/drawing/2014/main" id="{64D39679-45B4-9C02-77DE-31552745A3E2}"/>
              </a:ext>
            </a:extLst>
          </p:cNvPr>
          <p:cNvSpPr>
            <a:spLocks noGrp="1"/>
          </p:cNvSpPr>
          <p:nvPr>
            <p:ph type="sldNum" sz="quarter" idx="4"/>
          </p:nvPr>
        </p:nvSpPr>
        <p:spPr/>
        <p:txBody>
          <a:bodyPr/>
          <a:lstStyle/>
          <a:p>
            <a:fld id="{42CA6F85-893A-4FE1-8820-DAA50ABDC7DA}" type="slidenum">
              <a:rPr lang="tr-TR" smtClean="0"/>
              <a:pPr/>
              <a:t>7</a:t>
            </a:fld>
            <a:endParaRPr lang="tr-TR"/>
          </a:p>
        </p:txBody>
      </p:sp>
      <p:sp>
        <p:nvSpPr>
          <p:cNvPr id="5" name="Genel Bilgi Kutusu"/>
          <p:cNvSpPr/>
          <p:nvPr/>
        </p:nvSpPr>
        <p:spPr>
          <a:xfrm>
            <a:off x="274320" y="896112"/>
            <a:ext cx="11567159" cy="914400"/>
          </a:xfrm>
          <a:prstGeom prst="rect">
            <a:avLst/>
          </a:prstGeom>
          <a:solidFill>
            <a:srgbClr val="FFFFFF"/>
          </a:solidFill>
          <a:ln w="12700">
            <a:solidFill>
              <a:srgbClr val="3A3A3A"/>
            </a:solidFill>
          </a:ln>
        </p:spPr>
        <p:txBody>
          <a:bodyPr rtlCol="0" anchor="ctr"/>
          <a:lstStyle/>
          <a:p/>
        </p:txBody>
      </p:sp>
      <p:pic>
        <p:nvPicPr>
          <p:cNvPr id="6" name="Picture 5" descr="FaInfoCircle_navy.png"/>
          <p:cNvPicPr>
            <a:picLocks noChangeAspect="1"/>
          </p:cNvPicPr>
          <p:nvPr/>
        </p:nvPicPr>
        <p:blipFill>
          <a:blip r:embed="rId3"/>
          <a:stretch>
            <a:fillRect/>
          </a:stretch>
        </p:blipFill>
        <p:spPr>
          <a:xfrm>
            <a:off x="457200" y="1069848"/>
            <a:ext cx="566928" cy="566928"/>
          </a:xfrm>
          <a:prstGeom prst="rect">
            <a:avLst/>
          </a:prstGeom>
        </p:spPr>
      </p:pic>
      <p:sp>
        <p:nvSpPr>
          <p:cNvPr id="7" name="Genel Bilgi Metni"/>
          <p:cNvSpPr txBox="1"/>
          <p:nvPr/>
        </p:nvSpPr>
        <p:spPr>
          <a:xfrm>
            <a:off x="1325880" y="950976"/>
            <a:ext cx="10332719" cy="804672"/>
          </a:xfrm>
          <a:prstGeom prst="rect">
            <a:avLst/>
          </a:prstGeom>
          <a:noFill/>
        </p:spPr>
        <p:txBody>
          <a:bodyPr wrap="square" lIns="0" rIns="0" tIns="18288" bIns="18288" anchor="ctr">
            <a:spAutoFit/>
          </a:bodyPr>
          <a:lstStyle/>
          <a:p>
            <a:pPr algn="l" marL="219456" indent="-219456">
              <a:spcAft>
                <a:spcPts val="300"/>
              </a:spcAft>
              <a:buClr>
                <a:srgbClr val="264E70"/>
              </a:buClr>
              <a:buFont typeface="Wingdings" pitchFamily="2" charset="2"/>
              <a:buChar char="Ø"/>
            </a:pPr>
            <a:r>
              <a:rPr sz="1250" b="1" i="0">
                <a:solidFill>
                  <a:srgbClr val="1B1B1B"/>
                </a:solidFill>
              </a:rPr>
              <a:t>İklim Kanunu, 09.07.2025 tarih ve 32951 Sayılı Resmi Gazete’de</a:t>
            </a:r>
            <a:r>
              <a:rPr sz="1250" b="0" i="0">
                <a:solidFill>
                  <a:srgbClr val="1B1B1B"/>
                </a:solidFill>
              </a:rPr>
              <a:t> yayımlanarak yürürlüğe girmiştir.</a:t>
            </a:r>
          </a:p>
          <a:p>
            <a:pPr algn="l" marL="219456" indent="-219456">
              <a:spcAft>
                <a:spcPts val="300"/>
              </a:spcAft>
              <a:buClr>
                <a:srgbClr val="264E70"/>
              </a:buClr>
              <a:buFont typeface="Wingdings" pitchFamily="2" charset="2"/>
              <a:buChar char="Ø"/>
            </a:pPr>
            <a:r>
              <a:rPr sz="1250" b="0" i="0">
                <a:solidFill>
                  <a:srgbClr val="1B1B1B"/>
                </a:solidFill>
              </a:rPr>
              <a:t>Kanun, sera gazı emisyonlarının azaltılması ile iklim değişikliğine uyum faaliyetlerine ve bu süreçlerin yasal/kurumsal çerçevesinin usul ve esaslarına dair düzenlemeleri kapsar.</a:t>
            </a:r>
          </a:p>
        </p:txBody>
      </p:sp>
      <p:cxnSp>
        <p:nvCxnSpPr>
          <p:cNvPr id="8" name="Connector 7"/>
          <p:cNvCxnSpPr/>
          <p:nvPr/>
        </p:nvCxnSpPr>
        <p:spPr>
          <a:xfrm>
            <a:off x="274320" y="1901952"/>
            <a:ext cx="11567160" cy="0"/>
          </a:xfrm>
          <a:prstGeom prst="line">
            <a:avLst/>
          </a:prstGeom>
          <a:ln w="12700">
            <a:solidFill>
              <a:srgbClr val="9AA5B1"/>
            </a:solidFill>
            <a:prstDash val="dash"/>
          </a:ln>
        </p:spPr>
      </p:cxnSp>
      <p:sp>
        <p:nvSpPr>
          <p:cNvPr id="9" name="Rounded Rectangle 8"/>
          <p:cNvSpPr/>
          <p:nvPr/>
        </p:nvSpPr>
        <p:spPr>
          <a:xfrm>
            <a:off x="457200" y="1975104"/>
            <a:ext cx="530352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AMAÇ</a:t>
            </a:r>
          </a:p>
        </p:txBody>
      </p:sp>
      <p:sp>
        <p:nvSpPr>
          <p:cNvPr id="10" name="Amaç Kartı"/>
          <p:cNvSpPr/>
          <p:nvPr/>
        </p:nvSpPr>
        <p:spPr>
          <a:xfrm>
            <a:off x="274320" y="2395728"/>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1" name="Amaç İkon Zemini"/>
          <p:cNvSpPr/>
          <p:nvPr/>
        </p:nvSpPr>
        <p:spPr>
          <a:xfrm>
            <a:off x="384048" y="2478024"/>
            <a:ext cx="493776" cy="493776"/>
          </a:xfrm>
          <a:prstGeom prst="ellipse">
            <a:avLst/>
          </a:prstGeom>
          <a:solidFill>
            <a:srgbClr val="264E70"/>
          </a:solidFill>
          <a:ln>
            <a:noFill/>
          </a:ln>
        </p:spPr>
        <p:txBody>
          <a:bodyPr rtlCol="0" anchor="ctr"/>
          <a:lstStyle/>
          <a:p/>
        </p:txBody>
      </p:sp>
      <p:pic>
        <p:nvPicPr>
          <p:cNvPr id="12" name="Picture 11" descr="FaSeedling_white.png"/>
          <p:cNvPicPr>
            <a:picLocks noChangeAspect="1"/>
          </p:cNvPicPr>
          <p:nvPr/>
        </p:nvPicPr>
        <p:blipFill>
          <a:blip r:embed="rId4"/>
          <a:stretch>
            <a:fillRect/>
          </a:stretch>
        </p:blipFill>
        <p:spPr>
          <a:xfrm>
            <a:off x="502920" y="2596896"/>
            <a:ext cx="256032" cy="256032"/>
          </a:xfrm>
          <a:prstGeom prst="rect">
            <a:avLst/>
          </a:prstGeom>
        </p:spPr>
      </p:pic>
      <p:sp>
        <p:nvSpPr>
          <p:cNvPr id="13" name="Amaç Metni"/>
          <p:cNvSpPr txBox="1"/>
          <p:nvPr/>
        </p:nvSpPr>
        <p:spPr>
          <a:xfrm>
            <a:off x="1024127" y="2432304"/>
            <a:ext cx="4709160" cy="585216"/>
          </a:xfrm>
          <a:prstGeom prst="rect">
            <a:avLst/>
          </a:prstGeom>
          <a:noFill/>
        </p:spPr>
        <p:txBody>
          <a:bodyPr wrap="square" lIns="0" rIns="0" tIns="18288" bIns="18288" anchor="ctr">
            <a:spAutoFit/>
          </a:bodyPr>
          <a:lstStyle/>
          <a:p>
            <a:pPr algn="l"/>
            <a:r>
              <a:rPr sz="1300" b="0" i="0">
                <a:solidFill>
                  <a:srgbClr val="1B1B1B"/>
                </a:solidFill>
              </a:rPr>
              <a:t>Yeşil büyüme vizyonunu hayata geçirmek</a:t>
            </a:r>
          </a:p>
        </p:txBody>
      </p:sp>
      <p:sp>
        <p:nvSpPr>
          <p:cNvPr id="14" name="Amaç Kartı"/>
          <p:cNvSpPr/>
          <p:nvPr/>
        </p:nvSpPr>
        <p:spPr>
          <a:xfrm>
            <a:off x="274320" y="3163824"/>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5" name="Amaç İkon Zemini"/>
          <p:cNvSpPr/>
          <p:nvPr/>
        </p:nvSpPr>
        <p:spPr>
          <a:xfrm>
            <a:off x="384048" y="3246120"/>
            <a:ext cx="493776" cy="493776"/>
          </a:xfrm>
          <a:prstGeom prst="ellipse">
            <a:avLst/>
          </a:prstGeom>
          <a:solidFill>
            <a:srgbClr val="264E70"/>
          </a:solidFill>
          <a:ln>
            <a:noFill/>
          </a:ln>
        </p:spPr>
        <p:txBody>
          <a:bodyPr rtlCol="0" anchor="ctr"/>
          <a:lstStyle/>
          <a:p/>
        </p:txBody>
      </p:sp>
      <p:pic>
        <p:nvPicPr>
          <p:cNvPr id="16" name="Picture 15" descr="FaBullseye_white.png"/>
          <p:cNvPicPr>
            <a:picLocks noChangeAspect="1"/>
          </p:cNvPicPr>
          <p:nvPr/>
        </p:nvPicPr>
        <p:blipFill>
          <a:blip r:embed="rId5"/>
          <a:stretch>
            <a:fillRect/>
          </a:stretch>
        </p:blipFill>
        <p:spPr>
          <a:xfrm>
            <a:off x="502920" y="3364992"/>
            <a:ext cx="256032" cy="256032"/>
          </a:xfrm>
          <a:prstGeom prst="rect">
            <a:avLst/>
          </a:prstGeom>
        </p:spPr>
      </p:pic>
      <p:sp>
        <p:nvSpPr>
          <p:cNvPr id="17" name="Amaç Metni"/>
          <p:cNvSpPr txBox="1"/>
          <p:nvPr/>
        </p:nvSpPr>
        <p:spPr>
          <a:xfrm>
            <a:off x="1024127" y="3200400"/>
            <a:ext cx="4709160" cy="585216"/>
          </a:xfrm>
          <a:prstGeom prst="rect">
            <a:avLst/>
          </a:prstGeom>
          <a:noFill/>
        </p:spPr>
        <p:txBody>
          <a:bodyPr wrap="square" lIns="0" rIns="0" tIns="18288" bIns="18288" anchor="ctr">
            <a:spAutoFit/>
          </a:bodyPr>
          <a:lstStyle/>
          <a:p>
            <a:pPr algn="l"/>
            <a:r>
              <a:rPr sz="1300" b="0" i="0">
                <a:solidFill>
                  <a:srgbClr val="1B1B1B"/>
                </a:solidFill>
              </a:rPr>
              <a:t>Net sıfır hedefi doğrultusunda iklim değişikliğiyle mücadele etmek</a:t>
            </a:r>
          </a:p>
        </p:txBody>
      </p:sp>
      <p:sp>
        <p:nvSpPr>
          <p:cNvPr id="18" name="Amaç Kartı"/>
          <p:cNvSpPr/>
          <p:nvPr/>
        </p:nvSpPr>
        <p:spPr>
          <a:xfrm>
            <a:off x="274320" y="3931920"/>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9" name="Amaç İkon Zemini"/>
          <p:cNvSpPr/>
          <p:nvPr/>
        </p:nvSpPr>
        <p:spPr>
          <a:xfrm>
            <a:off x="384048" y="4014215"/>
            <a:ext cx="493776" cy="493776"/>
          </a:xfrm>
          <a:prstGeom prst="ellipse">
            <a:avLst/>
          </a:prstGeom>
          <a:solidFill>
            <a:srgbClr val="264E70"/>
          </a:solidFill>
          <a:ln>
            <a:noFill/>
          </a:ln>
        </p:spPr>
        <p:txBody>
          <a:bodyPr rtlCol="0" anchor="ctr"/>
          <a:lstStyle/>
          <a:p/>
        </p:txBody>
      </p:sp>
      <p:pic>
        <p:nvPicPr>
          <p:cNvPr id="20" name="Picture 19" descr="FaShieldAlt_white.png"/>
          <p:cNvPicPr>
            <a:picLocks noChangeAspect="1"/>
          </p:cNvPicPr>
          <p:nvPr/>
        </p:nvPicPr>
        <p:blipFill>
          <a:blip r:embed="rId6"/>
          <a:stretch>
            <a:fillRect/>
          </a:stretch>
        </p:blipFill>
        <p:spPr>
          <a:xfrm>
            <a:off x="502920" y="4133087"/>
            <a:ext cx="256032" cy="256032"/>
          </a:xfrm>
          <a:prstGeom prst="rect">
            <a:avLst/>
          </a:prstGeom>
        </p:spPr>
      </p:pic>
      <p:sp>
        <p:nvSpPr>
          <p:cNvPr id="21" name="Amaç Metni"/>
          <p:cNvSpPr txBox="1"/>
          <p:nvPr/>
        </p:nvSpPr>
        <p:spPr>
          <a:xfrm>
            <a:off x="1024127" y="3968496"/>
            <a:ext cx="4709160" cy="585216"/>
          </a:xfrm>
          <a:prstGeom prst="rect">
            <a:avLst/>
          </a:prstGeom>
          <a:noFill/>
        </p:spPr>
        <p:txBody>
          <a:bodyPr wrap="square" lIns="0" rIns="0" tIns="18288" bIns="18288" anchor="ctr">
            <a:spAutoFit/>
          </a:bodyPr>
          <a:lstStyle/>
          <a:p>
            <a:pPr algn="l"/>
            <a:r>
              <a:rPr sz="1300" b="0" i="0">
                <a:solidFill>
                  <a:srgbClr val="1B1B1B"/>
                </a:solidFill>
              </a:rPr>
              <a:t>Sera gazı azaltımı ve iklim değişikliğine uyum için yasal çerçeve oluşturmak</a:t>
            </a:r>
          </a:p>
        </p:txBody>
      </p:sp>
      <p:cxnSp>
        <p:nvCxnSpPr>
          <p:cNvPr id="22" name="Connector 21"/>
          <p:cNvCxnSpPr/>
          <p:nvPr/>
        </p:nvCxnSpPr>
        <p:spPr>
          <a:xfrm>
            <a:off x="6080760" y="2011680"/>
            <a:ext cx="0" cy="2560320"/>
          </a:xfrm>
          <a:prstGeom prst="line">
            <a:avLst/>
          </a:prstGeom>
          <a:ln w="12700">
            <a:solidFill>
              <a:srgbClr val="9AA5B1"/>
            </a:solidFill>
            <a:prstDash val="dash"/>
          </a:ln>
        </p:spPr>
      </p:cxnSp>
      <p:sp>
        <p:nvSpPr>
          <p:cNvPr id="23" name="Rounded Rectangle 22"/>
          <p:cNvSpPr/>
          <p:nvPr/>
        </p:nvSpPr>
        <p:spPr>
          <a:xfrm>
            <a:off x="6309360" y="1975104"/>
            <a:ext cx="553212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ANA ARAÇLAR</a:t>
            </a:r>
          </a:p>
        </p:txBody>
      </p:sp>
      <p:sp>
        <p:nvSpPr>
          <p:cNvPr id="24" name="Altıgen"/>
          <p:cNvSpPr/>
          <p:nvPr/>
        </p:nvSpPr>
        <p:spPr>
          <a:xfrm>
            <a:off x="6682740" y="2395728"/>
            <a:ext cx="1097280" cy="676656"/>
          </a:xfrm>
          <a:prstGeom prst="hexagon">
            <a:avLst/>
          </a:prstGeom>
          <a:solidFill>
            <a:srgbClr val="DCE6F2"/>
          </a:solidFill>
          <a:ln w="19050">
            <a:solidFill>
              <a:srgbClr val="264E70"/>
            </a:solidFill>
          </a:ln>
        </p:spPr>
        <p:txBody>
          <a:bodyPr rtlCol="0" anchor="ctr"/>
          <a:lstStyle/>
          <a:p/>
        </p:txBody>
      </p:sp>
      <p:pic>
        <p:nvPicPr>
          <p:cNvPr id="25" name="Picture 24" descr="FaFileSignature_navy.png"/>
          <p:cNvPicPr>
            <a:picLocks noChangeAspect="1"/>
          </p:cNvPicPr>
          <p:nvPr/>
        </p:nvPicPr>
        <p:blipFill>
          <a:blip r:embed="rId7"/>
          <a:stretch>
            <a:fillRect/>
          </a:stretch>
        </p:blipFill>
        <p:spPr>
          <a:xfrm>
            <a:off x="7030212" y="2532888"/>
            <a:ext cx="402336" cy="402336"/>
          </a:xfrm>
          <a:prstGeom prst="rect">
            <a:avLst/>
          </a:prstGeom>
        </p:spPr>
      </p:pic>
      <p:sp>
        <p:nvSpPr>
          <p:cNvPr id="26" name="Altıgen Başlığı"/>
          <p:cNvSpPr txBox="1"/>
          <p:nvPr/>
        </p:nvSpPr>
        <p:spPr>
          <a:xfrm>
            <a:off x="6355080" y="3108960"/>
            <a:ext cx="1752599" cy="347472"/>
          </a:xfrm>
          <a:prstGeom prst="rect">
            <a:avLst/>
          </a:prstGeom>
          <a:noFill/>
        </p:spPr>
        <p:txBody>
          <a:bodyPr wrap="square" lIns="0" rIns="0" tIns="18288" bIns="18288" anchor="t">
            <a:spAutoFit/>
          </a:bodyPr>
          <a:lstStyle/>
          <a:p>
            <a:pPr algn="ctr"/>
            <a:r>
              <a:rPr sz="1100" b="1" i="0">
                <a:solidFill>
                  <a:srgbClr val="264E70"/>
                </a:solidFill>
              </a:rPr>
              <a:t>Sera Gazı Emisyon İzni</a:t>
            </a:r>
          </a:p>
        </p:txBody>
      </p:sp>
      <p:sp>
        <p:nvSpPr>
          <p:cNvPr id="27" name="Altıgen"/>
          <p:cNvSpPr/>
          <p:nvPr/>
        </p:nvSpPr>
        <p:spPr>
          <a:xfrm>
            <a:off x="8526780" y="2395728"/>
            <a:ext cx="1097280" cy="676656"/>
          </a:xfrm>
          <a:prstGeom prst="hexagon">
            <a:avLst/>
          </a:prstGeom>
          <a:solidFill>
            <a:srgbClr val="DCE6F2"/>
          </a:solidFill>
          <a:ln w="19050">
            <a:solidFill>
              <a:srgbClr val="264E70"/>
            </a:solidFill>
          </a:ln>
        </p:spPr>
        <p:txBody>
          <a:bodyPr rtlCol="0" anchor="ctr"/>
          <a:lstStyle/>
          <a:p/>
        </p:txBody>
      </p:sp>
      <p:pic>
        <p:nvPicPr>
          <p:cNvPr id="28" name="Picture 27" descr="FaBalanceScale_navy.png"/>
          <p:cNvPicPr>
            <a:picLocks noChangeAspect="1"/>
          </p:cNvPicPr>
          <p:nvPr/>
        </p:nvPicPr>
        <p:blipFill>
          <a:blip r:embed="rId8"/>
          <a:stretch>
            <a:fillRect/>
          </a:stretch>
        </p:blipFill>
        <p:spPr>
          <a:xfrm>
            <a:off x="8874252" y="2532888"/>
            <a:ext cx="402336" cy="402336"/>
          </a:xfrm>
          <a:prstGeom prst="rect">
            <a:avLst/>
          </a:prstGeom>
        </p:spPr>
      </p:pic>
      <p:sp>
        <p:nvSpPr>
          <p:cNvPr id="29" name="Altıgen Başlığı"/>
          <p:cNvSpPr txBox="1"/>
          <p:nvPr/>
        </p:nvSpPr>
        <p:spPr>
          <a:xfrm>
            <a:off x="8199120" y="3108960"/>
            <a:ext cx="1752599" cy="347472"/>
          </a:xfrm>
          <a:prstGeom prst="rect">
            <a:avLst/>
          </a:prstGeom>
          <a:noFill/>
        </p:spPr>
        <p:txBody>
          <a:bodyPr wrap="square" lIns="0" rIns="0" tIns="18288" bIns="18288" anchor="t">
            <a:spAutoFit/>
          </a:bodyPr>
          <a:lstStyle/>
          <a:p>
            <a:pPr algn="ctr"/>
            <a:r>
              <a:rPr sz="1100" b="1" i="0">
                <a:solidFill>
                  <a:srgbClr val="264E70"/>
                </a:solidFill>
              </a:rPr>
              <a:t>Tahsisat Teslim Yükümlülüğü</a:t>
            </a:r>
          </a:p>
        </p:txBody>
      </p:sp>
      <p:sp>
        <p:nvSpPr>
          <p:cNvPr id="30" name="Altıgen"/>
          <p:cNvSpPr/>
          <p:nvPr/>
        </p:nvSpPr>
        <p:spPr>
          <a:xfrm>
            <a:off x="10370820" y="2395728"/>
            <a:ext cx="1097280" cy="676656"/>
          </a:xfrm>
          <a:prstGeom prst="hexagon">
            <a:avLst/>
          </a:prstGeom>
          <a:solidFill>
            <a:srgbClr val="DCE6F2"/>
          </a:solidFill>
          <a:ln w="19050">
            <a:solidFill>
              <a:srgbClr val="264E70"/>
            </a:solidFill>
          </a:ln>
        </p:spPr>
        <p:txBody>
          <a:bodyPr rtlCol="0" anchor="ctr"/>
          <a:lstStyle/>
          <a:p/>
        </p:txBody>
      </p:sp>
      <p:pic>
        <p:nvPicPr>
          <p:cNvPr id="31" name="Picture 30" descr="FaClipboardCheck_navy.png"/>
          <p:cNvPicPr>
            <a:picLocks noChangeAspect="1"/>
          </p:cNvPicPr>
          <p:nvPr/>
        </p:nvPicPr>
        <p:blipFill>
          <a:blip r:embed="rId9"/>
          <a:stretch>
            <a:fillRect/>
          </a:stretch>
        </p:blipFill>
        <p:spPr>
          <a:xfrm>
            <a:off x="10718292" y="2532888"/>
            <a:ext cx="402336" cy="402336"/>
          </a:xfrm>
          <a:prstGeom prst="rect">
            <a:avLst/>
          </a:prstGeom>
        </p:spPr>
      </p:pic>
      <p:sp>
        <p:nvSpPr>
          <p:cNvPr id="32" name="Altıgen Başlığı"/>
          <p:cNvSpPr txBox="1"/>
          <p:nvPr/>
        </p:nvSpPr>
        <p:spPr>
          <a:xfrm>
            <a:off x="10043160" y="3108960"/>
            <a:ext cx="1752599" cy="347472"/>
          </a:xfrm>
          <a:prstGeom prst="rect">
            <a:avLst/>
          </a:prstGeom>
          <a:noFill/>
        </p:spPr>
        <p:txBody>
          <a:bodyPr wrap="square" lIns="0" rIns="0" tIns="18288" bIns="18288" anchor="t">
            <a:spAutoFit/>
          </a:bodyPr>
          <a:lstStyle/>
          <a:p>
            <a:pPr algn="ctr"/>
            <a:r>
              <a:rPr sz="1100" b="1" i="0">
                <a:solidFill>
                  <a:srgbClr val="264E70"/>
                </a:solidFill>
              </a:rPr>
              <a:t>Doğrulanmış Emisyon Raporu</a:t>
            </a:r>
          </a:p>
        </p:txBody>
      </p:sp>
      <p:sp>
        <p:nvSpPr>
          <p:cNvPr id="33" name="Altıgen"/>
          <p:cNvSpPr/>
          <p:nvPr/>
        </p:nvSpPr>
        <p:spPr>
          <a:xfrm>
            <a:off x="6682740" y="3511296"/>
            <a:ext cx="1097280" cy="676656"/>
          </a:xfrm>
          <a:prstGeom prst="hexagon">
            <a:avLst/>
          </a:prstGeom>
          <a:solidFill>
            <a:srgbClr val="DCE6F2"/>
          </a:solidFill>
          <a:ln w="19050">
            <a:solidFill>
              <a:srgbClr val="264E70"/>
            </a:solidFill>
          </a:ln>
        </p:spPr>
        <p:txBody>
          <a:bodyPr rtlCol="0" anchor="ctr"/>
          <a:lstStyle/>
          <a:p/>
        </p:txBody>
      </p:sp>
      <p:pic>
        <p:nvPicPr>
          <p:cNvPr id="34" name="Picture 33" descr="FaExchangeAlt_navy.png"/>
          <p:cNvPicPr>
            <a:picLocks noChangeAspect="1"/>
          </p:cNvPicPr>
          <p:nvPr/>
        </p:nvPicPr>
        <p:blipFill>
          <a:blip r:embed="rId10"/>
          <a:stretch>
            <a:fillRect/>
          </a:stretch>
        </p:blipFill>
        <p:spPr>
          <a:xfrm>
            <a:off x="7030212" y="3648456"/>
            <a:ext cx="402336" cy="402336"/>
          </a:xfrm>
          <a:prstGeom prst="rect">
            <a:avLst/>
          </a:prstGeom>
        </p:spPr>
      </p:pic>
      <p:sp>
        <p:nvSpPr>
          <p:cNvPr id="35" name="Altıgen Başlığı"/>
          <p:cNvSpPr txBox="1"/>
          <p:nvPr/>
        </p:nvSpPr>
        <p:spPr>
          <a:xfrm>
            <a:off x="6355080" y="4224528"/>
            <a:ext cx="1752599" cy="347472"/>
          </a:xfrm>
          <a:prstGeom prst="rect">
            <a:avLst/>
          </a:prstGeom>
          <a:noFill/>
        </p:spPr>
        <p:txBody>
          <a:bodyPr wrap="square" lIns="0" rIns="0" tIns="18288" bIns="18288" anchor="t">
            <a:spAutoFit/>
          </a:bodyPr>
          <a:lstStyle/>
          <a:p>
            <a:pPr algn="ctr"/>
            <a:r>
              <a:rPr sz="1100" b="1" i="0">
                <a:solidFill>
                  <a:srgbClr val="264E70"/>
                </a:solidFill>
              </a:rPr>
              <a:t>Emisyon Ticaret Sistemi (ETS)</a:t>
            </a:r>
          </a:p>
        </p:txBody>
      </p:sp>
      <p:sp>
        <p:nvSpPr>
          <p:cNvPr id="36" name="Altıgen"/>
          <p:cNvSpPr/>
          <p:nvPr/>
        </p:nvSpPr>
        <p:spPr>
          <a:xfrm>
            <a:off x="8526780" y="3511296"/>
            <a:ext cx="1097280" cy="676656"/>
          </a:xfrm>
          <a:prstGeom prst="hexagon">
            <a:avLst/>
          </a:prstGeom>
          <a:solidFill>
            <a:srgbClr val="DCE6F2"/>
          </a:solidFill>
          <a:ln w="19050">
            <a:solidFill>
              <a:srgbClr val="264E70"/>
            </a:solidFill>
          </a:ln>
        </p:spPr>
        <p:txBody>
          <a:bodyPr rtlCol="0" anchor="ctr"/>
          <a:lstStyle/>
          <a:p/>
        </p:txBody>
      </p:sp>
      <p:pic>
        <p:nvPicPr>
          <p:cNvPr id="37" name="Picture 36" descr="FaLeaf_navy.png"/>
          <p:cNvPicPr>
            <a:picLocks noChangeAspect="1"/>
          </p:cNvPicPr>
          <p:nvPr/>
        </p:nvPicPr>
        <p:blipFill>
          <a:blip r:embed="rId11"/>
          <a:stretch>
            <a:fillRect/>
          </a:stretch>
        </p:blipFill>
        <p:spPr>
          <a:xfrm>
            <a:off x="8874252" y="3648456"/>
            <a:ext cx="402336" cy="402336"/>
          </a:xfrm>
          <a:prstGeom prst="rect">
            <a:avLst/>
          </a:prstGeom>
        </p:spPr>
      </p:pic>
      <p:sp>
        <p:nvSpPr>
          <p:cNvPr id="38" name="Altıgen Başlığı"/>
          <p:cNvSpPr txBox="1"/>
          <p:nvPr/>
        </p:nvSpPr>
        <p:spPr>
          <a:xfrm>
            <a:off x="8199120" y="4224528"/>
            <a:ext cx="1752599" cy="347472"/>
          </a:xfrm>
          <a:prstGeom prst="rect">
            <a:avLst/>
          </a:prstGeom>
          <a:noFill/>
        </p:spPr>
        <p:txBody>
          <a:bodyPr wrap="square" lIns="0" rIns="0" tIns="18288" bIns="18288" anchor="t">
            <a:spAutoFit/>
          </a:bodyPr>
          <a:lstStyle/>
          <a:p>
            <a:pPr algn="ctr"/>
            <a:r>
              <a:rPr sz="1100" b="1" i="0">
                <a:solidFill>
                  <a:srgbClr val="264E70"/>
                </a:solidFill>
              </a:rPr>
              <a:t>Karbon Kredisi ve Denkleştirme</a:t>
            </a:r>
          </a:p>
        </p:txBody>
      </p:sp>
      <p:sp>
        <p:nvSpPr>
          <p:cNvPr id="39" name="Altıgen"/>
          <p:cNvSpPr/>
          <p:nvPr/>
        </p:nvSpPr>
        <p:spPr>
          <a:xfrm>
            <a:off x="10370820" y="3511296"/>
            <a:ext cx="1097280" cy="676656"/>
          </a:xfrm>
          <a:prstGeom prst="hexagon">
            <a:avLst/>
          </a:prstGeom>
          <a:solidFill>
            <a:srgbClr val="DCE6F2"/>
          </a:solidFill>
          <a:ln w="19050">
            <a:solidFill>
              <a:srgbClr val="264E70"/>
            </a:solidFill>
          </a:ln>
        </p:spPr>
        <p:txBody>
          <a:bodyPr rtlCol="0" anchor="ctr"/>
          <a:lstStyle/>
          <a:p/>
        </p:txBody>
      </p:sp>
      <p:pic>
        <p:nvPicPr>
          <p:cNvPr id="40" name="Picture 39" descr="FaHandHoldingUsd_navy.png"/>
          <p:cNvPicPr>
            <a:picLocks noChangeAspect="1"/>
          </p:cNvPicPr>
          <p:nvPr/>
        </p:nvPicPr>
        <p:blipFill>
          <a:blip r:embed="rId12"/>
          <a:stretch>
            <a:fillRect/>
          </a:stretch>
        </p:blipFill>
        <p:spPr>
          <a:xfrm>
            <a:off x="10718292" y="3648456"/>
            <a:ext cx="402336" cy="402336"/>
          </a:xfrm>
          <a:prstGeom prst="rect">
            <a:avLst/>
          </a:prstGeom>
        </p:spPr>
      </p:pic>
      <p:sp>
        <p:nvSpPr>
          <p:cNvPr id="41" name="Altıgen Başlığı"/>
          <p:cNvSpPr txBox="1"/>
          <p:nvPr/>
        </p:nvSpPr>
        <p:spPr>
          <a:xfrm>
            <a:off x="10043160" y="4224528"/>
            <a:ext cx="1752599" cy="347472"/>
          </a:xfrm>
          <a:prstGeom prst="rect">
            <a:avLst/>
          </a:prstGeom>
          <a:noFill/>
        </p:spPr>
        <p:txBody>
          <a:bodyPr wrap="square" lIns="0" rIns="0" tIns="18288" bIns="18288" anchor="t">
            <a:spAutoFit/>
          </a:bodyPr>
          <a:lstStyle/>
          <a:p>
            <a:pPr algn="ctr"/>
            <a:r>
              <a:rPr sz="1100" b="1" i="0">
                <a:solidFill>
                  <a:srgbClr val="264E70"/>
                </a:solidFill>
              </a:rPr>
              <a:t>Hibe ve Yeşil Finansman</a:t>
            </a:r>
          </a:p>
        </p:txBody>
      </p:sp>
      <p:cxnSp>
        <p:nvCxnSpPr>
          <p:cNvPr id="42" name="Connector 41"/>
          <p:cNvCxnSpPr/>
          <p:nvPr/>
        </p:nvCxnSpPr>
        <p:spPr>
          <a:xfrm>
            <a:off x="274320" y="4663440"/>
            <a:ext cx="11567160" cy="0"/>
          </a:xfrm>
          <a:prstGeom prst="line">
            <a:avLst/>
          </a:prstGeom>
          <a:ln w="12700">
            <a:solidFill>
              <a:srgbClr val="9AA5B1"/>
            </a:solidFill>
            <a:prstDash val="dash"/>
          </a:ln>
        </p:spPr>
      </p:cxnSp>
      <p:sp>
        <p:nvSpPr>
          <p:cNvPr id="43" name="Rounded Rectangle 42"/>
          <p:cNvSpPr/>
          <p:nvPr/>
        </p:nvSpPr>
        <p:spPr>
          <a:xfrm>
            <a:off x="457200" y="4736592"/>
            <a:ext cx="603504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KANUNDAN UYGULAMAYA: MEVZUAT ZİNCİRİ</a:t>
            </a:r>
          </a:p>
        </p:txBody>
      </p:sp>
      <p:sp>
        <p:nvSpPr>
          <p:cNvPr id="44" name="Zincir Kartı"/>
          <p:cNvSpPr/>
          <p:nvPr/>
        </p:nvSpPr>
        <p:spPr>
          <a:xfrm>
            <a:off x="274320"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45" name="Zincir İkon Zemini"/>
          <p:cNvSpPr/>
          <p:nvPr/>
        </p:nvSpPr>
        <p:spPr>
          <a:xfrm>
            <a:off x="384048" y="5230368"/>
            <a:ext cx="457200" cy="457200"/>
          </a:xfrm>
          <a:prstGeom prst="ellipse">
            <a:avLst/>
          </a:prstGeom>
          <a:solidFill>
            <a:srgbClr val="264E70"/>
          </a:solidFill>
          <a:ln>
            <a:noFill/>
          </a:ln>
        </p:spPr>
        <p:txBody>
          <a:bodyPr rtlCol="0" anchor="ctr"/>
          <a:lstStyle/>
          <a:p/>
        </p:txBody>
      </p:sp>
      <p:pic>
        <p:nvPicPr>
          <p:cNvPr id="46" name="Picture 45" descr="FaGavel_white.png"/>
          <p:cNvPicPr>
            <a:picLocks noChangeAspect="1"/>
          </p:cNvPicPr>
          <p:nvPr/>
        </p:nvPicPr>
        <p:blipFill>
          <a:blip r:embed="rId13"/>
          <a:stretch>
            <a:fillRect/>
          </a:stretch>
        </p:blipFill>
        <p:spPr>
          <a:xfrm>
            <a:off x="493776" y="5340096"/>
            <a:ext cx="237744" cy="237744"/>
          </a:xfrm>
          <a:prstGeom prst="rect">
            <a:avLst/>
          </a:prstGeom>
        </p:spPr>
      </p:pic>
      <p:sp>
        <p:nvSpPr>
          <p:cNvPr id="47" name="Zincir Başlığı"/>
          <p:cNvSpPr txBox="1"/>
          <p:nvPr/>
        </p:nvSpPr>
        <p:spPr>
          <a:xfrm>
            <a:off x="932688" y="5193792"/>
            <a:ext cx="1872233" cy="530352"/>
          </a:xfrm>
          <a:prstGeom prst="rect">
            <a:avLst/>
          </a:prstGeom>
          <a:noFill/>
        </p:spPr>
        <p:txBody>
          <a:bodyPr wrap="square" lIns="0" rIns="0" tIns="18288" bIns="18288" anchor="ctr">
            <a:spAutoFit/>
          </a:bodyPr>
          <a:lstStyle/>
          <a:p>
            <a:pPr algn="l"/>
            <a:r>
              <a:rPr sz="1200" b="1" i="0">
                <a:solidFill>
                  <a:srgbClr val="264E70"/>
                </a:solidFill>
              </a:rPr>
              <a:t>İklim Kanunu</a:t>
            </a:r>
          </a:p>
        </p:txBody>
      </p:sp>
      <p:sp>
        <p:nvSpPr>
          <p:cNvPr id="48" name="Zincir Açıklaması"/>
          <p:cNvSpPr txBox="1"/>
          <p:nvPr/>
        </p:nvSpPr>
        <p:spPr>
          <a:xfrm>
            <a:off x="402336" y="5742432"/>
            <a:ext cx="2347722" cy="621792"/>
          </a:xfrm>
          <a:prstGeom prst="rect">
            <a:avLst/>
          </a:prstGeom>
          <a:noFill/>
        </p:spPr>
        <p:txBody>
          <a:bodyPr wrap="square" lIns="0" rIns="0" tIns="18288" bIns="18288" anchor="t">
            <a:spAutoFit/>
          </a:bodyPr>
          <a:lstStyle/>
          <a:p>
            <a:pPr algn="l"/>
            <a:r>
              <a:rPr sz="1050" b="0" i="0">
                <a:solidFill>
                  <a:srgbClr val="1B1B1B"/>
                </a:solidFill>
              </a:rPr>
              <a:t>09.07.2025 · RG 32951. Net sıfır hedefi, emisyon izni ve tahsisat sisteminin yasal çerçevesi</a:t>
            </a:r>
          </a:p>
        </p:txBody>
      </p:sp>
      <p:sp>
        <p:nvSpPr>
          <p:cNvPr id="49" name="Ok"/>
          <p:cNvSpPr/>
          <p:nvPr/>
        </p:nvSpPr>
        <p:spPr>
          <a:xfrm>
            <a:off x="2932937" y="5623560"/>
            <a:ext cx="274320" cy="292608"/>
          </a:xfrm>
          <a:prstGeom prst="chevron">
            <a:avLst/>
          </a:prstGeom>
          <a:solidFill>
            <a:srgbClr val="264E70"/>
          </a:solidFill>
          <a:ln>
            <a:noFill/>
          </a:ln>
        </p:spPr>
        <p:txBody>
          <a:bodyPr rtlCol="0" anchor="ctr"/>
          <a:lstStyle/>
          <a:p/>
        </p:txBody>
      </p:sp>
      <p:sp>
        <p:nvSpPr>
          <p:cNvPr id="50" name="Zincir Kartı"/>
          <p:cNvSpPr/>
          <p:nvPr/>
        </p:nvSpPr>
        <p:spPr>
          <a:xfrm>
            <a:off x="3262121"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51" name="Zincir İkon Zemini"/>
          <p:cNvSpPr/>
          <p:nvPr/>
        </p:nvSpPr>
        <p:spPr>
          <a:xfrm>
            <a:off x="3371849" y="5230368"/>
            <a:ext cx="457200" cy="457200"/>
          </a:xfrm>
          <a:prstGeom prst="ellipse">
            <a:avLst/>
          </a:prstGeom>
          <a:solidFill>
            <a:srgbClr val="264E70"/>
          </a:solidFill>
          <a:ln>
            <a:noFill/>
          </a:ln>
        </p:spPr>
        <p:txBody>
          <a:bodyPr rtlCol="0" anchor="ctr"/>
          <a:lstStyle/>
          <a:p/>
        </p:txBody>
      </p:sp>
      <p:pic>
        <p:nvPicPr>
          <p:cNvPr id="52" name="Picture 51" descr="FaFileContract_white.png"/>
          <p:cNvPicPr>
            <a:picLocks noChangeAspect="1"/>
          </p:cNvPicPr>
          <p:nvPr/>
        </p:nvPicPr>
        <p:blipFill>
          <a:blip r:embed="rId14"/>
          <a:stretch>
            <a:fillRect/>
          </a:stretch>
        </p:blipFill>
        <p:spPr>
          <a:xfrm>
            <a:off x="3481577" y="5340096"/>
            <a:ext cx="237744" cy="237744"/>
          </a:xfrm>
          <a:prstGeom prst="rect">
            <a:avLst/>
          </a:prstGeom>
        </p:spPr>
      </p:pic>
      <p:sp>
        <p:nvSpPr>
          <p:cNvPr id="53" name="Zincir Başlığı"/>
          <p:cNvSpPr txBox="1"/>
          <p:nvPr/>
        </p:nvSpPr>
        <p:spPr>
          <a:xfrm>
            <a:off x="3920489" y="5193792"/>
            <a:ext cx="1872233" cy="530352"/>
          </a:xfrm>
          <a:prstGeom prst="rect">
            <a:avLst/>
          </a:prstGeom>
          <a:noFill/>
        </p:spPr>
        <p:txBody>
          <a:bodyPr wrap="square" lIns="0" rIns="0" tIns="18288" bIns="18288" anchor="ctr">
            <a:spAutoFit/>
          </a:bodyPr>
          <a:lstStyle/>
          <a:p>
            <a:pPr algn="l"/>
            <a:r>
              <a:rPr sz="1200" b="1" i="0">
                <a:solidFill>
                  <a:srgbClr val="264E70"/>
                </a:solidFill>
              </a:rPr>
              <a:t>ETS Yönetmeliği</a:t>
            </a:r>
          </a:p>
        </p:txBody>
      </p:sp>
      <p:sp>
        <p:nvSpPr>
          <p:cNvPr id="54" name="Zincir Açıklaması"/>
          <p:cNvSpPr txBox="1"/>
          <p:nvPr/>
        </p:nvSpPr>
        <p:spPr>
          <a:xfrm>
            <a:off x="3390137" y="5742432"/>
            <a:ext cx="2347722" cy="621792"/>
          </a:xfrm>
          <a:prstGeom prst="rect">
            <a:avLst/>
          </a:prstGeom>
          <a:noFill/>
        </p:spPr>
        <p:txBody>
          <a:bodyPr wrap="square" lIns="0" rIns="0" tIns="18288" bIns="18288" anchor="t">
            <a:spAutoFit/>
          </a:bodyPr>
          <a:lstStyle/>
          <a:p>
            <a:pPr algn="l"/>
            <a:r>
              <a:rPr sz="1050" b="0" i="0">
                <a:solidFill>
                  <a:srgbClr val="1B1B1B"/>
                </a:solidFill>
              </a:rPr>
              <a:t>27.08.2026 · RG 33353. MRV altyapısı, izin süreçleri, ücretsiz tahsisat ve yaptırımlar</a:t>
            </a:r>
          </a:p>
        </p:txBody>
      </p:sp>
      <p:sp>
        <p:nvSpPr>
          <p:cNvPr id="55" name="Ok"/>
          <p:cNvSpPr/>
          <p:nvPr/>
        </p:nvSpPr>
        <p:spPr>
          <a:xfrm>
            <a:off x="5920739" y="5623560"/>
            <a:ext cx="274320" cy="292608"/>
          </a:xfrm>
          <a:prstGeom prst="chevron">
            <a:avLst/>
          </a:prstGeom>
          <a:solidFill>
            <a:srgbClr val="264E70"/>
          </a:solidFill>
          <a:ln>
            <a:noFill/>
          </a:ln>
        </p:spPr>
        <p:txBody>
          <a:bodyPr rtlCol="0" anchor="ctr"/>
          <a:lstStyle/>
          <a:p/>
        </p:txBody>
      </p:sp>
      <p:sp>
        <p:nvSpPr>
          <p:cNvPr id="56" name="Zincir Kartı"/>
          <p:cNvSpPr/>
          <p:nvPr/>
        </p:nvSpPr>
        <p:spPr>
          <a:xfrm>
            <a:off x="6249923"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57" name="Zincir İkon Zemini"/>
          <p:cNvSpPr/>
          <p:nvPr/>
        </p:nvSpPr>
        <p:spPr>
          <a:xfrm>
            <a:off x="6359651" y="5230368"/>
            <a:ext cx="457200" cy="457200"/>
          </a:xfrm>
          <a:prstGeom prst="ellipse">
            <a:avLst/>
          </a:prstGeom>
          <a:solidFill>
            <a:srgbClr val="264E70"/>
          </a:solidFill>
          <a:ln>
            <a:noFill/>
          </a:ln>
        </p:spPr>
        <p:txBody>
          <a:bodyPr rtlCol="0" anchor="ctr"/>
          <a:lstStyle/>
          <a:p/>
        </p:txBody>
      </p:sp>
      <p:pic>
        <p:nvPicPr>
          <p:cNvPr id="58" name="Picture 57" descr="FaClipboardCheck_white.png"/>
          <p:cNvPicPr>
            <a:picLocks noChangeAspect="1"/>
          </p:cNvPicPr>
          <p:nvPr/>
        </p:nvPicPr>
        <p:blipFill>
          <a:blip r:embed="rId15"/>
          <a:stretch>
            <a:fillRect/>
          </a:stretch>
        </p:blipFill>
        <p:spPr>
          <a:xfrm>
            <a:off x="6469379" y="5340096"/>
            <a:ext cx="237744" cy="237744"/>
          </a:xfrm>
          <a:prstGeom prst="rect">
            <a:avLst/>
          </a:prstGeom>
        </p:spPr>
      </p:pic>
      <p:sp>
        <p:nvSpPr>
          <p:cNvPr id="59" name="Zincir Başlığı"/>
          <p:cNvSpPr txBox="1"/>
          <p:nvPr/>
        </p:nvSpPr>
        <p:spPr>
          <a:xfrm>
            <a:off x="6908291" y="5193792"/>
            <a:ext cx="1872233" cy="530352"/>
          </a:xfrm>
          <a:prstGeom prst="rect">
            <a:avLst/>
          </a:prstGeom>
          <a:noFill/>
        </p:spPr>
        <p:txBody>
          <a:bodyPr wrap="square" lIns="0" rIns="0" tIns="18288" bIns="18288" anchor="ctr">
            <a:spAutoFit/>
          </a:bodyPr>
          <a:lstStyle/>
          <a:p>
            <a:pPr algn="l"/>
            <a:r>
              <a:rPr sz="1200" b="1" i="0">
                <a:solidFill>
                  <a:srgbClr val="264E70"/>
                </a:solidFill>
              </a:rPr>
              <a:t>Yıllık Teslim Yükümlülüğü</a:t>
            </a:r>
          </a:p>
        </p:txBody>
      </p:sp>
      <p:sp>
        <p:nvSpPr>
          <p:cNvPr id="60" name="Zincir Açıklaması"/>
          <p:cNvSpPr txBox="1"/>
          <p:nvPr/>
        </p:nvSpPr>
        <p:spPr>
          <a:xfrm>
            <a:off x="6377939" y="5742432"/>
            <a:ext cx="2347722" cy="621792"/>
          </a:xfrm>
          <a:prstGeom prst="rect">
            <a:avLst/>
          </a:prstGeom>
          <a:noFill/>
        </p:spPr>
        <p:txBody>
          <a:bodyPr wrap="square" lIns="0" rIns="0" tIns="18288" bIns="18288" anchor="t">
            <a:spAutoFit/>
          </a:bodyPr>
          <a:lstStyle/>
          <a:p>
            <a:pPr algn="l"/>
            <a:r>
              <a:rPr sz="1050" b="0" i="0">
                <a:solidFill>
                  <a:srgbClr val="1B1B1B"/>
                </a:solidFill>
              </a:rPr>
              <a:t>Doğrulanmış emisyon raporu ve tahsisat teslimi; üç yıl üst üste asgari %80 şartı</a:t>
            </a:r>
          </a:p>
        </p:txBody>
      </p:sp>
      <p:sp>
        <p:nvSpPr>
          <p:cNvPr id="61" name="Ok"/>
          <p:cNvSpPr/>
          <p:nvPr/>
        </p:nvSpPr>
        <p:spPr>
          <a:xfrm>
            <a:off x="8908542" y="5623560"/>
            <a:ext cx="274320" cy="292608"/>
          </a:xfrm>
          <a:prstGeom prst="chevron">
            <a:avLst/>
          </a:prstGeom>
          <a:solidFill>
            <a:srgbClr val="264E70"/>
          </a:solidFill>
          <a:ln>
            <a:noFill/>
          </a:ln>
        </p:spPr>
        <p:txBody>
          <a:bodyPr rtlCol="0" anchor="ctr"/>
          <a:lstStyle/>
          <a:p/>
        </p:txBody>
      </p:sp>
      <p:sp>
        <p:nvSpPr>
          <p:cNvPr id="62" name="Zincir Kartı"/>
          <p:cNvSpPr/>
          <p:nvPr/>
        </p:nvSpPr>
        <p:spPr>
          <a:xfrm>
            <a:off x="9237726"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63" name="Zincir İkon Zemini"/>
          <p:cNvSpPr/>
          <p:nvPr/>
        </p:nvSpPr>
        <p:spPr>
          <a:xfrm>
            <a:off x="9347453" y="5230368"/>
            <a:ext cx="457200" cy="457200"/>
          </a:xfrm>
          <a:prstGeom prst="ellipse">
            <a:avLst/>
          </a:prstGeom>
          <a:solidFill>
            <a:srgbClr val="005C2A"/>
          </a:solidFill>
          <a:ln>
            <a:noFill/>
          </a:ln>
        </p:spPr>
        <p:txBody>
          <a:bodyPr rtlCol="0" anchor="ctr"/>
          <a:lstStyle/>
          <a:p/>
        </p:txBody>
      </p:sp>
      <p:pic>
        <p:nvPicPr>
          <p:cNvPr id="64" name="Picture 63" descr="FaGlobeEurope_white.png"/>
          <p:cNvPicPr>
            <a:picLocks noChangeAspect="1"/>
          </p:cNvPicPr>
          <p:nvPr/>
        </p:nvPicPr>
        <p:blipFill>
          <a:blip r:embed="rId16"/>
          <a:stretch>
            <a:fillRect/>
          </a:stretch>
        </p:blipFill>
        <p:spPr>
          <a:xfrm>
            <a:off x="9457182" y="5340096"/>
            <a:ext cx="237744" cy="237744"/>
          </a:xfrm>
          <a:prstGeom prst="rect">
            <a:avLst/>
          </a:prstGeom>
        </p:spPr>
      </p:pic>
      <p:sp>
        <p:nvSpPr>
          <p:cNvPr id="65" name="Zincir Başlığı"/>
          <p:cNvSpPr txBox="1"/>
          <p:nvPr/>
        </p:nvSpPr>
        <p:spPr>
          <a:xfrm>
            <a:off x="9896094" y="5193792"/>
            <a:ext cx="1872233" cy="530352"/>
          </a:xfrm>
          <a:prstGeom prst="rect">
            <a:avLst/>
          </a:prstGeom>
          <a:noFill/>
        </p:spPr>
        <p:txBody>
          <a:bodyPr wrap="square" lIns="0" rIns="0" tIns="18288" bIns="18288" anchor="ctr">
            <a:spAutoFit/>
          </a:bodyPr>
          <a:lstStyle/>
          <a:p>
            <a:pPr algn="l"/>
            <a:r>
              <a:rPr sz="1200" b="1" i="0">
                <a:solidFill>
                  <a:srgbClr val="264E70"/>
                </a:solidFill>
              </a:rPr>
              <a:t>AB SKDM Mahsubu</a:t>
            </a:r>
          </a:p>
        </p:txBody>
      </p:sp>
      <p:sp>
        <p:nvSpPr>
          <p:cNvPr id="66" name="Zincir Açıklaması"/>
          <p:cNvSpPr txBox="1"/>
          <p:nvPr/>
        </p:nvSpPr>
        <p:spPr>
          <a:xfrm>
            <a:off x="9365742" y="5742432"/>
            <a:ext cx="2347722" cy="621792"/>
          </a:xfrm>
          <a:prstGeom prst="rect">
            <a:avLst/>
          </a:prstGeom>
          <a:noFill/>
        </p:spPr>
        <p:txBody>
          <a:bodyPr wrap="square" lIns="0" rIns="0" tIns="18288" bIns="18288" anchor="t">
            <a:spAutoFit/>
          </a:bodyPr>
          <a:lstStyle/>
          <a:p>
            <a:pPr algn="l"/>
            <a:r>
              <a:rPr sz="1050" b="0" i="0">
                <a:solidFill>
                  <a:srgbClr val="1B1B1B"/>
                </a:solidFill>
              </a:rPr>
              <a:t>Yurt içinde ödenen karbon fiyatı, SKDM sertifika bedelinden mahsup edilebilir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i="1" lang="tr-TR"/>
              <a:t>Türkiye İklim Kanunu</a:t>
            </a:r>
          </a:p>
        </p:txBody>
      </p:sp>
      <p:sp>
        <p:nvSpPr>
          <p:cNvPr id="4" name="Slayt Numarası Yer Tutucusu 3">
            <a:extLst>
              <a:ext uri="{FF2B5EF4-FFF2-40B4-BE49-F238E27FC236}">
                <a16:creationId xmlns:a16="http://schemas.microsoft.com/office/drawing/2014/main" id="{64D39679-45B4-9C02-77DE-31552745A3E2}"/>
              </a:ext>
            </a:extLst>
          </p:cNvPr>
          <p:cNvSpPr>
            <a:spLocks noGrp="1"/>
          </p:cNvSpPr>
          <p:nvPr>
            <p:ph type="sldNum" sz="quarter" idx="4"/>
          </p:nvPr>
        </p:nvSpPr>
        <p:spPr/>
        <p:txBody>
          <a:bodyPr/>
          <a:lstStyle/>
          <a:p>
            <a:fld id="{42CA6F85-893A-4FE1-8820-DAA50ABDC7DA}" type="slidenum">
              <a:rPr lang="tr-TR" smtClean="0"/>
              <a:pPr/>
              <a:t>7</a:t>
            </a:fld>
            <a:endParaRPr lang="tr-TR"/>
          </a:p>
        </p:txBody>
      </p:sp>
      <p:sp>
        <p:nvSpPr>
          <p:cNvPr id="5" name="Başlık Bandı"/>
          <p:cNvSpPr/>
          <p:nvPr/>
        </p:nvSpPr>
        <p:spPr>
          <a:xfrm>
            <a:off x="274320" y="896112"/>
            <a:ext cx="11567159" cy="365760"/>
          </a:xfrm>
          <a:prstGeom prst="rect">
            <a:avLst/>
          </a:prstGeom>
          <a:solidFill>
            <a:srgbClr val="264E70"/>
          </a:solidFill>
          <a:ln>
            <a:noFill/>
          </a:ln>
        </p:spPr>
        <p:txBody>
          <a:bodyPr rtlCol="0" anchor="ctr" wrap="square" lIns="45720" rIns="45720" tIns="18288" bIns="18288"/>
          <a:lstStyle/>
          <a:p>
            <a:pPr algn="ctr"/>
            <a:r>
              <a:rPr sz="1500" b="1" i="0">
                <a:solidFill>
                  <a:srgbClr val="FFFFFF"/>
                </a:solidFill>
              </a:rPr>
              <a:t>İKLİM KANUNU UYGULAMASI SONUCUNDA OLUŞAN RİSKLER VE FIRSATLAR</a:t>
            </a:r>
          </a:p>
        </p:txBody>
      </p:sp>
      <p:sp>
        <p:nvSpPr>
          <p:cNvPr id="6" name="Rounded Rectangle 5"/>
          <p:cNvSpPr/>
          <p:nvPr/>
        </p:nvSpPr>
        <p:spPr>
          <a:xfrm>
            <a:off x="777240" y="1371600"/>
            <a:ext cx="475488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RİSKLER</a:t>
            </a:r>
          </a:p>
        </p:txBody>
      </p:sp>
      <p:sp>
        <p:nvSpPr>
          <p:cNvPr id="7" name="Rounded Rectangle 6"/>
          <p:cNvSpPr/>
          <p:nvPr/>
        </p:nvSpPr>
        <p:spPr>
          <a:xfrm>
            <a:off x="6629400" y="1371600"/>
            <a:ext cx="475488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FIRSATLAR</a:t>
            </a:r>
          </a:p>
        </p:txBody>
      </p:sp>
      <p:cxnSp>
        <p:nvCxnSpPr>
          <p:cNvPr id="8" name="Connector 7"/>
          <p:cNvCxnSpPr/>
          <p:nvPr/>
        </p:nvCxnSpPr>
        <p:spPr>
          <a:xfrm>
            <a:off x="6080760" y="1371600"/>
            <a:ext cx="0" cy="3017520"/>
          </a:xfrm>
          <a:prstGeom prst="line">
            <a:avLst/>
          </a:prstGeom>
          <a:ln w="12700">
            <a:solidFill>
              <a:srgbClr val="9AA5B1"/>
            </a:solidFill>
            <a:prstDash val="dash"/>
          </a:ln>
        </p:spPr>
      </p:cxnSp>
      <p:sp>
        <p:nvSpPr>
          <p:cNvPr id="9" name="Satır Zemini"/>
          <p:cNvSpPr/>
          <p:nvPr/>
        </p:nvSpPr>
        <p:spPr>
          <a:xfrm>
            <a:off x="274320" y="1783080"/>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0" name="Rakam Rozeti"/>
          <p:cNvSpPr/>
          <p:nvPr/>
        </p:nvSpPr>
        <p:spPr>
          <a:xfrm>
            <a:off x="347472" y="1938527"/>
            <a:ext cx="676656" cy="512064"/>
          </a:xfrm>
          <a:prstGeom prst="roundRect">
            <a:avLst>
              <a:gd name="adj" fmla="val 21428"/>
            </a:avLst>
          </a:prstGeom>
          <a:solidFill>
            <a:srgbClr val="B03A2E"/>
          </a:solidFill>
          <a:ln>
            <a:noFill/>
          </a:ln>
        </p:spPr>
        <p:txBody>
          <a:bodyPr rtlCol="0" anchor="ctr" wrap="square" lIns="18288" rIns="18288" tIns="18288" bIns="18288"/>
          <a:lstStyle/>
          <a:p>
            <a:pPr algn="ctr"/>
            <a:r>
              <a:rPr sz="1400" b="1" i="0">
                <a:solidFill>
                  <a:srgbClr val="FFFFFF"/>
                </a:solidFill>
              </a:rPr>
              <a:t>%80</a:t>
            </a:r>
          </a:p>
        </p:txBody>
      </p:sp>
      <p:sp>
        <p:nvSpPr>
          <p:cNvPr id="11" name="Satır Metni"/>
          <p:cNvSpPr txBox="1"/>
          <p:nvPr/>
        </p:nvSpPr>
        <p:spPr>
          <a:xfrm>
            <a:off x="1115568" y="1819656"/>
            <a:ext cx="4617720" cy="749808"/>
          </a:xfrm>
          <a:prstGeom prst="rect">
            <a:avLst/>
          </a:prstGeom>
          <a:noFill/>
        </p:spPr>
        <p:txBody>
          <a:bodyPr wrap="square" lIns="0" rIns="0" tIns="18288" bIns="18288" anchor="ctr">
            <a:spAutoFit/>
          </a:bodyPr>
          <a:lstStyle/>
          <a:p>
            <a:pPr algn="l"/>
            <a:r>
              <a:rPr sz="1100" b="0" i="0">
                <a:solidFill>
                  <a:srgbClr val="1B1B1B"/>
                </a:solidFill>
              </a:rPr>
              <a:t>Tahsisat teslim yükümlülüklerinin üç yıl üst üste asgari %80 oranında yerine getirilmemesi durumunda, tesislerin sera gazı emisyon izinlerinin iptal edilmesi ve buna bağlı olarak üretimin tamamen durması</a:t>
            </a:r>
          </a:p>
        </p:txBody>
      </p:sp>
      <p:sp>
        <p:nvSpPr>
          <p:cNvPr id="12" name="Satır Zemini"/>
          <p:cNvSpPr/>
          <p:nvPr/>
        </p:nvSpPr>
        <p:spPr>
          <a:xfrm>
            <a:off x="274320" y="2660904"/>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3" name="Rakam Rozeti"/>
          <p:cNvSpPr/>
          <p:nvPr/>
        </p:nvSpPr>
        <p:spPr>
          <a:xfrm>
            <a:off x="347472" y="2816352"/>
            <a:ext cx="676656" cy="512064"/>
          </a:xfrm>
          <a:prstGeom prst="roundRect">
            <a:avLst>
              <a:gd name="adj" fmla="val 21428"/>
            </a:avLst>
          </a:prstGeom>
          <a:solidFill>
            <a:srgbClr val="B03A2E"/>
          </a:solidFill>
          <a:ln>
            <a:noFill/>
          </a:ln>
        </p:spPr>
        <p:txBody>
          <a:bodyPr rtlCol="0" anchor="ctr" wrap="square" lIns="18288" rIns="18288" tIns="18288" bIns="18288"/>
          <a:lstStyle/>
          <a:p>
            <a:pPr algn="ctr"/>
            <a:r>
              <a:rPr sz="1400" b="1" i="0">
                <a:solidFill>
                  <a:srgbClr val="FFFFFF"/>
                </a:solidFill>
              </a:rPr>
              <a:t>2×</a:t>
            </a:r>
          </a:p>
        </p:txBody>
      </p:sp>
      <p:sp>
        <p:nvSpPr>
          <p:cNvPr id="14" name="Satır Metni"/>
          <p:cNvSpPr txBox="1"/>
          <p:nvPr/>
        </p:nvSpPr>
        <p:spPr>
          <a:xfrm>
            <a:off x="1115568" y="2697480"/>
            <a:ext cx="4617720" cy="749808"/>
          </a:xfrm>
          <a:prstGeom prst="rect">
            <a:avLst/>
          </a:prstGeom>
          <a:noFill/>
        </p:spPr>
        <p:txBody>
          <a:bodyPr wrap="square" lIns="0" rIns="0" tIns="18288" bIns="18288" anchor="ctr">
            <a:spAutoFit/>
          </a:bodyPr>
          <a:lstStyle/>
          <a:p>
            <a:pPr algn="l"/>
            <a:r>
              <a:rPr sz="1100" b="0" i="0">
                <a:solidFill>
                  <a:srgbClr val="1B1B1B"/>
                </a:solidFill>
              </a:rPr>
              <a:t>Süresinde teslim edilmeyen tahsisatlar için cari piyasa fiyatının iki katı oranında ceza ödenmesi ve eksikliğin bir sonraki yıl yine tamamlanma zorunluluğu nedeniyle bütçeden ciddi bir nakit çıkışı riski</a:t>
            </a:r>
          </a:p>
        </p:txBody>
      </p:sp>
      <p:sp>
        <p:nvSpPr>
          <p:cNvPr id="15" name="Satır Zemini"/>
          <p:cNvSpPr/>
          <p:nvPr/>
        </p:nvSpPr>
        <p:spPr>
          <a:xfrm>
            <a:off x="274320" y="3538728"/>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6" name="Rakam Rozeti"/>
          <p:cNvSpPr/>
          <p:nvPr/>
        </p:nvSpPr>
        <p:spPr>
          <a:xfrm>
            <a:off x="347472" y="3694176"/>
            <a:ext cx="676656" cy="512064"/>
          </a:xfrm>
          <a:prstGeom prst="roundRect">
            <a:avLst>
              <a:gd name="adj" fmla="val 21428"/>
            </a:avLst>
          </a:prstGeom>
          <a:solidFill>
            <a:srgbClr val="B03A2E"/>
          </a:solidFill>
          <a:ln>
            <a:noFill/>
          </a:ln>
        </p:spPr>
        <p:txBody>
          <a:bodyPr rtlCol="0" anchor="ctr" wrap="square" lIns="18288" rIns="18288" tIns="18288" bIns="18288"/>
          <a:lstStyle/>
          <a:p>
            <a:pPr algn="ctr"/>
            <a:r>
              <a:rPr sz="1100" b="1" i="0">
                <a:solidFill>
                  <a:srgbClr val="FFFFFF"/>
                </a:solidFill>
              </a:rPr>
              <a:t>10 Mn TL</a:t>
            </a:r>
          </a:p>
        </p:txBody>
      </p:sp>
      <p:sp>
        <p:nvSpPr>
          <p:cNvPr id="17" name="Satır Metni"/>
          <p:cNvSpPr txBox="1"/>
          <p:nvPr/>
        </p:nvSpPr>
        <p:spPr>
          <a:xfrm>
            <a:off x="1115568" y="3575304"/>
            <a:ext cx="4617720" cy="749808"/>
          </a:xfrm>
          <a:prstGeom prst="rect">
            <a:avLst/>
          </a:prstGeom>
          <a:noFill/>
        </p:spPr>
        <p:txBody>
          <a:bodyPr wrap="square" lIns="0" rIns="0" tIns="18288" bIns="18288" anchor="ctr">
            <a:spAutoFit/>
          </a:bodyPr>
          <a:lstStyle/>
          <a:p>
            <a:pPr algn="l"/>
            <a:r>
              <a:rPr sz="1100" b="0" i="0">
                <a:solidFill>
                  <a:srgbClr val="1B1B1B"/>
                </a:solidFill>
              </a:rPr>
              <a:t>Doğrulanmış sera gazı emisyon raporlarının zamanında sunulmaması, ETS işlem hesaplarının dondurulmasına ve tekerrüründe katlanarak artacak şekilde 10 milyon TL’ye varan idari para cezaları ile karşılaşılması</a:t>
            </a:r>
          </a:p>
        </p:txBody>
      </p:sp>
      <p:sp>
        <p:nvSpPr>
          <p:cNvPr id="18" name="Satır Zemini"/>
          <p:cNvSpPr/>
          <p:nvPr/>
        </p:nvSpPr>
        <p:spPr>
          <a:xfrm>
            <a:off x="6309360" y="1783080"/>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9" name="Rozet Zemini"/>
          <p:cNvSpPr/>
          <p:nvPr/>
        </p:nvSpPr>
        <p:spPr>
          <a:xfrm>
            <a:off x="6419088" y="1892807"/>
            <a:ext cx="603504" cy="603504"/>
          </a:xfrm>
          <a:prstGeom prst="ellipse">
            <a:avLst/>
          </a:prstGeom>
          <a:solidFill>
            <a:srgbClr val="E5F1EA"/>
          </a:solidFill>
          <a:ln w="15875">
            <a:solidFill>
              <a:srgbClr val="005C2A"/>
            </a:solidFill>
          </a:ln>
        </p:spPr>
        <p:txBody>
          <a:bodyPr rtlCol="0" anchor="ctr"/>
          <a:lstStyle/>
          <a:p/>
        </p:txBody>
      </p:sp>
      <p:pic>
        <p:nvPicPr>
          <p:cNvPr id="20" name="Picture 19" descr="FaHandHoldingUsd_green.png"/>
          <p:cNvPicPr>
            <a:picLocks noChangeAspect="1"/>
          </p:cNvPicPr>
          <p:nvPr/>
        </p:nvPicPr>
        <p:blipFill>
          <a:blip r:embed="rId3"/>
          <a:stretch>
            <a:fillRect/>
          </a:stretch>
        </p:blipFill>
        <p:spPr>
          <a:xfrm>
            <a:off x="6565392" y="2039112"/>
            <a:ext cx="310896" cy="310896"/>
          </a:xfrm>
          <a:prstGeom prst="rect">
            <a:avLst/>
          </a:prstGeom>
        </p:spPr>
      </p:pic>
      <p:sp>
        <p:nvSpPr>
          <p:cNvPr id="21" name="Satır Metni"/>
          <p:cNvSpPr txBox="1"/>
          <p:nvPr/>
        </p:nvSpPr>
        <p:spPr>
          <a:xfrm>
            <a:off x="7150608" y="1819656"/>
            <a:ext cx="4617720" cy="749808"/>
          </a:xfrm>
          <a:prstGeom prst="rect">
            <a:avLst/>
          </a:prstGeom>
          <a:noFill/>
        </p:spPr>
        <p:txBody>
          <a:bodyPr wrap="square" lIns="0" rIns="0" tIns="18288" bIns="18288" anchor="ctr">
            <a:spAutoFit/>
          </a:bodyPr>
          <a:lstStyle/>
          <a:p>
            <a:pPr algn="l"/>
            <a:r>
              <a:rPr sz="1100" b="0" i="0">
                <a:solidFill>
                  <a:srgbClr val="1B1B1B"/>
                </a:solidFill>
              </a:rPr>
              <a:t>Kanun kapsamında sunulacak hibe ve yeşil sermaye piyasası araçları kullanılarak, şirketin dijital dönüşüm ve AR-GE yatırımları için düşük maliyetli dış kaynak sağlanabilir</a:t>
            </a:r>
          </a:p>
        </p:txBody>
      </p:sp>
      <p:sp>
        <p:nvSpPr>
          <p:cNvPr id="22" name="Satır Zemini"/>
          <p:cNvSpPr/>
          <p:nvPr/>
        </p:nvSpPr>
        <p:spPr>
          <a:xfrm>
            <a:off x="6309360" y="2660904"/>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23" name="Rozet Zemini"/>
          <p:cNvSpPr/>
          <p:nvPr/>
        </p:nvSpPr>
        <p:spPr>
          <a:xfrm>
            <a:off x="6419088" y="2770632"/>
            <a:ext cx="603504" cy="603504"/>
          </a:xfrm>
          <a:prstGeom prst="ellipse">
            <a:avLst/>
          </a:prstGeom>
          <a:solidFill>
            <a:srgbClr val="E5F1EA"/>
          </a:solidFill>
          <a:ln w="15875">
            <a:solidFill>
              <a:srgbClr val="005C2A"/>
            </a:solidFill>
          </a:ln>
        </p:spPr>
        <p:txBody>
          <a:bodyPr rtlCol="0" anchor="ctr"/>
          <a:lstStyle/>
          <a:p/>
        </p:txBody>
      </p:sp>
      <p:pic>
        <p:nvPicPr>
          <p:cNvPr id="24" name="Picture 23" descr="FaLeaf_green.png"/>
          <p:cNvPicPr>
            <a:picLocks noChangeAspect="1"/>
          </p:cNvPicPr>
          <p:nvPr/>
        </p:nvPicPr>
        <p:blipFill>
          <a:blip r:embed="rId4"/>
          <a:stretch>
            <a:fillRect/>
          </a:stretch>
        </p:blipFill>
        <p:spPr>
          <a:xfrm>
            <a:off x="6565392" y="2916936"/>
            <a:ext cx="310896" cy="310896"/>
          </a:xfrm>
          <a:prstGeom prst="rect">
            <a:avLst/>
          </a:prstGeom>
        </p:spPr>
      </p:pic>
      <p:sp>
        <p:nvSpPr>
          <p:cNvPr id="25" name="Satır Metni"/>
          <p:cNvSpPr txBox="1"/>
          <p:nvPr/>
        </p:nvSpPr>
        <p:spPr>
          <a:xfrm>
            <a:off x="7150608" y="2697480"/>
            <a:ext cx="4617720" cy="749808"/>
          </a:xfrm>
          <a:prstGeom prst="rect">
            <a:avLst/>
          </a:prstGeom>
          <a:noFill/>
        </p:spPr>
        <p:txBody>
          <a:bodyPr wrap="square" lIns="0" rIns="0" tIns="18288" bIns="18288" anchor="ctr">
            <a:spAutoFit/>
          </a:bodyPr>
          <a:lstStyle/>
          <a:p>
            <a:pPr algn="l"/>
            <a:r>
              <a:rPr sz="1100" b="0" i="0">
                <a:solidFill>
                  <a:srgbClr val="1B1B1B"/>
                </a:solidFill>
              </a:rPr>
              <a:t>Emisyon azaltım projelerinden elde edilecek sertifikalandırılmış karbon kredilerinin, ulusal denkleştirme sistemi veya gönüllü karbon piyasalarında değerlendirilmesi sonucu alternatif ticari gelir kalemi yaratılması</a:t>
            </a:r>
          </a:p>
        </p:txBody>
      </p:sp>
      <p:sp>
        <p:nvSpPr>
          <p:cNvPr id="26" name="Satır Zemini"/>
          <p:cNvSpPr/>
          <p:nvPr/>
        </p:nvSpPr>
        <p:spPr>
          <a:xfrm>
            <a:off x="6309360" y="3538728"/>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27" name="Rozet Zemini"/>
          <p:cNvSpPr/>
          <p:nvPr/>
        </p:nvSpPr>
        <p:spPr>
          <a:xfrm>
            <a:off x="6419088" y="3648456"/>
            <a:ext cx="603504" cy="603504"/>
          </a:xfrm>
          <a:prstGeom prst="ellipse">
            <a:avLst/>
          </a:prstGeom>
          <a:solidFill>
            <a:srgbClr val="E5F1EA"/>
          </a:solidFill>
          <a:ln w="15875">
            <a:solidFill>
              <a:srgbClr val="005C2A"/>
            </a:solidFill>
          </a:ln>
        </p:spPr>
        <p:txBody>
          <a:bodyPr rtlCol="0" anchor="ctr"/>
          <a:lstStyle/>
          <a:p/>
        </p:txBody>
      </p:sp>
      <p:pic>
        <p:nvPicPr>
          <p:cNvPr id="28" name="Picture 27" descr="FaSeedling_green.png"/>
          <p:cNvPicPr>
            <a:picLocks noChangeAspect="1"/>
          </p:cNvPicPr>
          <p:nvPr/>
        </p:nvPicPr>
        <p:blipFill>
          <a:blip r:embed="rId5"/>
          <a:stretch>
            <a:fillRect/>
          </a:stretch>
        </p:blipFill>
        <p:spPr>
          <a:xfrm>
            <a:off x="6565392" y="3794760"/>
            <a:ext cx="310896" cy="310896"/>
          </a:xfrm>
          <a:prstGeom prst="rect">
            <a:avLst/>
          </a:prstGeom>
        </p:spPr>
      </p:pic>
      <p:sp>
        <p:nvSpPr>
          <p:cNvPr id="29" name="Satır Metni"/>
          <p:cNvSpPr txBox="1"/>
          <p:nvPr/>
        </p:nvSpPr>
        <p:spPr>
          <a:xfrm>
            <a:off x="7150608" y="3575304"/>
            <a:ext cx="4617720" cy="749808"/>
          </a:xfrm>
          <a:prstGeom prst="rect">
            <a:avLst/>
          </a:prstGeom>
          <a:noFill/>
        </p:spPr>
        <p:txBody>
          <a:bodyPr wrap="square" lIns="0" rIns="0" tIns="18288" bIns="18288" anchor="ctr">
            <a:spAutoFit/>
          </a:bodyPr>
          <a:lstStyle/>
          <a:p>
            <a:pPr algn="l"/>
            <a:r>
              <a:rPr sz="1100" b="0" i="0">
                <a:solidFill>
                  <a:srgbClr val="1B1B1B"/>
                </a:solidFill>
              </a:rPr>
              <a:t>Tarım sektöründe su bütçesini dikkate alan doğa temelli çözümler ve iklime dirençli ürün desenleri teşvik edileceğinden, yenilikçi gübre formülasyonlarının geliştirilmesi sonucu pazarda rekabet avantajı elde edilmesi</a:t>
            </a:r>
          </a:p>
        </p:txBody>
      </p:sp>
      <p:cxnSp>
        <p:nvCxnSpPr>
          <p:cNvPr id="30" name="Connector 29"/>
          <p:cNvCxnSpPr/>
          <p:nvPr/>
        </p:nvCxnSpPr>
        <p:spPr>
          <a:xfrm>
            <a:off x="274320" y="4507992"/>
            <a:ext cx="11567160" cy="0"/>
          </a:xfrm>
          <a:prstGeom prst="line">
            <a:avLst/>
          </a:prstGeom>
          <a:ln w="12700">
            <a:solidFill>
              <a:srgbClr val="9AA5B1"/>
            </a:solidFill>
            <a:prstDash val="dash"/>
          </a:ln>
        </p:spPr>
      </p:cxnSp>
      <p:sp>
        <p:nvSpPr>
          <p:cNvPr id="31" name="Aksiyon Etiketi"/>
          <p:cNvSpPr/>
          <p:nvPr/>
        </p:nvSpPr>
        <p:spPr>
          <a:xfrm>
            <a:off x="274320" y="4617720"/>
            <a:ext cx="1600200" cy="1764792"/>
          </a:xfrm>
          <a:prstGeom prst="roundRect">
            <a:avLst>
              <a:gd name="adj" fmla="val 6857"/>
            </a:avLst>
          </a:prstGeom>
          <a:solidFill>
            <a:srgbClr val="264E70"/>
          </a:solidFill>
          <a:ln>
            <a:noFill/>
          </a:ln>
          <a:effectLst>
            <a:outerShdw blurRad="63500" dist="38100" dir="2700000" algn="tl" rotWithShape="0">
              <a:srgbClr val="000000">
                <a:alpha val="35000"/>
              </a:srgbClr>
            </a:outerShdw>
          </a:effectLst>
        </p:spPr>
        <p:txBody>
          <a:bodyPr rtlCol="0" anchor="ctr"/>
          <a:lstStyle/>
          <a:p/>
        </p:txBody>
      </p:sp>
      <p:pic>
        <p:nvPicPr>
          <p:cNvPr id="32" name="Picture 31" descr="FaClipboardCheck_white.png"/>
          <p:cNvPicPr>
            <a:picLocks noChangeAspect="1"/>
          </p:cNvPicPr>
          <p:nvPr/>
        </p:nvPicPr>
        <p:blipFill>
          <a:blip r:embed="rId6"/>
          <a:stretch>
            <a:fillRect/>
          </a:stretch>
        </p:blipFill>
        <p:spPr>
          <a:xfrm>
            <a:off x="841247" y="4800600"/>
            <a:ext cx="457200" cy="457200"/>
          </a:xfrm>
          <a:prstGeom prst="rect">
            <a:avLst/>
          </a:prstGeom>
        </p:spPr>
      </p:pic>
      <p:sp>
        <p:nvSpPr>
          <p:cNvPr id="33" name="Aksiyon Etiketi Metni"/>
          <p:cNvSpPr txBox="1"/>
          <p:nvPr/>
        </p:nvSpPr>
        <p:spPr>
          <a:xfrm>
            <a:off x="320040" y="5349240"/>
            <a:ext cx="1508760" cy="822960"/>
          </a:xfrm>
          <a:prstGeom prst="rect">
            <a:avLst/>
          </a:prstGeom>
          <a:noFill/>
        </p:spPr>
        <p:txBody>
          <a:bodyPr wrap="square" lIns="0" rIns="0" tIns="18288" bIns="18288" anchor="t">
            <a:spAutoFit/>
          </a:bodyPr>
          <a:lstStyle/>
          <a:p>
            <a:pPr algn="ctr"/>
            <a:r>
              <a:rPr sz="1500" b="1" i="0">
                <a:solidFill>
                  <a:srgbClr val="FFFFFF"/>
                </a:solidFill>
              </a:rPr>
              <a:t>AKSİYONLAR</a:t>
            </a:r>
          </a:p>
        </p:txBody>
      </p:sp>
      <p:sp>
        <p:nvSpPr>
          <p:cNvPr id="34" name="Rounded Rectangle 33"/>
          <p:cNvSpPr/>
          <p:nvPr/>
        </p:nvSpPr>
        <p:spPr>
          <a:xfrm>
            <a:off x="2057400" y="4617720"/>
            <a:ext cx="480060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DEVAM EDEN AKSİYONLAR</a:t>
            </a:r>
          </a:p>
        </p:txBody>
      </p:sp>
      <p:sp>
        <p:nvSpPr>
          <p:cNvPr id="35" name="Aksiyon Alanı"/>
          <p:cNvSpPr/>
          <p:nvPr/>
        </p:nvSpPr>
        <p:spPr>
          <a:xfrm>
            <a:off x="2057400" y="5010912"/>
            <a:ext cx="4800600" cy="1371600"/>
          </a:xfrm>
          <a:prstGeom prst="roundRect">
            <a:avLst>
              <a:gd name="adj" fmla="val 6666"/>
            </a:avLst>
          </a:prstGeom>
          <a:solidFill>
            <a:srgbClr val="FFFFFF"/>
          </a:solidFill>
          <a:ln w="12700">
            <a:solidFill>
              <a:srgbClr val="9AA5B1"/>
            </a:solidFill>
            <a:prstDash val="dash"/>
          </a:ln>
        </p:spPr>
        <p:txBody>
          <a:bodyPr rtlCol="0" anchor="ctr"/>
          <a:lstStyle/>
          <a:p/>
        </p:txBody>
      </p:sp>
      <p:sp>
        <p:nvSpPr>
          <p:cNvPr id="36" name="Aksiyon No"/>
          <p:cNvSpPr/>
          <p:nvPr/>
        </p:nvSpPr>
        <p:spPr>
          <a:xfrm>
            <a:off x="2240280" y="5157216"/>
            <a:ext cx="274320" cy="274320"/>
          </a:xfrm>
          <a:prstGeom prst="ellipse">
            <a:avLst/>
          </a:prstGeom>
          <a:solidFill>
            <a:srgbClr val="DCE6F2"/>
          </a:solidFill>
          <a:ln>
            <a:noFill/>
          </a:ln>
        </p:spPr>
        <p:txBody>
          <a:bodyPr rtlCol="0" anchor="ctr"/>
          <a:lstStyle/>
          <a:p/>
        </p:txBody>
      </p:sp>
      <p:sp>
        <p:nvSpPr>
          <p:cNvPr id="37" name="Aksiyon No Metni"/>
          <p:cNvSpPr txBox="1"/>
          <p:nvPr/>
        </p:nvSpPr>
        <p:spPr>
          <a:xfrm>
            <a:off x="2240280" y="5157216"/>
            <a:ext cx="274320" cy="274320"/>
          </a:xfrm>
          <a:prstGeom prst="rect">
            <a:avLst/>
          </a:prstGeom>
          <a:noFill/>
        </p:spPr>
        <p:txBody>
          <a:bodyPr wrap="square" lIns="0" rIns="0" tIns="18288" bIns="18288" anchor="ctr">
            <a:spAutoFit/>
          </a:bodyPr>
          <a:lstStyle/>
          <a:p>
            <a:pPr algn="ctr"/>
            <a:r>
              <a:rPr sz="1000" b="1" i="0">
                <a:solidFill>
                  <a:srgbClr val="264E70"/>
                </a:solidFill>
              </a:rPr>
              <a:t>1</a:t>
            </a:r>
          </a:p>
        </p:txBody>
      </p:sp>
      <p:cxnSp>
        <p:nvCxnSpPr>
          <p:cNvPr id="38" name="Connector 37"/>
          <p:cNvCxnSpPr/>
          <p:nvPr/>
        </p:nvCxnSpPr>
        <p:spPr>
          <a:xfrm>
            <a:off x="2651760" y="5394960"/>
            <a:ext cx="4023360" cy="0"/>
          </a:xfrm>
          <a:prstGeom prst="line">
            <a:avLst/>
          </a:prstGeom>
          <a:ln w="9525">
            <a:solidFill>
              <a:srgbClr val="C9D2DB"/>
            </a:solidFill>
          </a:ln>
        </p:spPr>
      </p:cxnSp>
      <p:sp>
        <p:nvSpPr>
          <p:cNvPr id="39" name="Aksiyon No"/>
          <p:cNvSpPr/>
          <p:nvPr/>
        </p:nvSpPr>
        <p:spPr>
          <a:xfrm>
            <a:off x="2240280" y="5559552"/>
            <a:ext cx="274320" cy="274320"/>
          </a:xfrm>
          <a:prstGeom prst="ellipse">
            <a:avLst/>
          </a:prstGeom>
          <a:solidFill>
            <a:srgbClr val="DCE6F2"/>
          </a:solidFill>
          <a:ln>
            <a:noFill/>
          </a:ln>
        </p:spPr>
        <p:txBody>
          <a:bodyPr rtlCol="0" anchor="ctr"/>
          <a:lstStyle/>
          <a:p/>
        </p:txBody>
      </p:sp>
      <p:sp>
        <p:nvSpPr>
          <p:cNvPr id="40" name="Aksiyon No Metni"/>
          <p:cNvSpPr txBox="1"/>
          <p:nvPr/>
        </p:nvSpPr>
        <p:spPr>
          <a:xfrm>
            <a:off x="2240280" y="5559552"/>
            <a:ext cx="274320" cy="274320"/>
          </a:xfrm>
          <a:prstGeom prst="rect">
            <a:avLst/>
          </a:prstGeom>
          <a:noFill/>
        </p:spPr>
        <p:txBody>
          <a:bodyPr wrap="square" lIns="0" rIns="0" tIns="18288" bIns="18288" anchor="ctr">
            <a:spAutoFit/>
          </a:bodyPr>
          <a:lstStyle/>
          <a:p>
            <a:pPr algn="ctr"/>
            <a:r>
              <a:rPr sz="1000" b="1" i="0">
                <a:solidFill>
                  <a:srgbClr val="264E70"/>
                </a:solidFill>
              </a:rPr>
              <a:t>2</a:t>
            </a:r>
          </a:p>
        </p:txBody>
      </p:sp>
      <p:cxnSp>
        <p:nvCxnSpPr>
          <p:cNvPr id="41" name="Connector 40"/>
          <p:cNvCxnSpPr/>
          <p:nvPr/>
        </p:nvCxnSpPr>
        <p:spPr>
          <a:xfrm>
            <a:off x="2651760" y="5797296"/>
            <a:ext cx="4023360" cy="0"/>
          </a:xfrm>
          <a:prstGeom prst="line">
            <a:avLst/>
          </a:prstGeom>
          <a:ln w="9525">
            <a:solidFill>
              <a:srgbClr val="C9D2DB"/>
            </a:solidFill>
          </a:ln>
        </p:spPr>
      </p:cxnSp>
      <p:sp>
        <p:nvSpPr>
          <p:cNvPr id="42" name="Aksiyon No"/>
          <p:cNvSpPr/>
          <p:nvPr/>
        </p:nvSpPr>
        <p:spPr>
          <a:xfrm>
            <a:off x="2240280" y="5961888"/>
            <a:ext cx="274320" cy="274320"/>
          </a:xfrm>
          <a:prstGeom prst="ellipse">
            <a:avLst/>
          </a:prstGeom>
          <a:solidFill>
            <a:srgbClr val="DCE6F2"/>
          </a:solidFill>
          <a:ln>
            <a:noFill/>
          </a:ln>
        </p:spPr>
        <p:txBody>
          <a:bodyPr rtlCol="0" anchor="ctr"/>
          <a:lstStyle/>
          <a:p/>
        </p:txBody>
      </p:sp>
      <p:sp>
        <p:nvSpPr>
          <p:cNvPr id="43" name="Aksiyon No Metni"/>
          <p:cNvSpPr txBox="1"/>
          <p:nvPr/>
        </p:nvSpPr>
        <p:spPr>
          <a:xfrm>
            <a:off x="2240280" y="5961888"/>
            <a:ext cx="274320" cy="274320"/>
          </a:xfrm>
          <a:prstGeom prst="rect">
            <a:avLst/>
          </a:prstGeom>
          <a:noFill/>
        </p:spPr>
        <p:txBody>
          <a:bodyPr wrap="square" lIns="0" rIns="0" tIns="18288" bIns="18288" anchor="ctr">
            <a:spAutoFit/>
          </a:bodyPr>
          <a:lstStyle/>
          <a:p>
            <a:pPr algn="ctr"/>
            <a:r>
              <a:rPr sz="1000" b="1" i="0">
                <a:solidFill>
                  <a:srgbClr val="264E70"/>
                </a:solidFill>
              </a:rPr>
              <a:t>3</a:t>
            </a:r>
          </a:p>
        </p:txBody>
      </p:sp>
      <p:cxnSp>
        <p:nvCxnSpPr>
          <p:cNvPr id="44" name="Connector 43"/>
          <p:cNvCxnSpPr/>
          <p:nvPr/>
        </p:nvCxnSpPr>
        <p:spPr>
          <a:xfrm>
            <a:off x="2651760" y="6199632"/>
            <a:ext cx="4023360" cy="0"/>
          </a:xfrm>
          <a:prstGeom prst="line">
            <a:avLst/>
          </a:prstGeom>
          <a:ln w="9525">
            <a:solidFill>
              <a:srgbClr val="C9D2DB"/>
            </a:solidFill>
          </a:ln>
        </p:spPr>
      </p:cxnSp>
      <p:sp>
        <p:nvSpPr>
          <p:cNvPr id="45" name="Aksiyon Yer Tutucu"/>
          <p:cNvSpPr txBox="1"/>
          <p:nvPr/>
        </p:nvSpPr>
        <p:spPr>
          <a:xfrm>
            <a:off x="2651760" y="5138928"/>
            <a:ext cx="4023360" cy="256032"/>
          </a:xfrm>
          <a:prstGeom prst="rect">
            <a:avLst/>
          </a:prstGeom>
          <a:noFill/>
        </p:spPr>
        <p:txBody>
          <a:bodyPr wrap="square" lIns="0" rIns="0" tIns="18288" bIns="18288" anchor="ctr">
            <a:spAutoFit/>
          </a:bodyPr>
          <a:lstStyle/>
          <a:p>
            <a:pPr algn="l"/>
            <a:r>
              <a:rPr sz="1050" b="0" i="1">
                <a:solidFill>
                  <a:srgbClr val="7F8C99"/>
                </a:solidFill>
              </a:rPr>
              <a:t>Aksiyonlar eklenecek</a:t>
            </a:r>
          </a:p>
        </p:txBody>
      </p:sp>
      <p:sp>
        <p:nvSpPr>
          <p:cNvPr id="46" name="Rounded Rectangle 45"/>
          <p:cNvSpPr/>
          <p:nvPr/>
        </p:nvSpPr>
        <p:spPr>
          <a:xfrm>
            <a:off x="7040880" y="4617720"/>
            <a:ext cx="480060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TAMAMLANAN AKSİYONLAR</a:t>
            </a:r>
          </a:p>
        </p:txBody>
      </p:sp>
      <p:sp>
        <p:nvSpPr>
          <p:cNvPr id="47" name="Aksiyon Alanı"/>
          <p:cNvSpPr/>
          <p:nvPr/>
        </p:nvSpPr>
        <p:spPr>
          <a:xfrm>
            <a:off x="7040880" y="5010912"/>
            <a:ext cx="4800600" cy="1371600"/>
          </a:xfrm>
          <a:prstGeom prst="roundRect">
            <a:avLst>
              <a:gd name="adj" fmla="val 6666"/>
            </a:avLst>
          </a:prstGeom>
          <a:solidFill>
            <a:srgbClr val="FFFFFF"/>
          </a:solidFill>
          <a:ln w="12700">
            <a:solidFill>
              <a:srgbClr val="9AA5B1"/>
            </a:solidFill>
            <a:prstDash val="dash"/>
          </a:ln>
        </p:spPr>
        <p:txBody>
          <a:bodyPr rtlCol="0" anchor="ctr"/>
          <a:lstStyle/>
          <a:p/>
        </p:txBody>
      </p:sp>
      <p:sp>
        <p:nvSpPr>
          <p:cNvPr id="48" name="Aksiyon No"/>
          <p:cNvSpPr/>
          <p:nvPr/>
        </p:nvSpPr>
        <p:spPr>
          <a:xfrm>
            <a:off x="7223760" y="5157216"/>
            <a:ext cx="274320" cy="274320"/>
          </a:xfrm>
          <a:prstGeom prst="ellipse">
            <a:avLst/>
          </a:prstGeom>
          <a:solidFill>
            <a:srgbClr val="DCE6F2"/>
          </a:solidFill>
          <a:ln>
            <a:noFill/>
          </a:ln>
        </p:spPr>
        <p:txBody>
          <a:bodyPr rtlCol="0" anchor="ctr"/>
          <a:lstStyle/>
          <a:p/>
        </p:txBody>
      </p:sp>
      <p:sp>
        <p:nvSpPr>
          <p:cNvPr id="49" name="Aksiyon No Metni"/>
          <p:cNvSpPr txBox="1"/>
          <p:nvPr/>
        </p:nvSpPr>
        <p:spPr>
          <a:xfrm>
            <a:off x="7223760" y="5157216"/>
            <a:ext cx="274320" cy="274320"/>
          </a:xfrm>
          <a:prstGeom prst="rect">
            <a:avLst/>
          </a:prstGeom>
          <a:noFill/>
        </p:spPr>
        <p:txBody>
          <a:bodyPr wrap="square" lIns="0" rIns="0" tIns="18288" bIns="18288" anchor="ctr">
            <a:spAutoFit/>
          </a:bodyPr>
          <a:lstStyle/>
          <a:p>
            <a:pPr algn="ctr"/>
            <a:r>
              <a:rPr sz="1000" b="1" i="0">
                <a:solidFill>
                  <a:srgbClr val="264E70"/>
                </a:solidFill>
              </a:rPr>
              <a:t>1</a:t>
            </a:r>
          </a:p>
        </p:txBody>
      </p:sp>
      <p:cxnSp>
        <p:nvCxnSpPr>
          <p:cNvPr id="50" name="Connector 49"/>
          <p:cNvCxnSpPr/>
          <p:nvPr/>
        </p:nvCxnSpPr>
        <p:spPr>
          <a:xfrm>
            <a:off x="7635240" y="5394960"/>
            <a:ext cx="4023360" cy="0"/>
          </a:xfrm>
          <a:prstGeom prst="line">
            <a:avLst/>
          </a:prstGeom>
          <a:ln w="9525">
            <a:solidFill>
              <a:srgbClr val="C9D2DB"/>
            </a:solidFill>
          </a:ln>
        </p:spPr>
      </p:cxnSp>
      <p:sp>
        <p:nvSpPr>
          <p:cNvPr id="51" name="Aksiyon No"/>
          <p:cNvSpPr/>
          <p:nvPr/>
        </p:nvSpPr>
        <p:spPr>
          <a:xfrm>
            <a:off x="7223760" y="5559552"/>
            <a:ext cx="274320" cy="274320"/>
          </a:xfrm>
          <a:prstGeom prst="ellipse">
            <a:avLst/>
          </a:prstGeom>
          <a:solidFill>
            <a:srgbClr val="DCE6F2"/>
          </a:solidFill>
          <a:ln>
            <a:noFill/>
          </a:ln>
        </p:spPr>
        <p:txBody>
          <a:bodyPr rtlCol="0" anchor="ctr"/>
          <a:lstStyle/>
          <a:p/>
        </p:txBody>
      </p:sp>
      <p:sp>
        <p:nvSpPr>
          <p:cNvPr id="52" name="Aksiyon No Metni"/>
          <p:cNvSpPr txBox="1"/>
          <p:nvPr/>
        </p:nvSpPr>
        <p:spPr>
          <a:xfrm>
            <a:off x="7223760" y="5559552"/>
            <a:ext cx="274320" cy="274320"/>
          </a:xfrm>
          <a:prstGeom prst="rect">
            <a:avLst/>
          </a:prstGeom>
          <a:noFill/>
        </p:spPr>
        <p:txBody>
          <a:bodyPr wrap="square" lIns="0" rIns="0" tIns="18288" bIns="18288" anchor="ctr">
            <a:spAutoFit/>
          </a:bodyPr>
          <a:lstStyle/>
          <a:p>
            <a:pPr algn="ctr"/>
            <a:r>
              <a:rPr sz="1000" b="1" i="0">
                <a:solidFill>
                  <a:srgbClr val="264E70"/>
                </a:solidFill>
              </a:rPr>
              <a:t>2</a:t>
            </a:r>
          </a:p>
        </p:txBody>
      </p:sp>
      <p:cxnSp>
        <p:nvCxnSpPr>
          <p:cNvPr id="53" name="Connector 52"/>
          <p:cNvCxnSpPr/>
          <p:nvPr/>
        </p:nvCxnSpPr>
        <p:spPr>
          <a:xfrm>
            <a:off x="7635240" y="5797296"/>
            <a:ext cx="4023360" cy="0"/>
          </a:xfrm>
          <a:prstGeom prst="line">
            <a:avLst/>
          </a:prstGeom>
          <a:ln w="9525">
            <a:solidFill>
              <a:srgbClr val="C9D2DB"/>
            </a:solidFill>
          </a:ln>
        </p:spPr>
      </p:cxnSp>
      <p:sp>
        <p:nvSpPr>
          <p:cNvPr id="54" name="Aksiyon No"/>
          <p:cNvSpPr/>
          <p:nvPr/>
        </p:nvSpPr>
        <p:spPr>
          <a:xfrm>
            <a:off x="7223760" y="5961888"/>
            <a:ext cx="274320" cy="274320"/>
          </a:xfrm>
          <a:prstGeom prst="ellipse">
            <a:avLst/>
          </a:prstGeom>
          <a:solidFill>
            <a:srgbClr val="DCE6F2"/>
          </a:solidFill>
          <a:ln>
            <a:noFill/>
          </a:ln>
        </p:spPr>
        <p:txBody>
          <a:bodyPr rtlCol="0" anchor="ctr"/>
          <a:lstStyle/>
          <a:p/>
        </p:txBody>
      </p:sp>
      <p:sp>
        <p:nvSpPr>
          <p:cNvPr id="55" name="Aksiyon No Metni"/>
          <p:cNvSpPr txBox="1"/>
          <p:nvPr/>
        </p:nvSpPr>
        <p:spPr>
          <a:xfrm>
            <a:off x="7223760" y="5961888"/>
            <a:ext cx="274320" cy="274320"/>
          </a:xfrm>
          <a:prstGeom prst="rect">
            <a:avLst/>
          </a:prstGeom>
          <a:noFill/>
        </p:spPr>
        <p:txBody>
          <a:bodyPr wrap="square" lIns="0" rIns="0" tIns="18288" bIns="18288" anchor="ctr">
            <a:spAutoFit/>
          </a:bodyPr>
          <a:lstStyle/>
          <a:p>
            <a:pPr algn="ctr"/>
            <a:r>
              <a:rPr sz="1000" b="1" i="0">
                <a:solidFill>
                  <a:srgbClr val="264E70"/>
                </a:solidFill>
              </a:rPr>
              <a:t>3</a:t>
            </a:r>
          </a:p>
        </p:txBody>
      </p:sp>
      <p:cxnSp>
        <p:nvCxnSpPr>
          <p:cNvPr id="56" name="Connector 55"/>
          <p:cNvCxnSpPr/>
          <p:nvPr/>
        </p:nvCxnSpPr>
        <p:spPr>
          <a:xfrm>
            <a:off x="7635240" y="6199632"/>
            <a:ext cx="4023360" cy="0"/>
          </a:xfrm>
          <a:prstGeom prst="line">
            <a:avLst/>
          </a:prstGeom>
          <a:ln w="9525">
            <a:solidFill>
              <a:srgbClr val="C9D2DB"/>
            </a:solidFill>
          </a:ln>
        </p:spPr>
      </p:cxnSp>
      <p:sp>
        <p:nvSpPr>
          <p:cNvPr id="57" name="Aksiyon Yer Tutucu"/>
          <p:cNvSpPr txBox="1"/>
          <p:nvPr/>
        </p:nvSpPr>
        <p:spPr>
          <a:xfrm>
            <a:off x="7635240" y="5138928"/>
            <a:ext cx="4023360" cy="256032"/>
          </a:xfrm>
          <a:prstGeom prst="rect">
            <a:avLst/>
          </a:prstGeom>
          <a:noFill/>
        </p:spPr>
        <p:txBody>
          <a:bodyPr wrap="square" lIns="0" rIns="0" tIns="18288" bIns="18288" anchor="ctr">
            <a:spAutoFit/>
          </a:bodyPr>
          <a:lstStyle/>
          <a:p>
            <a:pPr algn="l"/>
            <a:r>
              <a:rPr sz="1050" b="0" i="1">
                <a:solidFill>
                  <a:srgbClr val="7F8C99"/>
                </a:solidFill>
              </a:rPr>
              <a:t>Aksiyonlar eklenecek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i="1" lang="tr-TR"/>
              <a:t>EU PPWR (Ambalaj ve Ambalaj Atıkları Tüzüğü)</a:t>
            </a:r>
          </a:p>
        </p:txBody>
      </p:sp>
      <p:sp>
        <p:nvSpPr>
          <p:cNvPr id="4" name="Slayt Numarası Yer Tutucusu 3">
            <a:extLst>
              <a:ext uri="{FF2B5EF4-FFF2-40B4-BE49-F238E27FC236}">
                <a16:creationId xmlns:a16="http://schemas.microsoft.com/office/drawing/2014/main" id="{64D39679-45B4-9C02-77DE-31552745A3E2}"/>
              </a:ext>
            </a:extLst>
          </p:cNvPr>
          <p:cNvSpPr>
            <a:spLocks noGrp="1"/>
          </p:cNvSpPr>
          <p:nvPr>
            <p:ph type="sldNum" sz="quarter" idx="4"/>
          </p:nvPr>
        </p:nvSpPr>
        <p:spPr/>
        <p:txBody>
          <a:bodyPr/>
          <a:lstStyle/>
          <a:p>
            <a:fld id="{42CA6F85-893A-4FE1-8820-DAA50ABDC7DA}" type="slidenum">
              <a:rPr lang="tr-TR" smtClean="0"/>
              <a:pPr/>
              <a:t>7</a:t>
            </a:fld>
            <a:endParaRPr lang="tr-TR"/>
          </a:p>
        </p:txBody>
      </p:sp>
      <p:sp>
        <p:nvSpPr>
          <p:cNvPr id="5" name="Genel Bilgi Kutusu"/>
          <p:cNvSpPr/>
          <p:nvPr/>
        </p:nvSpPr>
        <p:spPr>
          <a:xfrm>
            <a:off x="274320" y="896112"/>
            <a:ext cx="11567159" cy="914400"/>
          </a:xfrm>
          <a:prstGeom prst="rect">
            <a:avLst/>
          </a:prstGeom>
          <a:solidFill>
            <a:srgbClr val="FFFFFF"/>
          </a:solidFill>
          <a:ln w="12700">
            <a:solidFill>
              <a:srgbClr val="3A3A3A"/>
            </a:solidFill>
          </a:ln>
        </p:spPr>
        <p:txBody>
          <a:bodyPr rtlCol="0" anchor="ctr"/>
          <a:lstStyle/>
          <a:p/>
        </p:txBody>
      </p:sp>
      <p:pic>
        <p:nvPicPr>
          <p:cNvPr id="6" name="Picture 5" descr="FaInfoCircle_navy.png"/>
          <p:cNvPicPr>
            <a:picLocks noChangeAspect="1"/>
          </p:cNvPicPr>
          <p:nvPr/>
        </p:nvPicPr>
        <p:blipFill>
          <a:blip r:embed="rId3"/>
          <a:stretch>
            <a:fillRect/>
          </a:stretch>
        </p:blipFill>
        <p:spPr>
          <a:xfrm>
            <a:off x="457200" y="1069848"/>
            <a:ext cx="566928" cy="566928"/>
          </a:xfrm>
          <a:prstGeom prst="rect">
            <a:avLst/>
          </a:prstGeom>
        </p:spPr>
      </p:pic>
      <p:sp>
        <p:nvSpPr>
          <p:cNvPr id="7" name="Genel Bilgi Metni"/>
          <p:cNvSpPr txBox="1"/>
          <p:nvPr/>
        </p:nvSpPr>
        <p:spPr>
          <a:xfrm>
            <a:off x="1325880" y="950976"/>
            <a:ext cx="10332719" cy="804672"/>
          </a:xfrm>
          <a:prstGeom prst="rect">
            <a:avLst/>
          </a:prstGeom>
          <a:noFill/>
        </p:spPr>
        <p:txBody>
          <a:bodyPr wrap="square" lIns="0" rIns="0" tIns="18288" bIns="18288" anchor="ctr">
            <a:spAutoFit/>
          </a:bodyPr>
          <a:lstStyle/>
          <a:p>
            <a:pPr algn="l" marL="219456" indent="-219456">
              <a:spcAft>
                <a:spcPts val="300"/>
              </a:spcAft>
              <a:buClr>
                <a:srgbClr val="264E70"/>
              </a:buClr>
              <a:buFont typeface="Wingdings" pitchFamily="2" charset="2"/>
              <a:buChar char="Ø"/>
            </a:pPr>
            <a:r>
              <a:rPr sz="1250" b="1" i="0">
                <a:solidFill>
                  <a:srgbClr val="1B1B1B"/>
                </a:solidFill>
              </a:rPr>
              <a:t>EU 2025/40 sayılı regülasyon, AB Resmi Gazetesi’nde 11.02.2025 tarihinde yayımlanmıştır.</a:t>
            </a:r>
          </a:p>
          <a:p>
            <a:pPr algn="l" marL="219456" indent="-219456">
              <a:spcAft>
                <a:spcPts val="300"/>
              </a:spcAft>
              <a:buClr>
                <a:srgbClr val="264E70"/>
              </a:buClr>
              <a:buFont typeface="Wingdings" pitchFamily="2" charset="2"/>
              <a:buChar char="Ø"/>
            </a:pPr>
            <a:r>
              <a:rPr sz="1250" b="0" i="0">
                <a:solidFill>
                  <a:srgbClr val="1B1B1B"/>
                </a:solidFill>
              </a:rPr>
              <a:t>Ambalaj ve ambalaj atıklarının çevre ve insan sağlığı üzerindeki olumsuz etkilerini önlemek ve azaltarak düşük karbonlu döngüsel ekonomiye geçişe katkıda bulunmayı hedefler.</a:t>
            </a:r>
          </a:p>
        </p:txBody>
      </p:sp>
      <p:cxnSp>
        <p:nvCxnSpPr>
          <p:cNvPr id="8" name="Connector 7"/>
          <p:cNvCxnSpPr/>
          <p:nvPr/>
        </p:nvCxnSpPr>
        <p:spPr>
          <a:xfrm>
            <a:off x="274320" y="1901952"/>
            <a:ext cx="11567160" cy="0"/>
          </a:xfrm>
          <a:prstGeom prst="line">
            <a:avLst/>
          </a:prstGeom>
          <a:ln w="12700">
            <a:solidFill>
              <a:srgbClr val="9AA5B1"/>
            </a:solidFill>
            <a:prstDash val="dash"/>
          </a:ln>
        </p:spPr>
      </p:cxnSp>
      <p:sp>
        <p:nvSpPr>
          <p:cNvPr id="9" name="Rounded Rectangle 8"/>
          <p:cNvSpPr/>
          <p:nvPr/>
        </p:nvSpPr>
        <p:spPr>
          <a:xfrm>
            <a:off x="457200" y="1975104"/>
            <a:ext cx="530352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AMAÇ</a:t>
            </a:r>
          </a:p>
        </p:txBody>
      </p:sp>
      <p:sp>
        <p:nvSpPr>
          <p:cNvPr id="10" name="Amaç Kartı"/>
          <p:cNvSpPr/>
          <p:nvPr/>
        </p:nvSpPr>
        <p:spPr>
          <a:xfrm>
            <a:off x="274320" y="2395728"/>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1" name="Amaç İkon Zemini"/>
          <p:cNvSpPr/>
          <p:nvPr/>
        </p:nvSpPr>
        <p:spPr>
          <a:xfrm>
            <a:off x="384048" y="2478024"/>
            <a:ext cx="493776" cy="493776"/>
          </a:xfrm>
          <a:prstGeom prst="ellipse">
            <a:avLst/>
          </a:prstGeom>
          <a:solidFill>
            <a:srgbClr val="264E70"/>
          </a:solidFill>
          <a:ln>
            <a:noFill/>
          </a:ln>
        </p:spPr>
        <p:txBody>
          <a:bodyPr rtlCol="0" anchor="ctr"/>
          <a:lstStyle/>
          <a:p/>
        </p:txBody>
      </p:sp>
      <p:pic>
        <p:nvPicPr>
          <p:cNvPr id="12" name="Picture 11" descr="FaRecycle_white.png"/>
          <p:cNvPicPr>
            <a:picLocks noChangeAspect="1"/>
          </p:cNvPicPr>
          <p:nvPr/>
        </p:nvPicPr>
        <p:blipFill>
          <a:blip r:embed="rId4"/>
          <a:stretch>
            <a:fillRect/>
          </a:stretch>
        </p:blipFill>
        <p:spPr>
          <a:xfrm>
            <a:off x="502920" y="2596896"/>
            <a:ext cx="256032" cy="256032"/>
          </a:xfrm>
          <a:prstGeom prst="rect">
            <a:avLst/>
          </a:prstGeom>
        </p:spPr>
      </p:pic>
      <p:sp>
        <p:nvSpPr>
          <p:cNvPr id="13" name="Amaç Metni"/>
          <p:cNvSpPr txBox="1"/>
          <p:nvPr/>
        </p:nvSpPr>
        <p:spPr>
          <a:xfrm>
            <a:off x="1024127" y="2432304"/>
            <a:ext cx="4709160" cy="585216"/>
          </a:xfrm>
          <a:prstGeom prst="rect">
            <a:avLst/>
          </a:prstGeom>
          <a:noFill/>
        </p:spPr>
        <p:txBody>
          <a:bodyPr wrap="square" lIns="0" rIns="0" tIns="18288" bIns="18288" anchor="ctr">
            <a:spAutoFit/>
          </a:bodyPr>
          <a:lstStyle/>
          <a:p>
            <a:pPr algn="l"/>
            <a:r>
              <a:rPr sz="1300" b="0" i="0">
                <a:solidFill>
                  <a:srgbClr val="1B1B1B"/>
                </a:solidFill>
              </a:rPr>
              <a:t>2030 yılına kadar tüm ambalajların yeniden kullanılabilir veya geri dönüştürülebilir olması</a:t>
            </a:r>
          </a:p>
        </p:txBody>
      </p:sp>
      <p:sp>
        <p:nvSpPr>
          <p:cNvPr id="14" name="Amaç Kartı"/>
          <p:cNvSpPr/>
          <p:nvPr/>
        </p:nvSpPr>
        <p:spPr>
          <a:xfrm>
            <a:off x="274320" y="3163824"/>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5" name="Amaç İkon Zemini"/>
          <p:cNvSpPr/>
          <p:nvPr/>
        </p:nvSpPr>
        <p:spPr>
          <a:xfrm>
            <a:off x="384048" y="3246120"/>
            <a:ext cx="493776" cy="493776"/>
          </a:xfrm>
          <a:prstGeom prst="ellipse">
            <a:avLst/>
          </a:prstGeom>
          <a:solidFill>
            <a:srgbClr val="264E70"/>
          </a:solidFill>
          <a:ln>
            <a:noFill/>
          </a:ln>
        </p:spPr>
        <p:txBody>
          <a:bodyPr rtlCol="0" anchor="ctr"/>
          <a:lstStyle/>
          <a:p/>
        </p:txBody>
      </p:sp>
      <p:pic>
        <p:nvPicPr>
          <p:cNvPr id="16" name="Picture 15" descr="FaSyncAlt_white.png"/>
          <p:cNvPicPr>
            <a:picLocks noChangeAspect="1"/>
          </p:cNvPicPr>
          <p:nvPr/>
        </p:nvPicPr>
        <p:blipFill>
          <a:blip r:embed="rId5"/>
          <a:stretch>
            <a:fillRect/>
          </a:stretch>
        </p:blipFill>
        <p:spPr>
          <a:xfrm>
            <a:off x="502920" y="3364992"/>
            <a:ext cx="256032" cy="256032"/>
          </a:xfrm>
          <a:prstGeom prst="rect">
            <a:avLst/>
          </a:prstGeom>
        </p:spPr>
      </p:pic>
      <p:sp>
        <p:nvSpPr>
          <p:cNvPr id="17" name="Amaç Metni"/>
          <p:cNvSpPr txBox="1"/>
          <p:nvPr/>
        </p:nvSpPr>
        <p:spPr>
          <a:xfrm>
            <a:off x="1024127" y="3200400"/>
            <a:ext cx="4709160" cy="585216"/>
          </a:xfrm>
          <a:prstGeom prst="rect">
            <a:avLst/>
          </a:prstGeom>
          <a:noFill/>
        </p:spPr>
        <p:txBody>
          <a:bodyPr wrap="square" lIns="0" rIns="0" tIns="18288" bIns="18288" anchor="ctr">
            <a:spAutoFit/>
          </a:bodyPr>
          <a:lstStyle/>
          <a:p>
            <a:pPr algn="l"/>
            <a:r>
              <a:rPr sz="1300" b="0" i="0">
                <a:solidFill>
                  <a:srgbClr val="1B1B1B"/>
                </a:solidFill>
              </a:rPr>
              <a:t>Plastiklerde geri dönüştürülmüş içerik kullanımının artırılması</a:t>
            </a:r>
          </a:p>
        </p:txBody>
      </p:sp>
      <p:sp>
        <p:nvSpPr>
          <p:cNvPr id="18" name="Amaç Kartı"/>
          <p:cNvSpPr/>
          <p:nvPr/>
        </p:nvSpPr>
        <p:spPr>
          <a:xfrm>
            <a:off x="274320" y="3931920"/>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9" name="Amaç İkon Zemini"/>
          <p:cNvSpPr/>
          <p:nvPr/>
        </p:nvSpPr>
        <p:spPr>
          <a:xfrm>
            <a:off x="384048" y="4014215"/>
            <a:ext cx="493776" cy="493776"/>
          </a:xfrm>
          <a:prstGeom prst="ellipse">
            <a:avLst/>
          </a:prstGeom>
          <a:solidFill>
            <a:srgbClr val="264E70"/>
          </a:solidFill>
          <a:ln>
            <a:noFill/>
          </a:ln>
        </p:spPr>
        <p:txBody>
          <a:bodyPr rtlCol="0" anchor="ctr"/>
          <a:lstStyle/>
          <a:p/>
        </p:txBody>
      </p:sp>
      <p:pic>
        <p:nvPicPr>
          <p:cNvPr id="20" name="Picture 19" descr="FaCompressAlt_white.png"/>
          <p:cNvPicPr>
            <a:picLocks noChangeAspect="1"/>
          </p:cNvPicPr>
          <p:nvPr/>
        </p:nvPicPr>
        <p:blipFill>
          <a:blip r:embed="rId6"/>
          <a:stretch>
            <a:fillRect/>
          </a:stretch>
        </p:blipFill>
        <p:spPr>
          <a:xfrm>
            <a:off x="502920" y="4133087"/>
            <a:ext cx="256032" cy="256032"/>
          </a:xfrm>
          <a:prstGeom prst="rect">
            <a:avLst/>
          </a:prstGeom>
        </p:spPr>
      </p:pic>
      <p:sp>
        <p:nvSpPr>
          <p:cNvPr id="21" name="Amaç Metni"/>
          <p:cNvSpPr txBox="1"/>
          <p:nvPr/>
        </p:nvSpPr>
        <p:spPr>
          <a:xfrm>
            <a:off x="1024127" y="3968496"/>
            <a:ext cx="4709160" cy="585216"/>
          </a:xfrm>
          <a:prstGeom prst="rect">
            <a:avLst/>
          </a:prstGeom>
          <a:noFill/>
        </p:spPr>
        <p:txBody>
          <a:bodyPr wrap="square" lIns="0" rIns="0" tIns="18288" bIns="18288" anchor="ctr">
            <a:spAutoFit/>
          </a:bodyPr>
          <a:lstStyle/>
          <a:p>
            <a:pPr algn="l"/>
            <a:r>
              <a:rPr sz="1300" b="0" i="0">
                <a:solidFill>
                  <a:srgbClr val="1B1B1B"/>
                </a:solidFill>
              </a:rPr>
              <a:t>Aşırı ambalajlamanın azaltılması</a:t>
            </a:r>
          </a:p>
        </p:txBody>
      </p:sp>
      <p:cxnSp>
        <p:nvCxnSpPr>
          <p:cNvPr id="22" name="Connector 21"/>
          <p:cNvCxnSpPr/>
          <p:nvPr/>
        </p:nvCxnSpPr>
        <p:spPr>
          <a:xfrm>
            <a:off x="6080760" y="2011680"/>
            <a:ext cx="0" cy="2560320"/>
          </a:xfrm>
          <a:prstGeom prst="line">
            <a:avLst/>
          </a:prstGeom>
          <a:ln w="12700">
            <a:solidFill>
              <a:srgbClr val="9AA5B1"/>
            </a:solidFill>
            <a:prstDash val="dash"/>
          </a:ln>
        </p:spPr>
      </p:cxnSp>
      <p:sp>
        <p:nvSpPr>
          <p:cNvPr id="23" name="Rounded Rectangle 22"/>
          <p:cNvSpPr/>
          <p:nvPr/>
        </p:nvSpPr>
        <p:spPr>
          <a:xfrm>
            <a:off x="6309360" y="1975104"/>
            <a:ext cx="553212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ÖNE ÇIKAN GEREKLİLİKLER</a:t>
            </a:r>
          </a:p>
        </p:txBody>
      </p:sp>
      <p:sp>
        <p:nvSpPr>
          <p:cNvPr id="24" name="Altıgen"/>
          <p:cNvSpPr/>
          <p:nvPr/>
        </p:nvSpPr>
        <p:spPr>
          <a:xfrm>
            <a:off x="6682740" y="2395728"/>
            <a:ext cx="1097280" cy="676656"/>
          </a:xfrm>
          <a:prstGeom prst="hexagon">
            <a:avLst/>
          </a:prstGeom>
          <a:solidFill>
            <a:srgbClr val="DCE6F2"/>
          </a:solidFill>
          <a:ln w="19050">
            <a:solidFill>
              <a:srgbClr val="264E70"/>
            </a:solidFill>
          </a:ln>
        </p:spPr>
        <p:txBody>
          <a:bodyPr rtlCol="0" anchor="ctr"/>
          <a:lstStyle/>
          <a:p/>
        </p:txBody>
      </p:sp>
      <p:pic>
        <p:nvPicPr>
          <p:cNvPr id="25" name="Picture 24" descr="FaFileInvoiceDollar_navy.png"/>
          <p:cNvPicPr>
            <a:picLocks noChangeAspect="1"/>
          </p:cNvPicPr>
          <p:nvPr/>
        </p:nvPicPr>
        <p:blipFill>
          <a:blip r:embed="rId7"/>
          <a:stretch>
            <a:fillRect/>
          </a:stretch>
        </p:blipFill>
        <p:spPr>
          <a:xfrm>
            <a:off x="7030212" y="2532888"/>
            <a:ext cx="402336" cy="402336"/>
          </a:xfrm>
          <a:prstGeom prst="rect">
            <a:avLst/>
          </a:prstGeom>
        </p:spPr>
      </p:pic>
      <p:sp>
        <p:nvSpPr>
          <p:cNvPr id="26" name="Altıgen Başlığı"/>
          <p:cNvSpPr txBox="1"/>
          <p:nvPr/>
        </p:nvSpPr>
        <p:spPr>
          <a:xfrm>
            <a:off x="6355080" y="3108960"/>
            <a:ext cx="1752599" cy="347472"/>
          </a:xfrm>
          <a:prstGeom prst="rect">
            <a:avLst/>
          </a:prstGeom>
          <a:noFill/>
        </p:spPr>
        <p:txBody>
          <a:bodyPr wrap="square" lIns="0" rIns="0" tIns="18288" bIns="18288" anchor="t">
            <a:spAutoFit/>
          </a:bodyPr>
          <a:lstStyle/>
          <a:p>
            <a:pPr algn="ctr"/>
            <a:r>
              <a:rPr sz="1100" b="1" i="0">
                <a:solidFill>
                  <a:srgbClr val="264E70"/>
                </a:solidFill>
              </a:rPr>
              <a:t>Genişletilmiş Üretici Sorumluluğu (EPR)</a:t>
            </a:r>
          </a:p>
        </p:txBody>
      </p:sp>
      <p:sp>
        <p:nvSpPr>
          <p:cNvPr id="27" name="Altıgen"/>
          <p:cNvSpPr/>
          <p:nvPr/>
        </p:nvSpPr>
        <p:spPr>
          <a:xfrm>
            <a:off x="8526780" y="2395728"/>
            <a:ext cx="1097280" cy="676656"/>
          </a:xfrm>
          <a:prstGeom prst="hexagon">
            <a:avLst/>
          </a:prstGeom>
          <a:solidFill>
            <a:srgbClr val="DCE6F2"/>
          </a:solidFill>
          <a:ln w="19050">
            <a:solidFill>
              <a:srgbClr val="264E70"/>
            </a:solidFill>
          </a:ln>
        </p:spPr>
        <p:txBody>
          <a:bodyPr rtlCol="0" anchor="ctr"/>
          <a:lstStyle/>
          <a:p/>
        </p:txBody>
      </p:sp>
      <p:pic>
        <p:nvPicPr>
          <p:cNvPr id="28" name="Picture 27" descr="FaPencilRuler_navy.png"/>
          <p:cNvPicPr>
            <a:picLocks noChangeAspect="1"/>
          </p:cNvPicPr>
          <p:nvPr/>
        </p:nvPicPr>
        <p:blipFill>
          <a:blip r:embed="rId8"/>
          <a:stretch>
            <a:fillRect/>
          </a:stretch>
        </p:blipFill>
        <p:spPr>
          <a:xfrm>
            <a:off x="8874252" y="2532888"/>
            <a:ext cx="402336" cy="402336"/>
          </a:xfrm>
          <a:prstGeom prst="rect">
            <a:avLst/>
          </a:prstGeom>
        </p:spPr>
      </p:pic>
      <p:sp>
        <p:nvSpPr>
          <p:cNvPr id="29" name="Altıgen Başlığı"/>
          <p:cNvSpPr txBox="1"/>
          <p:nvPr/>
        </p:nvSpPr>
        <p:spPr>
          <a:xfrm>
            <a:off x="8199120" y="3108960"/>
            <a:ext cx="1752599" cy="347472"/>
          </a:xfrm>
          <a:prstGeom prst="rect">
            <a:avLst/>
          </a:prstGeom>
          <a:noFill/>
        </p:spPr>
        <p:txBody>
          <a:bodyPr wrap="square" lIns="0" rIns="0" tIns="18288" bIns="18288" anchor="t">
            <a:spAutoFit/>
          </a:bodyPr>
          <a:lstStyle/>
          <a:p>
            <a:pPr algn="ctr"/>
            <a:r>
              <a:rPr sz="1100" b="1" i="0">
                <a:solidFill>
                  <a:srgbClr val="264E70"/>
                </a:solidFill>
              </a:rPr>
              <a:t>Geri Dönüşüm İçin Tasarım</a:t>
            </a:r>
          </a:p>
        </p:txBody>
      </p:sp>
      <p:sp>
        <p:nvSpPr>
          <p:cNvPr id="30" name="Altıgen"/>
          <p:cNvSpPr/>
          <p:nvPr/>
        </p:nvSpPr>
        <p:spPr>
          <a:xfrm>
            <a:off x="10370820" y="2395728"/>
            <a:ext cx="1097280" cy="676656"/>
          </a:xfrm>
          <a:prstGeom prst="hexagon">
            <a:avLst/>
          </a:prstGeom>
          <a:solidFill>
            <a:srgbClr val="DCE6F2"/>
          </a:solidFill>
          <a:ln w="19050">
            <a:solidFill>
              <a:srgbClr val="264E70"/>
            </a:solidFill>
          </a:ln>
        </p:spPr>
        <p:txBody>
          <a:bodyPr rtlCol="0" anchor="ctr"/>
          <a:lstStyle/>
          <a:p/>
        </p:txBody>
      </p:sp>
      <p:pic>
        <p:nvPicPr>
          <p:cNvPr id="31" name="Picture 30" descr="FaSyncAlt_navy.png"/>
          <p:cNvPicPr>
            <a:picLocks noChangeAspect="1"/>
          </p:cNvPicPr>
          <p:nvPr/>
        </p:nvPicPr>
        <p:blipFill>
          <a:blip r:embed="rId9"/>
          <a:stretch>
            <a:fillRect/>
          </a:stretch>
        </p:blipFill>
        <p:spPr>
          <a:xfrm>
            <a:off x="10718292" y="2532888"/>
            <a:ext cx="402336" cy="402336"/>
          </a:xfrm>
          <a:prstGeom prst="rect">
            <a:avLst/>
          </a:prstGeom>
        </p:spPr>
      </p:pic>
      <p:sp>
        <p:nvSpPr>
          <p:cNvPr id="32" name="Altıgen Başlığı"/>
          <p:cNvSpPr txBox="1"/>
          <p:nvPr/>
        </p:nvSpPr>
        <p:spPr>
          <a:xfrm>
            <a:off x="10043160" y="3108960"/>
            <a:ext cx="1752599" cy="347472"/>
          </a:xfrm>
          <a:prstGeom prst="rect">
            <a:avLst/>
          </a:prstGeom>
          <a:noFill/>
        </p:spPr>
        <p:txBody>
          <a:bodyPr wrap="square" lIns="0" rIns="0" tIns="18288" bIns="18288" anchor="t">
            <a:spAutoFit/>
          </a:bodyPr>
          <a:lstStyle/>
          <a:p>
            <a:pPr algn="ctr"/>
            <a:r>
              <a:rPr sz="1100" b="1" i="0">
                <a:solidFill>
                  <a:srgbClr val="264E70"/>
                </a:solidFill>
              </a:rPr>
              <a:t>Geri Dönüştürülmüş İçerik</a:t>
            </a:r>
          </a:p>
        </p:txBody>
      </p:sp>
      <p:sp>
        <p:nvSpPr>
          <p:cNvPr id="33" name="Altıgen"/>
          <p:cNvSpPr/>
          <p:nvPr/>
        </p:nvSpPr>
        <p:spPr>
          <a:xfrm>
            <a:off x="6682740" y="3511296"/>
            <a:ext cx="1097280" cy="676656"/>
          </a:xfrm>
          <a:prstGeom prst="hexagon">
            <a:avLst/>
          </a:prstGeom>
          <a:solidFill>
            <a:srgbClr val="DCE6F2"/>
          </a:solidFill>
          <a:ln w="19050">
            <a:solidFill>
              <a:srgbClr val="264E70"/>
            </a:solidFill>
          </a:ln>
        </p:spPr>
        <p:txBody>
          <a:bodyPr rtlCol="0" anchor="ctr"/>
          <a:lstStyle/>
          <a:p/>
        </p:txBody>
      </p:sp>
      <p:pic>
        <p:nvPicPr>
          <p:cNvPr id="34" name="Picture 33" descr="FaBoxOpen_navy.png"/>
          <p:cNvPicPr>
            <a:picLocks noChangeAspect="1"/>
          </p:cNvPicPr>
          <p:nvPr/>
        </p:nvPicPr>
        <p:blipFill>
          <a:blip r:embed="rId10"/>
          <a:stretch>
            <a:fillRect/>
          </a:stretch>
        </p:blipFill>
        <p:spPr>
          <a:xfrm>
            <a:off x="7030212" y="3648456"/>
            <a:ext cx="402336" cy="402336"/>
          </a:xfrm>
          <a:prstGeom prst="rect">
            <a:avLst/>
          </a:prstGeom>
        </p:spPr>
      </p:pic>
      <p:sp>
        <p:nvSpPr>
          <p:cNvPr id="35" name="Altıgen Başlığı"/>
          <p:cNvSpPr txBox="1"/>
          <p:nvPr/>
        </p:nvSpPr>
        <p:spPr>
          <a:xfrm>
            <a:off x="6355080" y="4224528"/>
            <a:ext cx="1752599" cy="347472"/>
          </a:xfrm>
          <a:prstGeom prst="rect">
            <a:avLst/>
          </a:prstGeom>
          <a:noFill/>
        </p:spPr>
        <p:txBody>
          <a:bodyPr wrap="square" lIns="0" rIns="0" tIns="18288" bIns="18288" anchor="t">
            <a:spAutoFit/>
          </a:bodyPr>
          <a:lstStyle/>
          <a:p>
            <a:pPr algn="ctr"/>
            <a:r>
              <a:rPr sz="1100" b="1" i="0">
                <a:solidFill>
                  <a:srgbClr val="264E70"/>
                </a:solidFill>
              </a:rPr>
              <a:t>Boş Alan Oranı ≤ %50</a:t>
            </a:r>
          </a:p>
        </p:txBody>
      </p:sp>
      <p:sp>
        <p:nvSpPr>
          <p:cNvPr id="36" name="Altıgen"/>
          <p:cNvSpPr/>
          <p:nvPr/>
        </p:nvSpPr>
        <p:spPr>
          <a:xfrm>
            <a:off x="8526780" y="3511296"/>
            <a:ext cx="1097280" cy="676656"/>
          </a:xfrm>
          <a:prstGeom prst="hexagon">
            <a:avLst/>
          </a:prstGeom>
          <a:solidFill>
            <a:srgbClr val="DCE6F2"/>
          </a:solidFill>
          <a:ln w="19050">
            <a:solidFill>
              <a:srgbClr val="264E70"/>
            </a:solidFill>
          </a:ln>
        </p:spPr>
        <p:txBody>
          <a:bodyPr rtlCol="0" anchor="ctr"/>
          <a:lstStyle/>
          <a:p/>
        </p:txBody>
      </p:sp>
      <p:pic>
        <p:nvPicPr>
          <p:cNvPr id="37" name="Picture 36" descr="FaLandmark_navy.png"/>
          <p:cNvPicPr>
            <a:picLocks noChangeAspect="1"/>
          </p:cNvPicPr>
          <p:nvPr/>
        </p:nvPicPr>
        <p:blipFill>
          <a:blip r:embed="rId11"/>
          <a:stretch>
            <a:fillRect/>
          </a:stretch>
        </p:blipFill>
        <p:spPr>
          <a:xfrm>
            <a:off x="8874252" y="3648456"/>
            <a:ext cx="402336" cy="402336"/>
          </a:xfrm>
          <a:prstGeom prst="rect">
            <a:avLst/>
          </a:prstGeom>
        </p:spPr>
      </p:pic>
      <p:sp>
        <p:nvSpPr>
          <p:cNvPr id="38" name="Altıgen Başlığı"/>
          <p:cNvSpPr txBox="1"/>
          <p:nvPr/>
        </p:nvSpPr>
        <p:spPr>
          <a:xfrm>
            <a:off x="8199120" y="4224528"/>
            <a:ext cx="1752599" cy="347472"/>
          </a:xfrm>
          <a:prstGeom prst="rect">
            <a:avLst/>
          </a:prstGeom>
          <a:noFill/>
        </p:spPr>
        <p:txBody>
          <a:bodyPr wrap="square" lIns="0" rIns="0" tIns="18288" bIns="18288" anchor="t">
            <a:spAutoFit/>
          </a:bodyPr>
          <a:lstStyle/>
          <a:p>
            <a:pPr algn="ctr"/>
            <a:r>
              <a:rPr sz="1100" b="1" i="0">
                <a:solidFill>
                  <a:srgbClr val="264E70"/>
                </a:solidFill>
              </a:rPr>
              <a:t>Yeşil Kamu Alımı</a:t>
            </a:r>
          </a:p>
        </p:txBody>
      </p:sp>
      <p:sp>
        <p:nvSpPr>
          <p:cNvPr id="39" name="Altıgen"/>
          <p:cNvSpPr/>
          <p:nvPr/>
        </p:nvSpPr>
        <p:spPr>
          <a:xfrm>
            <a:off x="10370820" y="3511296"/>
            <a:ext cx="1097280" cy="676656"/>
          </a:xfrm>
          <a:prstGeom prst="hexagon">
            <a:avLst/>
          </a:prstGeom>
          <a:solidFill>
            <a:srgbClr val="DCE6F2"/>
          </a:solidFill>
          <a:ln w="19050">
            <a:solidFill>
              <a:srgbClr val="264E70"/>
            </a:solidFill>
          </a:ln>
        </p:spPr>
        <p:txBody>
          <a:bodyPr rtlCol="0" anchor="ctr"/>
          <a:lstStyle/>
          <a:p/>
        </p:txBody>
      </p:sp>
      <p:pic>
        <p:nvPicPr>
          <p:cNvPr id="40" name="Picture 39" descr="FaFlagCheckered_navy.png"/>
          <p:cNvPicPr>
            <a:picLocks noChangeAspect="1"/>
          </p:cNvPicPr>
          <p:nvPr/>
        </p:nvPicPr>
        <p:blipFill>
          <a:blip r:embed="rId12"/>
          <a:stretch>
            <a:fillRect/>
          </a:stretch>
        </p:blipFill>
        <p:spPr>
          <a:xfrm>
            <a:off x="10718292" y="3648456"/>
            <a:ext cx="402336" cy="402336"/>
          </a:xfrm>
          <a:prstGeom prst="rect">
            <a:avLst/>
          </a:prstGeom>
        </p:spPr>
      </p:pic>
      <p:sp>
        <p:nvSpPr>
          <p:cNvPr id="41" name="Altıgen Başlığı"/>
          <p:cNvSpPr txBox="1"/>
          <p:nvPr/>
        </p:nvSpPr>
        <p:spPr>
          <a:xfrm>
            <a:off x="10043160" y="4224528"/>
            <a:ext cx="1752599" cy="347472"/>
          </a:xfrm>
          <a:prstGeom prst="rect">
            <a:avLst/>
          </a:prstGeom>
          <a:noFill/>
        </p:spPr>
        <p:txBody>
          <a:bodyPr wrap="square" lIns="0" rIns="0" tIns="18288" bIns="18288" anchor="t">
            <a:spAutoFit/>
          </a:bodyPr>
          <a:lstStyle/>
          <a:p>
            <a:pPr algn="ctr"/>
            <a:r>
              <a:rPr sz="1100" b="1" i="0">
                <a:solidFill>
                  <a:srgbClr val="264E70"/>
                </a:solidFill>
              </a:rPr>
              <a:t>2030 Hedefi</a:t>
            </a:r>
          </a:p>
        </p:txBody>
      </p:sp>
      <p:cxnSp>
        <p:nvCxnSpPr>
          <p:cNvPr id="42" name="Connector 41"/>
          <p:cNvCxnSpPr/>
          <p:nvPr/>
        </p:nvCxnSpPr>
        <p:spPr>
          <a:xfrm>
            <a:off x="274320" y="4663440"/>
            <a:ext cx="11567160" cy="0"/>
          </a:xfrm>
          <a:prstGeom prst="line">
            <a:avLst/>
          </a:prstGeom>
          <a:ln w="12700">
            <a:solidFill>
              <a:srgbClr val="9AA5B1"/>
            </a:solidFill>
            <a:prstDash val="dash"/>
          </a:ln>
        </p:spPr>
      </p:cxnSp>
      <p:sp>
        <p:nvSpPr>
          <p:cNvPr id="43" name="Rounded Rectangle 42"/>
          <p:cNvSpPr/>
          <p:nvPr/>
        </p:nvSpPr>
        <p:spPr>
          <a:xfrm>
            <a:off x="457200" y="4736592"/>
            <a:ext cx="603504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TOROS TARIM’IN YERİ: DÖNGÜSEL TORBA YOLCULUĞU</a:t>
            </a:r>
          </a:p>
        </p:txBody>
      </p:sp>
      <p:sp>
        <p:nvSpPr>
          <p:cNvPr id="44" name="Zincir Kartı"/>
          <p:cNvSpPr/>
          <p:nvPr/>
        </p:nvSpPr>
        <p:spPr>
          <a:xfrm>
            <a:off x="274320" y="5138928"/>
            <a:ext cx="2006193" cy="1243584"/>
          </a:xfrm>
          <a:prstGeom prst="roundRect">
            <a:avLst>
              <a:gd name="adj" fmla="val 8823"/>
            </a:avLst>
          </a:prstGeom>
          <a:solidFill>
            <a:srgbClr val="F4F7FA"/>
          </a:solidFill>
          <a:ln w="12700">
            <a:solidFill>
              <a:srgbClr val="B8C4D0"/>
            </a:solidFill>
          </a:ln>
        </p:spPr>
        <p:txBody>
          <a:bodyPr rtlCol="0" anchor="ctr"/>
          <a:lstStyle/>
          <a:p/>
        </p:txBody>
      </p:sp>
      <p:sp>
        <p:nvSpPr>
          <p:cNvPr id="45" name="Zincir İkon Zemini"/>
          <p:cNvSpPr/>
          <p:nvPr/>
        </p:nvSpPr>
        <p:spPr>
          <a:xfrm>
            <a:off x="384048" y="5230368"/>
            <a:ext cx="457200" cy="457200"/>
          </a:xfrm>
          <a:prstGeom prst="ellipse">
            <a:avLst/>
          </a:prstGeom>
          <a:solidFill>
            <a:srgbClr val="264E70"/>
          </a:solidFill>
          <a:ln>
            <a:noFill/>
          </a:ln>
        </p:spPr>
        <p:txBody>
          <a:bodyPr rtlCol="0" anchor="ctr"/>
          <a:lstStyle/>
          <a:p/>
        </p:txBody>
      </p:sp>
      <p:pic>
        <p:nvPicPr>
          <p:cNvPr id="46" name="Picture 45" descr="FaIndustry_white.png"/>
          <p:cNvPicPr>
            <a:picLocks noChangeAspect="1"/>
          </p:cNvPicPr>
          <p:nvPr/>
        </p:nvPicPr>
        <p:blipFill>
          <a:blip r:embed="rId13"/>
          <a:stretch>
            <a:fillRect/>
          </a:stretch>
        </p:blipFill>
        <p:spPr>
          <a:xfrm>
            <a:off x="493776" y="5340096"/>
            <a:ext cx="237744" cy="237744"/>
          </a:xfrm>
          <a:prstGeom prst="rect">
            <a:avLst/>
          </a:prstGeom>
        </p:spPr>
      </p:pic>
      <p:sp>
        <p:nvSpPr>
          <p:cNvPr id="47" name="Zincir Başlığı"/>
          <p:cNvSpPr txBox="1"/>
          <p:nvPr/>
        </p:nvSpPr>
        <p:spPr>
          <a:xfrm>
            <a:off x="932688" y="5193792"/>
            <a:ext cx="1274673" cy="530352"/>
          </a:xfrm>
          <a:prstGeom prst="rect">
            <a:avLst/>
          </a:prstGeom>
          <a:noFill/>
        </p:spPr>
        <p:txBody>
          <a:bodyPr wrap="square" lIns="0" rIns="0" tIns="18288" bIns="18288" anchor="ctr">
            <a:spAutoFit/>
          </a:bodyPr>
          <a:lstStyle/>
          <a:p>
            <a:pPr algn="l"/>
            <a:r>
              <a:rPr sz="1200" b="1" i="0">
                <a:solidFill>
                  <a:srgbClr val="264E70"/>
                </a:solidFill>
              </a:rPr>
              <a:t>PP / PE Hammadde</a:t>
            </a:r>
          </a:p>
        </p:txBody>
      </p:sp>
      <p:sp>
        <p:nvSpPr>
          <p:cNvPr id="48" name="Zincir Açıklaması"/>
          <p:cNvSpPr txBox="1"/>
          <p:nvPr/>
        </p:nvSpPr>
        <p:spPr>
          <a:xfrm>
            <a:off x="402336" y="5742432"/>
            <a:ext cx="1750161" cy="621792"/>
          </a:xfrm>
          <a:prstGeom prst="rect">
            <a:avLst/>
          </a:prstGeom>
          <a:noFill/>
        </p:spPr>
        <p:txBody>
          <a:bodyPr wrap="square" lIns="0" rIns="0" tIns="18288" bIns="18288" anchor="t">
            <a:spAutoFit/>
          </a:bodyPr>
          <a:lstStyle/>
          <a:p>
            <a:pPr algn="l"/>
            <a:r>
              <a:rPr sz="1050" b="0" i="0">
                <a:solidFill>
                  <a:srgbClr val="1B1B1B"/>
                </a:solidFill>
              </a:rPr>
              <a:t>Fosil türevi hammadde ihtiyacı ve fiyat dalgalanması riski</a:t>
            </a:r>
          </a:p>
        </p:txBody>
      </p:sp>
      <p:sp>
        <p:nvSpPr>
          <p:cNvPr id="49" name="Ok"/>
          <p:cNvSpPr/>
          <p:nvPr/>
        </p:nvSpPr>
        <p:spPr>
          <a:xfrm>
            <a:off x="2335377" y="5623560"/>
            <a:ext cx="274320" cy="292608"/>
          </a:xfrm>
          <a:prstGeom prst="chevron">
            <a:avLst/>
          </a:prstGeom>
          <a:solidFill>
            <a:srgbClr val="264E70"/>
          </a:solidFill>
          <a:ln>
            <a:noFill/>
          </a:ln>
        </p:spPr>
        <p:txBody>
          <a:bodyPr rtlCol="0" anchor="ctr"/>
          <a:lstStyle/>
          <a:p/>
        </p:txBody>
      </p:sp>
      <p:sp>
        <p:nvSpPr>
          <p:cNvPr id="50" name="Zincir Kartı"/>
          <p:cNvSpPr/>
          <p:nvPr/>
        </p:nvSpPr>
        <p:spPr>
          <a:xfrm>
            <a:off x="2664561" y="5138928"/>
            <a:ext cx="2006193" cy="1243584"/>
          </a:xfrm>
          <a:prstGeom prst="roundRect">
            <a:avLst>
              <a:gd name="adj" fmla="val 8823"/>
            </a:avLst>
          </a:prstGeom>
          <a:solidFill>
            <a:srgbClr val="F4F7FA"/>
          </a:solidFill>
          <a:ln w="12700">
            <a:solidFill>
              <a:srgbClr val="B8C4D0"/>
            </a:solidFill>
          </a:ln>
        </p:spPr>
        <p:txBody>
          <a:bodyPr rtlCol="0" anchor="ctr"/>
          <a:lstStyle/>
          <a:p/>
        </p:txBody>
      </p:sp>
      <p:sp>
        <p:nvSpPr>
          <p:cNvPr id="51" name="Zincir İkon Zemini"/>
          <p:cNvSpPr/>
          <p:nvPr/>
        </p:nvSpPr>
        <p:spPr>
          <a:xfrm>
            <a:off x="2774289" y="5230368"/>
            <a:ext cx="457200" cy="457200"/>
          </a:xfrm>
          <a:prstGeom prst="ellipse">
            <a:avLst/>
          </a:prstGeom>
          <a:solidFill>
            <a:srgbClr val="264E70"/>
          </a:solidFill>
          <a:ln>
            <a:noFill/>
          </a:ln>
        </p:spPr>
        <p:txBody>
          <a:bodyPr rtlCol="0" anchor="ctr"/>
          <a:lstStyle/>
          <a:p/>
        </p:txBody>
      </p:sp>
      <p:pic>
        <p:nvPicPr>
          <p:cNvPr id="52" name="Picture 51" descr="FaPencilRuler_white.png"/>
          <p:cNvPicPr>
            <a:picLocks noChangeAspect="1"/>
          </p:cNvPicPr>
          <p:nvPr/>
        </p:nvPicPr>
        <p:blipFill>
          <a:blip r:embed="rId14"/>
          <a:stretch>
            <a:fillRect/>
          </a:stretch>
        </p:blipFill>
        <p:spPr>
          <a:xfrm>
            <a:off x="2884017" y="5340096"/>
            <a:ext cx="237744" cy="237744"/>
          </a:xfrm>
          <a:prstGeom prst="rect">
            <a:avLst/>
          </a:prstGeom>
        </p:spPr>
      </p:pic>
      <p:sp>
        <p:nvSpPr>
          <p:cNvPr id="53" name="Zincir Başlığı"/>
          <p:cNvSpPr txBox="1"/>
          <p:nvPr/>
        </p:nvSpPr>
        <p:spPr>
          <a:xfrm>
            <a:off x="3322929" y="5193792"/>
            <a:ext cx="1274673" cy="530352"/>
          </a:xfrm>
          <a:prstGeom prst="rect">
            <a:avLst/>
          </a:prstGeom>
          <a:noFill/>
        </p:spPr>
        <p:txBody>
          <a:bodyPr wrap="square" lIns="0" rIns="0" tIns="18288" bIns="18288" anchor="ctr">
            <a:spAutoFit/>
          </a:bodyPr>
          <a:lstStyle/>
          <a:p>
            <a:pPr algn="l"/>
            <a:r>
              <a:rPr sz="1200" b="1" i="0">
                <a:solidFill>
                  <a:srgbClr val="264E70"/>
                </a:solidFill>
              </a:rPr>
              <a:t>Geri Dönüşüm İçin Tasarım</a:t>
            </a:r>
          </a:p>
        </p:txBody>
      </p:sp>
      <p:sp>
        <p:nvSpPr>
          <p:cNvPr id="54" name="Zincir Açıklaması"/>
          <p:cNvSpPr txBox="1"/>
          <p:nvPr/>
        </p:nvSpPr>
        <p:spPr>
          <a:xfrm>
            <a:off x="2792577" y="5742432"/>
            <a:ext cx="1750161" cy="621792"/>
          </a:xfrm>
          <a:prstGeom prst="rect">
            <a:avLst/>
          </a:prstGeom>
          <a:noFill/>
        </p:spPr>
        <p:txBody>
          <a:bodyPr wrap="square" lIns="0" rIns="0" tIns="18288" bIns="18288" anchor="t">
            <a:spAutoFit/>
          </a:bodyPr>
          <a:lstStyle/>
          <a:p>
            <a:pPr algn="l"/>
            <a:r>
              <a:rPr sz="1050" b="0" i="0">
                <a:solidFill>
                  <a:srgbClr val="1B1B1B"/>
                </a:solidFill>
              </a:rPr>
              <a:t>PP ve PE torbalar, geri dönüştürülebilirlik kriterlerine göre üretilir</a:t>
            </a:r>
          </a:p>
        </p:txBody>
      </p:sp>
      <p:sp>
        <p:nvSpPr>
          <p:cNvPr id="55" name="Ok"/>
          <p:cNvSpPr/>
          <p:nvPr/>
        </p:nvSpPr>
        <p:spPr>
          <a:xfrm>
            <a:off x="4725619" y="5623560"/>
            <a:ext cx="274320" cy="292608"/>
          </a:xfrm>
          <a:prstGeom prst="chevron">
            <a:avLst/>
          </a:prstGeom>
          <a:solidFill>
            <a:srgbClr val="264E70"/>
          </a:solidFill>
          <a:ln>
            <a:noFill/>
          </a:ln>
        </p:spPr>
        <p:txBody>
          <a:bodyPr rtlCol="0" anchor="ctr"/>
          <a:lstStyle/>
          <a:p/>
        </p:txBody>
      </p:sp>
      <p:sp>
        <p:nvSpPr>
          <p:cNvPr id="56" name="Zincir Kartı"/>
          <p:cNvSpPr/>
          <p:nvPr/>
        </p:nvSpPr>
        <p:spPr>
          <a:xfrm>
            <a:off x="5054803" y="5138928"/>
            <a:ext cx="2006193" cy="1243584"/>
          </a:xfrm>
          <a:prstGeom prst="roundRect">
            <a:avLst>
              <a:gd name="adj" fmla="val 8823"/>
            </a:avLst>
          </a:prstGeom>
          <a:solidFill>
            <a:srgbClr val="F4F7FA"/>
          </a:solidFill>
          <a:ln w="12700">
            <a:solidFill>
              <a:srgbClr val="B8C4D0"/>
            </a:solidFill>
          </a:ln>
        </p:spPr>
        <p:txBody>
          <a:bodyPr rtlCol="0" anchor="ctr"/>
          <a:lstStyle/>
          <a:p/>
        </p:txBody>
      </p:sp>
      <p:sp>
        <p:nvSpPr>
          <p:cNvPr id="57" name="Zincir İkon Zemini"/>
          <p:cNvSpPr/>
          <p:nvPr/>
        </p:nvSpPr>
        <p:spPr>
          <a:xfrm>
            <a:off x="5164531" y="5230368"/>
            <a:ext cx="457200" cy="457200"/>
          </a:xfrm>
          <a:prstGeom prst="ellipse">
            <a:avLst/>
          </a:prstGeom>
          <a:solidFill>
            <a:srgbClr val="264E70"/>
          </a:solidFill>
          <a:ln>
            <a:noFill/>
          </a:ln>
        </p:spPr>
        <p:txBody>
          <a:bodyPr rtlCol="0" anchor="ctr"/>
          <a:lstStyle/>
          <a:p/>
        </p:txBody>
      </p:sp>
      <p:pic>
        <p:nvPicPr>
          <p:cNvPr id="58" name="Picture 57" descr="FaBoxes_white.png"/>
          <p:cNvPicPr>
            <a:picLocks noChangeAspect="1"/>
          </p:cNvPicPr>
          <p:nvPr/>
        </p:nvPicPr>
        <p:blipFill>
          <a:blip r:embed="rId15"/>
          <a:stretch>
            <a:fillRect/>
          </a:stretch>
        </p:blipFill>
        <p:spPr>
          <a:xfrm>
            <a:off x="5274259" y="5340096"/>
            <a:ext cx="237744" cy="237744"/>
          </a:xfrm>
          <a:prstGeom prst="rect">
            <a:avLst/>
          </a:prstGeom>
        </p:spPr>
      </p:pic>
      <p:sp>
        <p:nvSpPr>
          <p:cNvPr id="59" name="Zincir Başlığı"/>
          <p:cNvSpPr txBox="1"/>
          <p:nvPr/>
        </p:nvSpPr>
        <p:spPr>
          <a:xfrm>
            <a:off x="5713171" y="5193792"/>
            <a:ext cx="1274673" cy="530352"/>
          </a:xfrm>
          <a:prstGeom prst="rect">
            <a:avLst/>
          </a:prstGeom>
          <a:noFill/>
        </p:spPr>
        <p:txBody>
          <a:bodyPr wrap="square" lIns="0" rIns="0" tIns="18288" bIns="18288" anchor="ctr">
            <a:spAutoFit/>
          </a:bodyPr>
          <a:lstStyle/>
          <a:p>
            <a:pPr algn="l"/>
            <a:r>
              <a:rPr sz="1200" b="1" i="0">
                <a:solidFill>
                  <a:srgbClr val="264E70"/>
                </a:solidFill>
              </a:rPr>
              <a:t>Ambalaj ve Sevkiyat</a:t>
            </a:r>
          </a:p>
        </p:txBody>
      </p:sp>
      <p:sp>
        <p:nvSpPr>
          <p:cNvPr id="60" name="Zincir Açıklaması"/>
          <p:cNvSpPr txBox="1"/>
          <p:nvPr/>
        </p:nvSpPr>
        <p:spPr>
          <a:xfrm>
            <a:off x="5182819" y="5742432"/>
            <a:ext cx="1750161" cy="621792"/>
          </a:xfrm>
          <a:prstGeom prst="rect">
            <a:avLst/>
          </a:prstGeom>
          <a:noFill/>
        </p:spPr>
        <p:txBody>
          <a:bodyPr wrap="square" lIns="0" rIns="0" tIns="18288" bIns="18288" anchor="t">
            <a:spAutoFit/>
          </a:bodyPr>
          <a:lstStyle/>
          <a:p>
            <a:pPr algn="l"/>
            <a:r>
              <a:rPr sz="1050" b="0" i="0">
                <a:solidFill>
                  <a:srgbClr val="1B1B1B"/>
                </a:solidFill>
              </a:rPr>
              <a:t>Grup ve nakliye ambalajında boş alan oranı en fazla %50</a:t>
            </a:r>
          </a:p>
        </p:txBody>
      </p:sp>
      <p:sp>
        <p:nvSpPr>
          <p:cNvPr id="61" name="Ok"/>
          <p:cNvSpPr/>
          <p:nvPr/>
        </p:nvSpPr>
        <p:spPr>
          <a:xfrm>
            <a:off x="7115860" y="5623560"/>
            <a:ext cx="274320" cy="292608"/>
          </a:xfrm>
          <a:prstGeom prst="chevron">
            <a:avLst/>
          </a:prstGeom>
          <a:solidFill>
            <a:srgbClr val="264E70"/>
          </a:solidFill>
          <a:ln>
            <a:noFill/>
          </a:ln>
        </p:spPr>
        <p:txBody>
          <a:bodyPr rtlCol="0" anchor="ctr"/>
          <a:lstStyle/>
          <a:p/>
        </p:txBody>
      </p:sp>
      <p:sp>
        <p:nvSpPr>
          <p:cNvPr id="62" name="Zincir Kartı"/>
          <p:cNvSpPr/>
          <p:nvPr/>
        </p:nvSpPr>
        <p:spPr>
          <a:xfrm>
            <a:off x="7445044" y="5138928"/>
            <a:ext cx="2006193" cy="1243584"/>
          </a:xfrm>
          <a:prstGeom prst="roundRect">
            <a:avLst>
              <a:gd name="adj" fmla="val 8823"/>
            </a:avLst>
          </a:prstGeom>
          <a:solidFill>
            <a:srgbClr val="F4F7FA"/>
          </a:solidFill>
          <a:ln w="12700">
            <a:solidFill>
              <a:srgbClr val="B8C4D0"/>
            </a:solidFill>
          </a:ln>
        </p:spPr>
        <p:txBody>
          <a:bodyPr rtlCol="0" anchor="ctr"/>
          <a:lstStyle/>
          <a:p/>
        </p:txBody>
      </p:sp>
      <p:sp>
        <p:nvSpPr>
          <p:cNvPr id="63" name="Zincir İkon Zemini"/>
          <p:cNvSpPr/>
          <p:nvPr/>
        </p:nvSpPr>
        <p:spPr>
          <a:xfrm>
            <a:off x="7554772" y="5230368"/>
            <a:ext cx="457200" cy="457200"/>
          </a:xfrm>
          <a:prstGeom prst="ellipse">
            <a:avLst/>
          </a:prstGeom>
          <a:solidFill>
            <a:srgbClr val="264E70"/>
          </a:solidFill>
          <a:ln>
            <a:noFill/>
          </a:ln>
        </p:spPr>
        <p:txBody>
          <a:bodyPr rtlCol="0" anchor="ctr"/>
          <a:lstStyle/>
          <a:p/>
        </p:txBody>
      </p:sp>
      <p:pic>
        <p:nvPicPr>
          <p:cNvPr id="64" name="Picture 63" descr="FaRecycle_white.png"/>
          <p:cNvPicPr>
            <a:picLocks noChangeAspect="1"/>
          </p:cNvPicPr>
          <p:nvPr/>
        </p:nvPicPr>
        <p:blipFill>
          <a:blip r:embed="rId4"/>
          <a:stretch>
            <a:fillRect/>
          </a:stretch>
        </p:blipFill>
        <p:spPr>
          <a:xfrm>
            <a:off x="7664500" y="5340096"/>
            <a:ext cx="237744" cy="237744"/>
          </a:xfrm>
          <a:prstGeom prst="rect">
            <a:avLst/>
          </a:prstGeom>
        </p:spPr>
      </p:pic>
      <p:sp>
        <p:nvSpPr>
          <p:cNvPr id="65" name="Zincir Başlığı"/>
          <p:cNvSpPr txBox="1"/>
          <p:nvPr/>
        </p:nvSpPr>
        <p:spPr>
          <a:xfrm>
            <a:off x="8103412" y="5193792"/>
            <a:ext cx="1274673" cy="530352"/>
          </a:xfrm>
          <a:prstGeom prst="rect">
            <a:avLst/>
          </a:prstGeom>
          <a:noFill/>
        </p:spPr>
        <p:txBody>
          <a:bodyPr wrap="square" lIns="0" rIns="0" tIns="18288" bIns="18288" anchor="ctr">
            <a:spAutoFit/>
          </a:bodyPr>
          <a:lstStyle/>
          <a:p>
            <a:pPr algn="l"/>
            <a:r>
              <a:rPr sz="1200" b="1" i="0">
                <a:solidFill>
                  <a:srgbClr val="264E70"/>
                </a:solidFill>
              </a:rPr>
              <a:t>EPR ve Toplama</a:t>
            </a:r>
          </a:p>
        </p:txBody>
      </p:sp>
      <p:sp>
        <p:nvSpPr>
          <p:cNvPr id="66" name="Zincir Açıklaması"/>
          <p:cNvSpPr txBox="1"/>
          <p:nvPr/>
        </p:nvSpPr>
        <p:spPr>
          <a:xfrm>
            <a:off x="7573060" y="5742432"/>
            <a:ext cx="1750161" cy="621792"/>
          </a:xfrm>
          <a:prstGeom prst="rect">
            <a:avLst/>
          </a:prstGeom>
          <a:noFill/>
        </p:spPr>
        <p:txBody>
          <a:bodyPr wrap="square" lIns="0" rIns="0" tIns="18288" bIns="18288" anchor="t">
            <a:spAutoFit/>
          </a:bodyPr>
          <a:lstStyle/>
          <a:p>
            <a:pPr algn="l"/>
            <a:r>
              <a:rPr sz="1050" b="0" i="0">
                <a:solidFill>
                  <a:srgbClr val="1B1B1B"/>
                </a:solidFill>
              </a:rPr>
              <a:t>Performans notuna (A, B, C) göre finansal katkı payı ödenir</a:t>
            </a:r>
          </a:p>
        </p:txBody>
      </p:sp>
      <p:sp>
        <p:nvSpPr>
          <p:cNvPr id="67" name="Ok"/>
          <p:cNvSpPr/>
          <p:nvPr/>
        </p:nvSpPr>
        <p:spPr>
          <a:xfrm>
            <a:off x="9506102" y="5623560"/>
            <a:ext cx="274320" cy="292608"/>
          </a:xfrm>
          <a:prstGeom prst="chevron">
            <a:avLst/>
          </a:prstGeom>
          <a:solidFill>
            <a:srgbClr val="264E70"/>
          </a:solidFill>
          <a:ln>
            <a:noFill/>
          </a:ln>
        </p:spPr>
        <p:txBody>
          <a:bodyPr rtlCol="0" anchor="ctr"/>
          <a:lstStyle/>
          <a:p/>
        </p:txBody>
      </p:sp>
      <p:sp>
        <p:nvSpPr>
          <p:cNvPr id="68" name="Zincir Kartı"/>
          <p:cNvSpPr/>
          <p:nvPr/>
        </p:nvSpPr>
        <p:spPr>
          <a:xfrm>
            <a:off x="9835286" y="5138928"/>
            <a:ext cx="2006193" cy="1243584"/>
          </a:xfrm>
          <a:prstGeom prst="roundRect">
            <a:avLst>
              <a:gd name="adj" fmla="val 8823"/>
            </a:avLst>
          </a:prstGeom>
          <a:solidFill>
            <a:srgbClr val="F4F7FA"/>
          </a:solidFill>
          <a:ln w="12700">
            <a:solidFill>
              <a:srgbClr val="B8C4D0"/>
            </a:solidFill>
          </a:ln>
        </p:spPr>
        <p:txBody>
          <a:bodyPr rtlCol="0" anchor="ctr"/>
          <a:lstStyle/>
          <a:p/>
        </p:txBody>
      </p:sp>
      <p:sp>
        <p:nvSpPr>
          <p:cNvPr id="69" name="Zincir İkon Zemini"/>
          <p:cNvSpPr/>
          <p:nvPr/>
        </p:nvSpPr>
        <p:spPr>
          <a:xfrm>
            <a:off x="9945014" y="5230368"/>
            <a:ext cx="457200" cy="457200"/>
          </a:xfrm>
          <a:prstGeom prst="ellipse">
            <a:avLst/>
          </a:prstGeom>
          <a:solidFill>
            <a:srgbClr val="005C2A"/>
          </a:solidFill>
          <a:ln>
            <a:noFill/>
          </a:ln>
        </p:spPr>
        <p:txBody>
          <a:bodyPr rtlCol="0" anchor="ctr"/>
          <a:lstStyle/>
          <a:p/>
        </p:txBody>
      </p:sp>
      <p:pic>
        <p:nvPicPr>
          <p:cNvPr id="70" name="Picture 69" descr="FaSyncAlt_white.png"/>
          <p:cNvPicPr>
            <a:picLocks noChangeAspect="1"/>
          </p:cNvPicPr>
          <p:nvPr/>
        </p:nvPicPr>
        <p:blipFill>
          <a:blip r:embed="rId5"/>
          <a:stretch>
            <a:fillRect/>
          </a:stretch>
        </p:blipFill>
        <p:spPr>
          <a:xfrm>
            <a:off x="10054742" y="5340096"/>
            <a:ext cx="237744" cy="237744"/>
          </a:xfrm>
          <a:prstGeom prst="rect">
            <a:avLst/>
          </a:prstGeom>
        </p:spPr>
      </p:pic>
      <p:sp>
        <p:nvSpPr>
          <p:cNvPr id="71" name="Zincir Başlığı"/>
          <p:cNvSpPr txBox="1"/>
          <p:nvPr/>
        </p:nvSpPr>
        <p:spPr>
          <a:xfrm>
            <a:off x="10493654" y="5193792"/>
            <a:ext cx="1274673" cy="530352"/>
          </a:xfrm>
          <a:prstGeom prst="rect">
            <a:avLst/>
          </a:prstGeom>
          <a:noFill/>
        </p:spPr>
        <p:txBody>
          <a:bodyPr wrap="square" lIns="0" rIns="0" tIns="18288" bIns="18288" anchor="ctr">
            <a:spAutoFit/>
          </a:bodyPr>
          <a:lstStyle/>
          <a:p>
            <a:pPr algn="l"/>
            <a:r>
              <a:rPr sz="1200" b="1" i="0">
                <a:solidFill>
                  <a:srgbClr val="264E70"/>
                </a:solidFill>
              </a:rPr>
              <a:t>İkincil Hammadde</a:t>
            </a:r>
          </a:p>
        </p:txBody>
      </p:sp>
      <p:sp>
        <p:nvSpPr>
          <p:cNvPr id="72" name="Zincir Açıklaması"/>
          <p:cNvSpPr txBox="1"/>
          <p:nvPr/>
        </p:nvSpPr>
        <p:spPr>
          <a:xfrm>
            <a:off x="9963302" y="5742432"/>
            <a:ext cx="1750161" cy="621792"/>
          </a:xfrm>
          <a:prstGeom prst="rect">
            <a:avLst/>
          </a:prstGeom>
          <a:noFill/>
        </p:spPr>
        <p:txBody>
          <a:bodyPr wrap="square" lIns="0" rIns="0" tIns="18288" bIns="18288" anchor="t">
            <a:spAutoFit/>
          </a:bodyPr>
          <a:lstStyle/>
          <a:p>
            <a:pPr algn="l"/>
            <a:r>
              <a:rPr sz="1050" b="0" i="0">
                <a:solidFill>
                  <a:srgbClr val="1B1B1B"/>
                </a:solidFill>
              </a:rPr>
              <a:t>Geri kazanılan malzeme ambalaj süreçlerine yeniden girer, döngü kapanır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i="1" lang="tr-TR"/>
              <a:t>EU PPWR (Ambalaj ve Ambalaj Atıkları Tüzüğü)</a:t>
            </a:r>
          </a:p>
        </p:txBody>
      </p:sp>
      <p:sp>
        <p:nvSpPr>
          <p:cNvPr id="4" name="Slayt Numarası Yer Tutucusu 3">
            <a:extLst>
              <a:ext uri="{FF2B5EF4-FFF2-40B4-BE49-F238E27FC236}">
                <a16:creationId xmlns:a16="http://schemas.microsoft.com/office/drawing/2014/main" id="{64D39679-45B4-9C02-77DE-31552745A3E2}"/>
              </a:ext>
            </a:extLst>
          </p:cNvPr>
          <p:cNvSpPr>
            <a:spLocks noGrp="1"/>
          </p:cNvSpPr>
          <p:nvPr>
            <p:ph type="sldNum" sz="quarter" idx="4"/>
          </p:nvPr>
        </p:nvSpPr>
        <p:spPr/>
        <p:txBody>
          <a:bodyPr/>
          <a:lstStyle/>
          <a:p>
            <a:fld id="{42CA6F85-893A-4FE1-8820-DAA50ABDC7DA}" type="slidenum">
              <a:rPr lang="tr-TR" smtClean="0"/>
              <a:pPr/>
              <a:t>7</a:t>
            </a:fld>
            <a:endParaRPr lang="tr-TR"/>
          </a:p>
        </p:txBody>
      </p:sp>
      <p:sp>
        <p:nvSpPr>
          <p:cNvPr id="5" name="Başlık Bandı"/>
          <p:cNvSpPr/>
          <p:nvPr/>
        </p:nvSpPr>
        <p:spPr>
          <a:xfrm>
            <a:off x="274320" y="896112"/>
            <a:ext cx="11567159" cy="365760"/>
          </a:xfrm>
          <a:prstGeom prst="rect">
            <a:avLst/>
          </a:prstGeom>
          <a:solidFill>
            <a:srgbClr val="264E70"/>
          </a:solidFill>
          <a:ln>
            <a:noFill/>
          </a:ln>
        </p:spPr>
        <p:txBody>
          <a:bodyPr rtlCol="0" anchor="ctr" wrap="square" lIns="45720" rIns="45720" tIns="18288" bIns="18288"/>
          <a:lstStyle/>
          <a:p>
            <a:pPr algn="ctr"/>
            <a:r>
              <a:rPr sz="1500" b="1" i="0">
                <a:solidFill>
                  <a:srgbClr val="FFFFFF"/>
                </a:solidFill>
              </a:rPr>
              <a:t>EU PPWR UYGULAMASI SONUCUNDA OLUŞAN RİSKLER VE FIRSATLAR</a:t>
            </a:r>
          </a:p>
        </p:txBody>
      </p:sp>
      <p:sp>
        <p:nvSpPr>
          <p:cNvPr id="6" name="Rounded Rectangle 5"/>
          <p:cNvSpPr/>
          <p:nvPr/>
        </p:nvSpPr>
        <p:spPr>
          <a:xfrm>
            <a:off x="777240" y="1371600"/>
            <a:ext cx="475488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RİSKLER</a:t>
            </a:r>
          </a:p>
        </p:txBody>
      </p:sp>
      <p:sp>
        <p:nvSpPr>
          <p:cNvPr id="7" name="Rounded Rectangle 6"/>
          <p:cNvSpPr/>
          <p:nvPr/>
        </p:nvSpPr>
        <p:spPr>
          <a:xfrm>
            <a:off x="6629400" y="1371600"/>
            <a:ext cx="475488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FIRSATLAR</a:t>
            </a:r>
          </a:p>
        </p:txBody>
      </p:sp>
      <p:cxnSp>
        <p:nvCxnSpPr>
          <p:cNvPr id="8" name="Connector 7"/>
          <p:cNvCxnSpPr/>
          <p:nvPr/>
        </p:nvCxnSpPr>
        <p:spPr>
          <a:xfrm>
            <a:off x="6080760" y="1371600"/>
            <a:ext cx="0" cy="3017520"/>
          </a:xfrm>
          <a:prstGeom prst="line">
            <a:avLst/>
          </a:prstGeom>
          <a:ln w="12700">
            <a:solidFill>
              <a:srgbClr val="9AA5B1"/>
            </a:solidFill>
            <a:prstDash val="dash"/>
          </a:ln>
        </p:spPr>
      </p:cxnSp>
      <p:sp>
        <p:nvSpPr>
          <p:cNvPr id="9" name="Satır Zemini"/>
          <p:cNvSpPr/>
          <p:nvPr/>
        </p:nvSpPr>
        <p:spPr>
          <a:xfrm>
            <a:off x="274320" y="1783080"/>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0" name="Rakam Rozeti"/>
          <p:cNvSpPr/>
          <p:nvPr/>
        </p:nvSpPr>
        <p:spPr>
          <a:xfrm>
            <a:off x="347472" y="1938527"/>
            <a:ext cx="676656" cy="512064"/>
          </a:xfrm>
          <a:prstGeom prst="roundRect">
            <a:avLst>
              <a:gd name="adj" fmla="val 21428"/>
            </a:avLst>
          </a:prstGeom>
          <a:solidFill>
            <a:srgbClr val="B03A2E"/>
          </a:solidFill>
          <a:ln>
            <a:noFill/>
          </a:ln>
        </p:spPr>
        <p:txBody>
          <a:bodyPr rtlCol="0" anchor="ctr" wrap="square" lIns="18288" rIns="18288" tIns="18288" bIns="18288"/>
          <a:lstStyle/>
          <a:p>
            <a:pPr algn="ctr"/>
            <a:r>
              <a:rPr sz="1100" b="1" i="0">
                <a:solidFill>
                  <a:srgbClr val="FFFFFF"/>
                </a:solidFill>
              </a:rPr>
              <a:t>A·B·C</a:t>
            </a:r>
          </a:p>
        </p:txBody>
      </p:sp>
      <p:sp>
        <p:nvSpPr>
          <p:cNvPr id="11" name="Satır Metni"/>
          <p:cNvSpPr txBox="1"/>
          <p:nvPr/>
        </p:nvSpPr>
        <p:spPr>
          <a:xfrm>
            <a:off x="1115568" y="1819656"/>
            <a:ext cx="4617720" cy="749808"/>
          </a:xfrm>
          <a:prstGeom prst="rect">
            <a:avLst/>
          </a:prstGeom>
          <a:noFill/>
        </p:spPr>
        <p:txBody>
          <a:bodyPr wrap="square" lIns="0" rIns="0" tIns="18288" bIns="18288" anchor="ctr">
            <a:spAutoFit/>
          </a:bodyPr>
          <a:lstStyle/>
          <a:p>
            <a:pPr algn="l"/>
            <a:r>
              <a:rPr sz="1100" b="0" i="0">
                <a:solidFill>
                  <a:srgbClr val="1B1B1B"/>
                </a:solidFill>
              </a:rPr>
              <a:t>Genişletilmiş Üretici Sorumluluğu (EPR) kapsamında, ambalajların geri dönüştürülebilirlik performans notlarına (A, B veya C) ve geri dönüştürülmüş içerik oranlarına göre değişen finansal katkı paylarının ödenmesi zorunluluğunun operasyonel maliyetleri artırması</a:t>
            </a:r>
          </a:p>
        </p:txBody>
      </p:sp>
      <p:sp>
        <p:nvSpPr>
          <p:cNvPr id="12" name="Satır Zemini"/>
          <p:cNvSpPr/>
          <p:nvPr/>
        </p:nvSpPr>
        <p:spPr>
          <a:xfrm>
            <a:off x="274320" y="2660904"/>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3" name="Rakam Rozeti"/>
          <p:cNvSpPr/>
          <p:nvPr/>
        </p:nvSpPr>
        <p:spPr>
          <a:xfrm>
            <a:off x="347472" y="2816352"/>
            <a:ext cx="676656" cy="512064"/>
          </a:xfrm>
          <a:prstGeom prst="roundRect">
            <a:avLst>
              <a:gd name="adj" fmla="val 21428"/>
            </a:avLst>
          </a:prstGeom>
          <a:solidFill>
            <a:srgbClr val="B03A2E"/>
          </a:solidFill>
          <a:ln>
            <a:noFill/>
          </a:ln>
        </p:spPr>
        <p:txBody>
          <a:bodyPr rtlCol="0" anchor="ctr" wrap="square" lIns="18288" rIns="18288" tIns="18288" bIns="18288"/>
          <a:lstStyle/>
          <a:p>
            <a:pPr algn="ctr"/>
            <a:r>
              <a:rPr sz="1400" b="1" i="0">
                <a:solidFill>
                  <a:srgbClr val="FFFFFF"/>
                </a:solidFill>
              </a:rPr>
              <a:t>2030</a:t>
            </a:r>
          </a:p>
        </p:txBody>
      </p:sp>
      <p:sp>
        <p:nvSpPr>
          <p:cNvPr id="14" name="Satır Metni"/>
          <p:cNvSpPr txBox="1"/>
          <p:nvPr/>
        </p:nvSpPr>
        <p:spPr>
          <a:xfrm>
            <a:off x="1115568" y="2697480"/>
            <a:ext cx="4617720" cy="749808"/>
          </a:xfrm>
          <a:prstGeom prst="rect">
            <a:avLst/>
          </a:prstGeom>
          <a:noFill/>
        </p:spPr>
        <p:txBody>
          <a:bodyPr wrap="square" lIns="0" rIns="0" tIns="18288" bIns="18288" anchor="ctr">
            <a:spAutoFit/>
          </a:bodyPr>
          <a:lstStyle/>
          <a:p>
            <a:pPr algn="l"/>
            <a:r>
              <a:rPr sz="1100" b="0" i="0">
                <a:solidFill>
                  <a:srgbClr val="1B1B1B"/>
                </a:solidFill>
              </a:rPr>
              <a:t>2030 yılı itibarıyla ambalajların teknik olarak geri dönüştürülebilir standartları karşılaması ve plastik ambalaj bileşenlerinin zorunlu asgari oranlarda geri dönüştürülmüş plastik içermesi kuralı tedarik zincirinde zorluklara yol açabilir</a:t>
            </a:r>
          </a:p>
        </p:txBody>
      </p:sp>
      <p:sp>
        <p:nvSpPr>
          <p:cNvPr id="15" name="Satır Zemini"/>
          <p:cNvSpPr/>
          <p:nvPr/>
        </p:nvSpPr>
        <p:spPr>
          <a:xfrm>
            <a:off x="274320" y="3538728"/>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6" name="Rakam Rozeti"/>
          <p:cNvSpPr/>
          <p:nvPr/>
        </p:nvSpPr>
        <p:spPr>
          <a:xfrm>
            <a:off x="347472" y="3694176"/>
            <a:ext cx="676656" cy="512064"/>
          </a:xfrm>
          <a:prstGeom prst="roundRect">
            <a:avLst>
              <a:gd name="adj" fmla="val 21428"/>
            </a:avLst>
          </a:prstGeom>
          <a:solidFill>
            <a:srgbClr val="B03A2E"/>
          </a:solidFill>
          <a:ln>
            <a:noFill/>
          </a:ln>
        </p:spPr>
        <p:txBody>
          <a:bodyPr rtlCol="0" anchor="ctr" wrap="square" lIns="18288" rIns="18288" tIns="18288" bIns="18288"/>
          <a:lstStyle/>
          <a:p>
            <a:pPr algn="ctr"/>
            <a:r>
              <a:rPr sz="1400" b="1" i="0">
                <a:solidFill>
                  <a:srgbClr val="FFFFFF"/>
                </a:solidFill>
              </a:rPr>
              <a:t>%50</a:t>
            </a:r>
          </a:p>
        </p:txBody>
      </p:sp>
      <p:sp>
        <p:nvSpPr>
          <p:cNvPr id="17" name="Satır Metni"/>
          <p:cNvSpPr txBox="1"/>
          <p:nvPr/>
        </p:nvSpPr>
        <p:spPr>
          <a:xfrm>
            <a:off x="1115568" y="3575304"/>
            <a:ext cx="4617720" cy="749808"/>
          </a:xfrm>
          <a:prstGeom prst="rect">
            <a:avLst/>
          </a:prstGeom>
          <a:noFill/>
        </p:spPr>
        <p:txBody>
          <a:bodyPr wrap="square" lIns="0" rIns="0" tIns="18288" bIns="18288" anchor="ctr">
            <a:spAutoFit/>
          </a:bodyPr>
          <a:lstStyle/>
          <a:p>
            <a:pPr algn="l"/>
            <a:r>
              <a:rPr sz="1100" b="0" i="0">
                <a:solidFill>
                  <a:srgbClr val="1B1B1B"/>
                </a:solidFill>
              </a:rPr>
              <a:t>Grup ve nakliye ambalajlarında boş alan oranının %50’yi aşmaması zorunluluğu, mevcut endüstriyel taşıma ve lojistik tasarımlarında acil optimizasyonlar gerektirebilir</a:t>
            </a:r>
          </a:p>
        </p:txBody>
      </p:sp>
      <p:sp>
        <p:nvSpPr>
          <p:cNvPr id="18" name="Satır Zemini"/>
          <p:cNvSpPr/>
          <p:nvPr/>
        </p:nvSpPr>
        <p:spPr>
          <a:xfrm>
            <a:off x="6309360" y="1783080"/>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9" name="Rozet Zemini"/>
          <p:cNvSpPr/>
          <p:nvPr/>
        </p:nvSpPr>
        <p:spPr>
          <a:xfrm>
            <a:off x="6419088" y="1892807"/>
            <a:ext cx="603504" cy="603504"/>
          </a:xfrm>
          <a:prstGeom prst="ellipse">
            <a:avLst/>
          </a:prstGeom>
          <a:solidFill>
            <a:srgbClr val="E5F1EA"/>
          </a:solidFill>
          <a:ln w="15875">
            <a:solidFill>
              <a:srgbClr val="005C2A"/>
            </a:solidFill>
          </a:ln>
        </p:spPr>
        <p:txBody>
          <a:bodyPr rtlCol="0" anchor="ctr"/>
          <a:lstStyle/>
          <a:p/>
        </p:txBody>
      </p:sp>
      <p:pic>
        <p:nvPicPr>
          <p:cNvPr id="20" name="Picture 19" descr="FaRecycle_green.png"/>
          <p:cNvPicPr>
            <a:picLocks noChangeAspect="1"/>
          </p:cNvPicPr>
          <p:nvPr/>
        </p:nvPicPr>
        <p:blipFill>
          <a:blip r:embed="rId3"/>
          <a:stretch>
            <a:fillRect/>
          </a:stretch>
        </p:blipFill>
        <p:spPr>
          <a:xfrm>
            <a:off x="6565392" y="2039112"/>
            <a:ext cx="310896" cy="310896"/>
          </a:xfrm>
          <a:prstGeom prst="rect">
            <a:avLst/>
          </a:prstGeom>
        </p:spPr>
      </p:pic>
      <p:sp>
        <p:nvSpPr>
          <p:cNvPr id="21" name="Satır Metni"/>
          <p:cNvSpPr txBox="1"/>
          <p:nvPr/>
        </p:nvSpPr>
        <p:spPr>
          <a:xfrm>
            <a:off x="7150608" y="1819656"/>
            <a:ext cx="4617720" cy="749808"/>
          </a:xfrm>
          <a:prstGeom prst="rect">
            <a:avLst/>
          </a:prstGeom>
          <a:noFill/>
        </p:spPr>
        <p:txBody>
          <a:bodyPr wrap="square" lIns="0" rIns="0" tIns="18288" bIns="18288" anchor="ctr">
            <a:spAutoFit/>
          </a:bodyPr>
          <a:lstStyle/>
          <a:p>
            <a:pPr algn="l"/>
            <a:r>
              <a:rPr sz="1100" b="0" i="0">
                <a:solidFill>
                  <a:srgbClr val="1B1B1B"/>
                </a:solidFill>
              </a:rPr>
              <a:t>PP ve PE torbaların «geri dönüşüm için tasarım» kriterlerine uygun üretilmesi sonucu EPR kapsamında indirimli finansal katkı paylarından yararlanılması ve rakiplere karşı operasyonel maliyet avantajı sağlanması</a:t>
            </a:r>
          </a:p>
        </p:txBody>
      </p:sp>
      <p:sp>
        <p:nvSpPr>
          <p:cNvPr id="22" name="Satır Zemini"/>
          <p:cNvSpPr/>
          <p:nvPr/>
        </p:nvSpPr>
        <p:spPr>
          <a:xfrm>
            <a:off x="6309360" y="2660904"/>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23" name="Rozet Zemini"/>
          <p:cNvSpPr/>
          <p:nvPr/>
        </p:nvSpPr>
        <p:spPr>
          <a:xfrm>
            <a:off x="6419088" y="2770632"/>
            <a:ext cx="603504" cy="603504"/>
          </a:xfrm>
          <a:prstGeom prst="ellipse">
            <a:avLst/>
          </a:prstGeom>
          <a:solidFill>
            <a:srgbClr val="E5F1EA"/>
          </a:solidFill>
          <a:ln w="15875">
            <a:solidFill>
              <a:srgbClr val="005C2A"/>
            </a:solidFill>
          </a:ln>
        </p:spPr>
        <p:txBody>
          <a:bodyPr rtlCol="0" anchor="ctr"/>
          <a:lstStyle/>
          <a:p/>
        </p:txBody>
      </p:sp>
      <p:pic>
        <p:nvPicPr>
          <p:cNvPr id="24" name="Picture 23" descr="FaSyncAlt_green.png"/>
          <p:cNvPicPr>
            <a:picLocks noChangeAspect="1"/>
          </p:cNvPicPr>
          <p:nvPr/>
        </p:nvPicPr>
        <p:blipFill>
          <a:blip r:embed="rId4"/>
          <a:stretch>
            <a:fillRect/>
          </a:stretch>
        </p:blipFill>
        <p:spPr>
          <a:xfrm>
            <a:off x="6565392" y="2916936"/>
            <a:ext cx="310896" cy="310896"/>
          </a:xfrm>
          <a:prstGeom prst="rect">
            <a:avLst/>
          </a:prstGeom>
        </p:spPr>
      </p:pic>
      <p:sp>
        <p:nvSpPr>
          <p:cNvPr id="25" name="Satır Metni"/>
          <p:cNvSpPr txBox="1"/>
          <p:nvPr/>
        </p:nvSpPr>
        <p:spPr>
          <a:xfrm>
            <a:off x="7150608" y="2697480"/>
            <a:ext cx="4617720" cy="749808"/>
          </a:xfrm>
          <a:prstGeom prst="rect">
            <a:avLst/>
          </a:prstGeom>
          <a:noFill/>
        </p:spPr>
        <p:txBody>
          <a:bodyPr wrap="square" lIns="0" rIns="0" tIns="18288" bIns="18288" anchor="ctr">
            <a:spAutoFit/>
          </a:bodyPr>
          <a:lstStyle/>
          <a:p>
            <a:pPr algn="l"/>
            <a:r>
              <a:rPr sz="1100" b="0" i="0">
                <a:solidFill>
                  <a:srgbClr val="1B1B1B"/>
                </a:solidFill>
              </a:rPr>
              <a:t>PP ve PE plastiklerin yüksek kalitede geri dönüştürülebilmesi nedeniyle ikincil hammaddelerin ambalaj süreçlerine yeniden entegre edilmesi; fosil kaynaklı hammadde ihtiyacının, dışa bağımlılığın ve fiyat dalgalanması risklerinin azalması</a:t>
            </a:r>
          </a:p>
        </p:txBody>
      </p:sp>
      <p:sp>
        <p:nvSpPr>
          <p:cNvPr id="26" name="Satır Zemini"/>
          <p:cNvSpPr/>
          <p:nvPr/>
        </p:nvSpPr>
        <p:spPr>
          <a:xfrm>
            <a:off x="6309360" y="3538728"/>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27" name="Rozet Zemini"/>
          <p:cNvSpPr/>
          <p:nvPr/>
        </p:nvSpPr>
        <p:spPr>
          <a:xfrm>
            <a:off x="6419088" y="3648456"/>
            <a:ext cx="603504" cy="603504"/>
          </a:xfrm>
          <a:prstGeom prst="ellipse">
            <a:avLst/>
          </a:prstGeom>
          <a:solidFill>
            <a:srgbClr val="E5F1EA"/>
          </a:solidFill>
          <a:ln w="15875">
            <a:solidFill>
              <a:srgbClr val="005C2A"/>
            </a:solidFill>
          </a:ln>
        </p:spPr>
        <p:txBody>
          <a:bodyPr rtlCol="0" anchor="ctr"/>
          <a:lstStyle/>
          <a:p/>
        </p:txBody>
      </p:sp>
      <p:pic>
        <p:nvPicPr>
          <p:cNvPr id="28" name="Picture 27" descr="FaAward_green.png"/>
          <p:cNvPicPr>
            <a:picLocks noChangeAspect="1"/>
          </p:cNvPicPr>
          <p:nvPr/>
        </p:nvPicPr>
        <p:blipFill>
          <a:blip r:embed="rId5"/>
          <a:stretch>
            <a:fillRect/>
          </a:stretch>
        </p:blipFill>
        <p:spPr>
          <a:xfrm>
            <a:off x="6565392" y="3794760"/>
            <a:ext cx="310896" cy="310896"/>
          </a:xfrm>
          <a:prstGeom prst="rect">
            <a:avLst/>
          </a:prstGeom>
        </p:spPr>
      </p:pic>
      <p:sp>
        <p:nvSpPr>
          <p:cNvPr id="29" name="Satır Metni"/>
          <p:cNvSpPr txBox="1"/>
          <p:nvPr/>
        </p:nvSpPr>
        <p:spPr>
          <a:xfrm>
            <a:off x="7150608" y="3575304"/>
            <a:ext cx="4617720" cy="749808"/>
          </a:xfrm>
          <a:prstGeom prst="rect">
            <a:avLst/>
          </a:prstGeom>
          <a:noFill/>
        </p:spPr>
        <p:txBody>
          <a:bodyPr wrap="square" lIns="0" rIns="0" tIns="18288" bIns="18288" anchor="ctr">
            <a:spAutoFit/>
          </a:bodyPr>
          <a:lstStyle/>
          <a:p>
            <a:pPr algn="l"/>
            <a:r>
              <a:rPr sz="1100" b="0" i="0">
                <a:solidFill>
                  <a:srgbClr val="1B1B1B"/>
                </a:solidFill>
              </a:rPr>
              <a:t>Sürdürülebilir torba tasarımlarıyla «yeşil kamu alımı» standartlarının karşılanması sonucunda büyük ölçekli sözleşmelerde ve tedarik süreçlerinde stratejik rekabet avantajı kazanılması</a:t>
            </a:r>
          </a:p>
        </p:txBody>
      </p:sp>
      <p:cxnSp>
        <p:nvCxnSpPr>
          <p:cNvPr id="30" name="Connector 29"/>
          <p:cNvCxnSpPr/>
          <p:nvPr/>
        </p:nvCxnSpPr>
        <p:spPr>
          <a:xfrm>
            <a:off x="274320" y="4507992"/>
            <a:ext cx="11567160" cy="0"/>
          </a:xfrm>
          <a:prstGeom prst="line">
            <a:avLst/>
          </a:prstGeom>
          <a:ln w="12700">
            <a:solidFill>
              <a:srgbClr val="9AA5B1"/>
            </a:solidFill>
            <a:prstDash val="dash"/>
          </a:ln>
        </p:spPr>
      </p:cxnSp>
      <p:sp>
        <p:nvSpPr>
          <p:cNvPr id="31" name="Aksiyon Etiketi"/>
          <p:cNvSpPr/>
          <p:nvPr/>
        </p:nvSpPr>
        <p:spPr>
          <a:xfrm>
            <a:off x="274320" y="4617720"/>
            <a:ext cx="1600200" cy="1764792"/>
          </a:xfrm>
          <a:prstGeom prst="roundRect">
            <a:avLst>
              <a:gd name="adj" fmla="val 6857"/>
            </a:avLst>
          </a:prstGeom>
          <a:solidFill>
            <a:srgbClr val="264E70"/>
          </a:solidFill>
          <a:ln>
            <a:noFill/>
          </a:ln>
          <a:effectLst>
            <a:outerShdw blurRad="63500" dist="38100" dir="2700000" algn="tl" rotWithShape="0">
              <a:srgbClr val="000000">
                <a:alpha val="35000"/>
              </a:srgbClr>
            </a:outerShdw>
          </a:effectLst>
        </p:spPr>
        <p:txBody>
          <a:bodyPr rtlCol="0" anchor="ctr"/>
          <a:lstStyle/>
          <a:p/>
        </p:txBody>
      </p:sp>
      <p:pic>
        <p:nvPicPr>
          <p:cNvPr id="32" name="Picture 31" descr="FaClipboardCheck_white.png"/>
          <p:cNvPicPr>
            <a:picLocks noChangeAspect="1"/>
          </p:cNvPicPr>
          <p:nvPr/>
        </p:nvPicPr>
        <p:blipFill>
          <a:blip r:embed="rId6"/>
          <a:stretch>
            <a:fillRect/>
          </a:stretch>
        </p:blipFill>
        <p:spPr>
          <a:xfrm>
            <a:off x="841247" y="4800600"/>
            <a:ext cx="457200" cy="457200"/>
          </a:xfrm>
          <a:prstGeom prst="rect">
            <a:avLst/>
          </a:prstGeom>
        </p:spPr>
      </p:pic>
      <p:sp>
        <p:nvSpPr>
          <p:cNvPr id="33" name="Aksiyon Etiketi Metni"/>
          <p:cNvSpPr txBox="1"/>
          <p:nvPr/>
        </p:nvSpPr>
        <p:spPr>
          <a:xfrm>
            <a:off x="320040" y="5349240"/>
            <a:ext cx="1508760" cy="822960"/>
          </a:xfrm>
          <a:prstGeom prst="rect">
            <a:avLst/>
          </a:prstGeom>
          <a:noFill/>
        </p:spPr>
        <p:txBody>
          <a:bodyPr wrap="square" lIns="0" rIns="0" tIns="18288" bIns="18288" anchor="t">
            <a:spAutoFit/>
          </a:bodyPr>
          <a:lstStyle/>
          <a:p>
            <a:pPr algn="ctr"/>
            <a:r>
              <a:rPr sz="1500" b="1" i="0">
                <a:solidFill>
                  <a:srgbClr val="FFFFFF"/>
                </a:solidFill>
              </a:rPr>
              <a:t>AKSİYONLAR</a:t>
            </a:r>
          </a:p>
        </p:txBody>
      </p:sp>
      <p:sp>
        <p:nvSpPr>
          <p:cNvPr id="34" name="Rounded Rectangle 33"/>
          <p:cNvSpPr/>
          <p:nvPr/>
        </p:nvSpPr>
        <p:spPr>
          <a:xfrm>
            <a:off x="2057400" y="4617720"/>
            <a:ext cx="480060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DEVAM EDEN AKSİYONLAR</a:t>
            </a:r>
          </a:p>
        </p:txBody>
      </p:sp>
      <p:sp>
        <p:nvSpPr>
          <p:cNvPr id="35" name="Aksiyon Alanı"/>
          <p:cNvSpPr/>
          <p:nvPr/>
        </p:nvSpPr>
        <p:spPr>
          <a:xfrm>
            <a:off x="2057400" y="5010912"/>
            <a:ext cx="4800600" cy="1371600"/>
          </a:xfrm>
          <a:prstGeom prst="roundRect">
            <a:avLst>
              <a:gd name="adj" fmla="val 6666"/>
            </a:avLst>
          </a:prstGeom>
          <a:solidFill>
            <a:srgbClr val="FFFFFF"/>
          </a:solidFill>
          <a:ln w="12700">
            <a:solidFill>
              <a:srgbClr val="9AA5B1"/>
            </a:solidFill>
            <a:prstDash val="dash"/>
          </a:ln>
        </p:spPr>
        <p:txBody>
          <a:bodyPr rtlCol="0" anchor="ctr"/>
          <a:lstStyle/>
          <a:p/>
        </p:txBody>
      </p:sp>
      <p:sp>
        <p:nvSpPr>
          <p:cNvPr id="36" name="Aksiyon No"/>
          <p:cNvSpPr/>
          <p:nvPr/>
        </p:nvSpPr>
        <p:spPr>
          <a:xfrm>
            <a:off x="2240280" y="5157216"/>
            <a:ext cx="274320" cy="274320"/>
          </a:xfrm>
          <a:prstGeom prst="ellipse">
            <a:avLst/>
          </a:prstGeom>
          <a:solidFill>
            <a:srgbClr val="DCE6F2"/>
          </a:solidFill>
          <a:ln>
            <a:noFill/>
          </a:ln>
        </p:spPr>
        <p:txBody>
          <a:bodyPr rtlCol="0" anchor="ctr"/>
          <a:lstStyle/>
          <a:p/>
        </p:txBody>
      </p:sp>
      <p:sp>
        <p:nvSpPr>
          <p:cNvPr id="37" name="Aksiyon No Metni"/>
          <p:cNvSpPr txBox="1"/>
          <p:nvPr/>
        </p:nvSpPr>
        <p:spPr>
          <a:xfrm>
            <a:off x="2240280" y="5157216"/>
            <a:ext cx="274320" cy="274320"/>
          </a:xfrm>
          <a:prstGeom prst="rect">
            <a:avLst/>
          </a:prstGeom>
          <a:noFill/>
        </p:spPr>
        <p:txBody>
          <a:bodyPr wrap="square" lIns="0" rIns="0" tIns="18288" bIns="18288" anchor="ctr">
            <a:spAutoFit/>
          </a:bodyPr>
          <a:lstStyle/>
          <a:p>
            <a:pPr algn="ctr"/>
            <a:r>
              <a:rPr sz="1000" b="1" i="0">
                <a:solidFill>
                  <a:srgbClr val="264E70"/>
                </a:solidFill>
              </a:rPr>
              <a:t>1</a:t>
            </a:r>
          </a:p>
        </p:txBody>
      </p:sp>
      <p:cxnSp>
        <p:nvCxnSpPr>
          <p:cNvPr id="38" name="Connector 37"/>
          <p:cNvCxnSpPr/>
          <p:nvPr/>
        </p:nvCxnSpPr>
        <p:spPr>
          <a:xfrm>
            <a:off x="2651760" y="5394960"/>
            <a:ext cx="4023360" cy="0"/>
          </a:xfrm>
          <a:prstGeom prst="line">
            <a:avLst/>
          </a:prstGeom>
          <a:ln w="9525">
            <a:solidFill>
              <a:srgbClr val="C9D2DB"/>
            </a:solidFill>
          </a:ln>
        </p:spPr>
      </p:cxnSp>
      <p:sp>
        <p:nvSpPr>
          <p:cNvPr id="39" name="Aksiyon No"/>
          <p:cNvSpPr/>
          <p:nvPr/>
        </p:nvSpPr>
        <p:spPr>
          <a:xfrm>
            <a:off x="2240280" y="5559552"/>
            <a:ext cx="274320" cy="274320"/>
          </a:xfrm>
          <a:prstGeom prst="ellipse">
            <a:avLst/>
          </a:prstGeom>
          <a:solidFill>
            <a:srgbClr val="DCE6F2"/>
          </a:solidFill>
          <a:ln>
            <a:noFill/>
          </a:ln>
        </p:spPr>
        <p:txBody>
          <a:bodyPr rtlCol="0" anchor="ctr"/>
          <a:lstStyle/>
          <a:p/>
        </p:txBody>
      </p:sp>
      <p:sp>
        <p:nvSpPr>
          <p:cNvPr id="40" name="Aksiyon No Metni"/>
          <p:cNvSpPr txBox="1"/>
          <p:nvPr/>
        </p:nvSpPr>
        <p:spPr>
          <a:xfrm>
            <a:off x="2240280" y="5559552"/>
            <a:ext cx="274320" cy="274320"/>
          </a:xfrm>
          <a:prstGeom prst="rect">
            <a:avLst/>
          </a:prstGeom>
          <a:noFill/>
        </p:spPr>
        <p:txBody>
          <a:bodyPr wrap="square" lIns="0" rIns="0" tIns="18288" bIns="18288" anchor="ctr">
            <a:spAutoFit/>
          </a:bodyPr>
          <a:lstStyle/>
          <a:p>
            <a:pPr algn="ctr"/>
            <a:r>
              <a:rPr sz="1000" b="1" i="0">
                <a:solidFill>
                  <a:srgbClr val="264E70"/>
                </a:solidFill>
              </a:rPr>
              <a:t>2</a:t>
            </a:r>
          </a:p>
        </p:txBody>
      </p:sp>
      <p:cxnSp>
        <p:nvCxnSpPr>
          <p:cNvPr id="41" name="Connector 40"/>
          <p:cNvCxnSpPr/>
          <p:nvPr/>
        </p:nvCxnSpPr>
        <p:spPr>
          <a:xfrm>
            <a:off x="2651760" y="5797296"/>
            <a:ext cx="4023360" cy="0"/>
          </a:xfrm>
          <a:prstGeom prst="line">
            <a:avLst/>
          </a:prstGeom>
          <a:ln w="9525">
            <a:solidFill>
              <a:srgbClr val="C9D2DB"/>
            </a:solidFill>
          </a:ln>
        </p:spPr>
      </p:cxnSp>
      <p:sp>
        <p:nvSpPr>
          <p:cNvPr id="42" name="Aksiyon No"/>
          <p:cNvSpPr/>
          <p:nvPr/>
        </p:nvSpPr>
        <p:spPr>
          <a:xfrm>
            <a:off x="2240280" y="5961888"/>
            <a:ext cx="274320" cy="274320"/>
          </a:xfrm>
          <a:prstGeom prst="ellipse">
            <a:avLst/>
          </a:prstGeom>
          <a:solidFill>
            <a:srgbClr val="DCE6F2"/>
          </a:solidFill>
          <a:ln>
            <a:noFill/>
          </a:ln>
        </p:spPr>
        <p:txBody>
          <a:bodyPr rtlCol="0" anchor="ctr"/>
          <a:lstStyle/>
          <a:p/>
        </p:txBody>
      </p:sp>
      <p:sp>
        <p:nvSpPr>
          <p:cNvPr id="43" name="Aksiyon No Metni"/>
          <p:cNvSpPr txBox="1"/>
          <p:nvPr/>
        </p:nvSpPr>
        <p:spPr>
          <a:xfrm>
            <a:off x="2240280" y="5961888"/>
            <a:ext cx="274320" cy="274320"/>
          </a:xfrm>
          <a:prstGeom prst="rect">
            <a:avLst/>
          </a:prstGeom>
          <a:noFill/>
        </p:spPr>
        <p:txBody>
          <a:bodyPr wrap="square" lIns="0" rIns="0" tIns="18288" bIns="18288" anchor="ctr">
            <a:spAutoFit/>
          </a:bodyPr>
          <a:lstStyle/>
          <a:p>
            <a:pPr algn="ctr"/>
            <a:r>
              <a:rPr sz="1000" b="1" i="0">
                <a:solidFill>
                  <a:srgbClr val="264E70"/>
                </a:solidFill>
              </a:rPr>
              <a:t>3</a:t>
            </a:r>
          </a:p>
        </p:txBody>
      </p:sp>
      <p:cxnSp>
        <p:nvCxnSpPr>
          <p:cNvPr id="44" name="Connector 43"/>
          <p:cNvCxnSpPr/>
          <p:nvPr/>
        </p:nvCxnSpPr>
        <p:spPr>
          <a:xfrm>
            <a:off x="2651760" y="6199632"/>
            <a:ext cx="4023360" cy="0"/>
          </a:xfrm>
          <a:prstGeom prst="line">
            <a:avLst/>
          </a:prstGeom>
          <a:ln w="9525">
            <a:solidFill>
              <a:srgbClr val="C9D2DB"/>
            </a:solidFill>
          </a:ln>
        </p:spPr>
      </p:cxnSp>
      <p:sp>
        <p:nvSpPr>
          <p:cNvPr id="45" name="Aksiyon Yer Tutucu"/>
          <p:cNvSpPr txBox="1"/>
          <p:nvPr/>
        </p:nvSpPr>
        <p:spPr>
          <a:xfrm>
            <a:off x="2651760" y="5138928"/>
            <a:ext cx="4023360" cy="256032"/>
          </a:xfrm>
          <a:prstGeom prst="rect">
            <a:avLst/>
          </a:prstGeom>
          <a:noFill/>
        </p:spPr>
        <p:txBody>
          <a:bodyPr wrap="square" lIns="0" rIns="0" tIns="18288" bIns="18288" anchor="ctr">
            <a:spAutoFit/>
          </a:bodyPr>
          <a:lstStyle/>
          <a:p>
            <a:pPr algn="l"/>
            <a:r>
              <a:rPr sz="1050" b="0" i="1">
                <a:solidFill>
                  <a:srgbClr val="7F8C99"/>
                </a:solidFill>
              </a:rPr>
              <a:t>Aksiyonlar eklenecek</a:t>
            </a:r>
          </a:p>
        </p:txBody>
      </p:sp>
      <p:sp>
        <p:nvSpPr>
          <p:cNvPr id="46" name="Rounded Rectangle 45"/>
          <p:cNvSpPr/>
          <p:nvPr/>
        </p:nvSpPr>
        <p:spPr>
          <a:xfrm>
            <a:off x="7040880" y="4617720"/>
            <a:ext cx="480060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TAMAMLANAN AKSİYONLAR</a:t>
            </a:r>
          </a:p>
        </p:txBody>
      </p:sp>
      <p:sp>
        <p:nvSpPr>
          <p:cNvPr id="47" name="Aksiyon Alanı"/>
          <p:cNvSpPr/>
          <p:nvPr/>
        </p:nvSpPr>
        <p:spPr>
          <a:xfrm>
            <a:off x="7040880" y="5010912"/>
            <a:ext cx="4800600" cy="1371600"/>
          </a:xfrm>
          <a:prstGeom prst="roundRect">
            <a:avLst>
              <a:gd name="adj" fmla="val 6666"/>
            </a:avLst>
          </a:prstGeom>
          <a:solidFill>
            <a:srgbClr val="FFFFFF"/>
          </a:solidFill>
          <a:ln w="12700">
            <a:solidFill>
              <a:srgbClr val="9AA5B1"/>
            </a:solidFill>
            <a:prstDash val="dash"/>
          </a:ln>
        </p:spPr>
        <p:txBody>
          <a:bodyPr rtlCol="0" anchor="ctr"/>
          <a:lstStyle/>
          <a:p/>
        </p:txBody>
      </p:sp>
      <p:sp>
        <p:nvSpPr>
          <p:cNvPr id="48" name="Aksiyon No"/>
          <p:cNvSpPr/>
          <p:nvPr/>
        </p:nvSpPr>
        <p:spPr>
          <a:xfrm>
            <a:off x="7223760" y="5157216"/>
            <a:ext cx="274320" cy="274320"/>
          </a:xfrm>
          <a:prstGeom prst="ellipse">
            <a:avLst/>
          </a:prstGeom>
          <a:solidFill>
            <a:srgbClr val="DCE6F2"/>
          </a:solidFill>
          <a:ln>
            <a:noFill/>
          </a:ln>
        </p:spPr>
        <p:txBody>
          <a:bodyPr rtlCol="0" anchor="ctr"/>
          <a:lstStyle/>
          <a:p/>
        </p:txBody>
      </p:sp>
      <p:sp>
        <p:nvSpPr>
          <p:cNvPr id="49" name="Aksiyon No Metni"/>
          <p:cNvSpPr txBox="1"/>
          <p:nvPr/>
        </p:nvSpPr>
        <p:spPr>
          <a:xfrm>
            <a:off x="7223760" y="5157216"/>
            <a:ext cx="274320" cy="274320"/>
          </a:xfrm>
          <a:prstGeom prst="rect">
            <a:avLst/>
          </a:prstGeom>
          <a:noFill/>
        </p:spPr>
        <p:txBody>
          <a:bodyPr wrap="square" lIns="0" rIns="0" tIns="18288" bIns="18288" anchor="ctr">
            <a:spAutoFit/>
          </a:bodyPr>
          <a:lstStyle/>
          <a:p>
            <a:pPr algn="ctr"/>
            <a:r>
              <a:rPr sz="1000" b="1" i="0">
                <a:solidFill>
                  <a:srgbClr val="264E70"/>
                </a:solidFill>
              </a:rPr>
              <a:t>1</a:t>
            </a:r>
          </a:p>
        </p:txBody>
      </p:sp>
      <p:cxnSp>
        <p:nvCxnSpPr>
          <p:cNvPr id="50" name="Connector 49"/>
          <p:cNvCxnSpPr/>
          <p:nvPr/>
        </p:nvCxnSpPr>
        <p:spPr>
          <a:xfrm>
            <a:off x="7635240" y="5394960"/>
            <a:ext cx="4023360" cy="0"/>
          </a:xfrm>
          <a:prstGeom prst="line">
            <a:avLst/>
          </a:prstGeom>
          <a:ln w="9525">
            <a:solidFill>
              <a:srgbClr val="C9D2DB"/>
            </a:solidFill>
          </a:ln>
        </p:spPr>
      </p:cxnSp>
      <p:sp>
        <p:nvSpPr>
          <p:cNvPr id="51" name="Aksiyon No"/>
          <p:cNvSpPr/>
          <p:nvPr/>
        </p:nvSpPr>
        <p:spPr>
          <a:xfrm>
            <a:off x="7223760" y="5559552"/>
            <a:ext cx="274320" cy="274320"/>
          </a:xfrm>
          <a:prstGeom prst="ellipse">
            <a:avLst/>
          </a:prstGeom>
          <a:solidFill>
            <a:srgbClr val="DCE6F2"/>
          </a:solidFill>
          <a:ln>
            <a:noFill/>
          </a:ln>
        </p:spPr>
        <p:txBody>
          <a:bodyPr rtlCol="0" anchor="ctr"/>
          <a:lstStyle/>
          <a:p/>
        </p:txBody>
      </p:sp>
      <p:sp>
        <p:nvSpPr>
          <p:cNvPr id="52" name="Aksiyon No Metni"/>
          <p:cNvSpPr txBox="1"/>
          <p:nvPr/>
        </p:nvSpPr>
        <p:spPr>
          <a:xfrm>
            <a:off x="7223760" y="5559552"/>
            <a:ext cx="274320" cy="274320"/>
          </a:xfrm>
          <a:prstGeom prst="rect">
            <a:avLst/>
          </a:prstGeom>
          <a:noFill/>
        </p:spPr>
        <p:txBody>
          <a:bodyPr wrap="square" lIns="0" rIns="0" tIns="18288" bIns="18288" anchor="ctr">
            <a:spAutoFit/>
          </a:bodyPr>
          <a:lstStyle/>
          <a:p>
            <a:pPr algn="ctr"/>
            <a:r>
              <a:rPr sz="1000" b="1" i="0">
                <a:solidFill>
                  <a:srgbClr val="264E70"/>
                </a:solidFill>
              </a:rPr>
              <a:t>2</a:t>
            </a:r>
          </a:p>
        </p:txBody>
      </p:sp>
      <p:cxnSp>
        <p:nvCxnSpPr>
          <p:cNvPr id="53" name="Connector 52"/>
          <p:cNvCxnSpPr/>
          <p:nvPr/>
        </p:nvCxnSpPr>
        <p:spPr>
          <a:xfrm>
            <a:off x="7635240" y="5797296"/>
            <a:ext cx="4023360" cy="0"/>
          </a:xfrm>
          <a:prstGeom prst="line">
            <a:avLst/>
          </a:prstGeom>
          <a:ln w="9525">
            <a:solidFill>
              <a:srgbClr val="C9D2DB"/>
            </a:solidFill>
          </a:ln>
        </p:spPr>
      </p:cxnSp>
      <p:sp>
        <p:nvSpPr>
          <p:cNvPr id="54" name="Aksiyon No"/>
          <p:cNvSpPr/>
          <p:nvPr/>
        </p:nvSpPr>
        <p:spPr>
          <a:xfrm>
            <a:off x="7223760" y="5961888"/>
            <a:ext cx="274320" cy="274320"/>
          </a:xfrm>
          <a:prstGeom prst="ellipse">
            <a:avLst/>
          </a:prstGeom>
          <a:solidFill>
            <a:srgbClr val="DCE6F2"/>
          </a:solidFill>
          <a:ln>
            <a:noFill/>
          </a:ln>
        </p:spPr>
        <p:txBody>
          <a:bodyPr rtlCol="0" anchor="ctr"/>
          <a:lstStyle/>
          <a:p/>
        </p:txBody>
      </p:sp>
      <p:sp>
        <p:nvSpPr>
          <p:cNvPr id="55" name="Aksiyon No Metni"/>
          <p:cNvSpPr txBox="1"/>
          <p:nvPr/>
        </p:nvSpPr>
        <p:spPr>
          <a:xfrm>
            <a:off x="7223760" y="5961888"/>
            <a:ext cx="274320" cy="274320"/>
          </a:xfrm>
          <a:prstGeom prst="rect">
            <a:avLst/>
          </a:prstGeom>
          <a:noFill/>
        </p:spPr>
        <p:txBody>
          <a:bodyPr wrap="square" lIns="0" rIns="0" tIns="18288" bIns="18288" anchor="ctr">
            <a:spAutoFit/>
          </a:bodyPr>
          <a:lstStyle/>
          <a:p>
            <a:pPr algn="ctr"/>
            <a:r>
              <a:rPr sz="1000" b="1" i="0">
                <a:solidFill>
                  <a:srgbClr val="264E70"/>
                </a:solidFill>
              </a:rPr>
              <a:t>3</a:t>
            </a:r>
          </a:p>
        </p:txBody>
      </p:sp>
      <p:cxnSp>
        <p:nvCxnSpPr>
          <p:cNvPr id="56" name="Connector 55"/>
          <p:cNvCxnSpPr/>
          <p:nvPr/>
        </p:nvCxnSpPr>
        <p:spPr>
          <a:xfrm>
            <a:off x="7635240" y="6199632"/>
            <a:ext cx="4023360" cy="0"/>
          </a:xfrm>
          <a:prstGeom prst="line">
            <a:avLst/>
          </a:prstGeom>
          <a:ln w="9525">
            <a:solidFill>
              <a:srgbClr val="C9D2DB"/>
            </a:solidFill>
          </a:ln>
        </p:spPr>
      </p:cxnSp>
      <p:sp>
        <p:nvSpPr>
          <p:cNvPr id="57" name="Aksiyon Yer Tutucu"/>
          <p:cNvSpPr txBox="1"/>
          <p:nvPr/>
        </p:nvSpPr>
        <p:spPr>
          <a:xfrm>
            <a:off x="7635240" y="5138928"/>
            <a:ext cx="4023360" cy="256032"/>
          </a:xfrm>
          <a:prstGeom prst="rect">
            <a:avLst/>
          </a:prstGeom>
          <a:noFill/>
        </p:spPr>
        <p:txBody>
          <a:bodyPr wrap="square" lIns="0" rIns="0" tIns="18288" bIns="18288" anchor="ctr">
            <a:spAutoFit/>
          </a:bodyPr>
          <a:lstStyle/>
          <a:p>
            <a:pPr algn="l"/>
            <a:r>
              <a:rPr sz="1050" b="0" i="1">
                <a:solidFill>
                  <a:srgbClr val="7F8C99"/>
                </a:solidFill>
              </a:rPr>
              <a:t>Aksiyonlar eklenecek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i="1" lang="tr-TR"/>
              <a:t>Sıfır Atık Yönetmeliği</a:t>
            </a:r>
          </a:p>
        </p:txBody>
      </p:sp>
      <p:sp>
        <p:nvSpPr>
          <p:cNvPr id="4" name="Slayt Numarası Yer Tutucusu 3">
            <a:extLst>
              <a:ext uri="{FF2B5EF4-FFF2-40B4-BE49-F238E27FC236}">
                <a16:creationId xmlns:a16="http://schemas.microsoft.com/office/drawing/2014/main" id="{64D39679-45B4-9C02-77DE-31552745A3E2}"/>
              </a:ext>
            </a:extLst>
          </p:cNvPr>
          <p:cNvSpPr>
            <a:spLocks noGrp="1"/>
          </p:cNvSpPr>
          <p:nvPr>
            <p:ph type="sldNum" sz="quarter" idx="4"/>
          </p:nvPr>
        </p:nvSpPr>
        <p:spPr/>
        <p:txBody>
          <a:bodyPr/>
          <a:lstStyle/>
          <a:p>
            <a:fld id="{42CA6F85-893A-4FE1-8820-DAA50ABDC7DA}" type="slidenum">
              <a:rPr lang="tr-TR" smtClean="0"/>
              <a:pPr/>
              <a:t>7</a:t>
            </a:fld>
            <a:endParaRPr lang="tr-TR"/>
          </a:p>
        </p:txBody>
      </p:sp>
      <p:sp>
        <p:nvSpPr>
          <p:cNvPr id="5" name="Genel Bilgi Kutusu"/>
          <p:cNvSpPr/>
          <p:nvPr/>
        </p:nvSpPr>
        <p:spPr>
          <a:xfrm>
            <a:off x="274320" y="896112"/>
            <a:ext cx="11567159" cy="914400"/>
          </a:xfrm>
          <a:prstGeom prst="rect">
            <a:avLst/>
          </a:prstGeom>
          <a:solidFill>
            <a:srgbClr val="FFFFFF"/>
          </a:solidFill>
          <a:ln w="12700">
            <a:solidFill>
              <a:srgbClr val="3A3A3A"/>
            </a:solidFill>
          </a:ln>
        </p:spPr>
        <p:txBody>
          <a:bodyPr rtlCol="0" anchor="ctr"/>
          <a:lstStyle/>
          <a:p/>
        </p:txBody>
      </p:sp>
      <p:pic>
        <p:nvPicPr>
          <p:cNvPr id="6" name="Picture 5" descr="FaInfoCircle_navy.png"/>
          <p:cNvPicPr>
            <a:picLocks noChangeAspect="1"/>
          </p:cNvPicPr>
          <p:nvPr/>
        </p:nvPicPr>
        <p:blipFill>
          <a:blip r:embed="rId3"/>
          <a:stretch>
            <a:fillRect/>
          </a:stretch>
        </p:blipFill>
        <p:spPr>
          <a:xfrm>
            <a:off x="457200" y="1069848"/>
            <a:ext cx="566928" cy="566928"/>
          </a:xfrm>
          <a:prstGeom prst="rect">
            <a:avLst/>
          </a:prstGeom>
        </p:spPr>
      </p:pic>
      <p:sp>
        <p:nvSpPr>
          <p:cNvPr id="7" name="Genel Bilgi Metni"/>
          <p:cNvSpPr txBox="1"/>
          <p:nvPr/>
        </p:nvSpPr>
        <p:spPr>
          <a:xfrm>
            <a:off x="1325880" y="950976"/>
            <a:ext cx="10332719" cy="804672"/>
          </a:xfrm>
          <a:prstGeom prst="rect">
            <a:avLst/>
          </a:prstGeom>
          <a:noFill/>
        </p:spPr>
        <p:txBody>
          <a:bodyPr wrap="square" lIns="0" rIns="0" tIns="18288" bIns="18288" anchor="ctr">
            <a:spAutoFit/>
          </a:bodyPr>
          <a:lstStyle/>
          <a:p>
            <a:pPr algn="l" marL="219456" indent="-219456">
              <a:spcAft>
                <a:spcPts val="300"/>
              </a:spcAft>
              <a:buClr>
                <a:srgbClr val="264E70"/>
              </a:buClr>
              <a:buFont typeface="Wingdings" pitchFamily="2" charset="2"/>
              <a:buChar char="Ø"/>
            </a:pPr>
            <a:r>
              <a:rPr sz="1250" b="1" i="0">
                <a:solidFill>
                  <a:srgbClr val="1B1B1B"/>
                </a:solidFill>
              </a:rPr>
              <a:t>Sıfır Atık Yönetmeliği, 12.07.2019 tarih ve 30829 Sayılı Resmi Gazete’de</a:t>
            </a:r>
            <a:r>
              <a:rPr sz="1250" b="0" i="0">
                <a:solidFill>
                  <a:srgbClr val="1B1B1B"/>
                </a:solidFill>
              </a:rPr>
              <a:t> yayımlanmıştır.</a:t>
            </a:r>
          </a:p>
          <a:p>
            <a:pPr algn="l" marL="219456" indent="-219456">
              <a:spcAft>
                <a:spcPts val="300"/>
              </a:spcAft>
              <a:buClr>
                <a:srgbClr val="264E70"/>
              </a:buClr>
              <a:buFont typeface="Wingdings" pitchFamily="2" charset="2"/>
              <a:buChar char="Ø"/>
            </a:pPr>
            <a:r>
              <a:rPr sz="1250" b="0" i="0">
                <a:solidFill>
                  <a:srgbClr val="1B1B1B"/>
                </a:solidFill>
              </a:rPr>
              <a:t>Atık oluşumunun önlenmesi, azaltılması, kaynağında ayrı toplanması ve geri kazanımına dayalı bir Sıfır Atık Yönetim Sisteminin kurulmasını ve yaygınlaştırılmasını amaçlar.</a:t>
            </a:r>
          </a:p>
        </p:txBody>
      </p:sp>
      <p:cxnSp>
        <p:nvCxnSpPr>
          <p:cNvPr id="8" name="Connector 7"/>
          <p:cNvCxnSpPr/>
          <p:nvPr/>
        </p:nvCxnSpPr>
        <p:spPr>
          <a:xfrm>
            <a:off x="274320" y="1901952"/>
            <a:ext cx="11567160" cy="0"/>
          </a:xfrm>
          <a:prstGeom prst="line">
            <a:avLst/>
          </a:prstGeom>
          <a:ln w="12700">
            <a:solidFill>
              <a:srgbClr val="9AA5B1"/>
            </a:solidFill>
            <a:prstDash val="dash"/>
          </a:ln>
        </p:spPr>
      </p:cxnSp>
      <p:sp>
        <p:nvSpPr>
          <p:cNvPr id="9" name="Rounded Rectangle 8"/>
          <p:cNvSpPr/>
          <p:nvPr/>
        </p:nvSpPr>
        <p:spPr>
          <a:xfrm>
            <a:off x="457200" y="1975104"/>
            <a:ext cx="530352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AMAÇ</a:t>
            </a:r>
          </a:p>
        </p:txBody>
      </p:sp>
      <p:sp>
        <p:nvSpPr>
          <p:cNvPr id="10" name="Amaç Kartı"/>
          <p:cNvSpPr/>
          <p:nvPr/>
        </p:nvSpPr>
        <p:spPr>
          <a:xfrm>
            <a:off x="274320" y="2395728"/>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1" name="Amaç İkon Zemini"/>
          <p:cNvSpPr/>
          <p:nvPr/>
        </p:nvSpPr>
        <p:spPr>
          <a:xfrm>
            <a:off x="384048" y="2478024"/>
            <a:ext cx="493776" cy="493776"/>
          </a:xfrm>
          <a:prstGeom prst="ellipse">
            <a:avLst/>
          </a:prstGeom>
          <a:solidFill>
            <a:srgbClr val="264E70"/>
          </a:solidFill>
          <a:ln>
            <a:noFill/>
          </a:ln>
        </p:spPr>
        <p:txBody>
          <a:bodyPr rtlCol="0" anchor="ctr"/>
          <a:lstStyle/>
          <a:p/>
        </p:txBody>
      </p:sp>
      <p:pic>
        <p:nvPicPr>
          <p:cNvPr id="12" name="Picture 11" descr="FaLeaf_white.png"/>
          <p:cNvPicPr>
            <a:picLocks noChangeAspect="1"/>
          </p:cNvPicPr>
          <p:nvPr/>
        </p:nvPicPr>
        <p:blipFill>
          <a:blip r:embed="rId4"/>
          <a:stretch>
            <a:fillRect/>
          </a:stretch>
        </p:blipFill>
        <p:spPr>
          <a:xfrm>
            <a:off x="502920" y="2596896"/>
            <a:ext cx="256032" cy="256032"/>
          </a:xfrm>
          <a:prstGeom prst="rect">
            <a:avLst/>
          </a:prstGeom>
        </p:spPr>
      </p:pic>
      <p:sp>
        <p:nvSpPr>
          <p:cNvPr id="13" name="Amaç Metni"/>
          <p:cNvSpPr txBox="1"/>
          <p:nvPr/>
        </p:nvSpPr>
        <p:spPr>
          <a:xfrm>
            <a:off x="1024127" y="2432304"/>
            <a:ext cx="4709160" cy="585216"/>
          </a:xfrm>
          <a:prstGeom prst="rect">
            <a:avLst/>
          </a:prstGeom>
          <a:noFill/>
        </p:spPr>
        <p:txBody>
          <a:bodyPr wrap="square" lIns="0" rIns="0" tIns="18288" bIns="18288" anchor="ctr">
            <a:spAutoFit/>
          </a:bodyPr>
          <a:lstStyle/>
          <a:p>
            <a:pPr algn="l"/>
            <a:r>
              <a:rPr sz="1300" b="0" i="0">
                <a:solidFill>
                  <a:srgbClr val="1B1B1B"/>
                </a:solidFill>
              </a:rPr>
              <a:t>Atık oluşumunun önlenmesi ve azaltılması</a:t>
            </a:r>
          </a:p>
        </p:txBody>
      </p:sp>
      <p:sp>
        <p:nvSpPr>
          <p:cNvPr id="14" name="Amaç Kartı"/>
          <p:cNvSpPr/>
          <p:nvPr/>
        </p:nvSpPr>
        <p:spPr>
          <a:xfrm>
            <a:off x="274320" y="3163824"/>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5" name="Amaç İkon Zemini"/>
          <p:cNvSpPr/>
          <p:nvPr/>
        </p:nvSpPr>
        <p:spPr>
          <a:xfrm>
            <a:off x="384048" y="3246120"/>
            <a:ext cx="493776" cy="493776"/>
          </a:xfrm>
          <a:prstGeom prst="ellipse">
            <a:avLst/>
          </a:prstGeom>
          <a:solidFill>
            <a:srgbClr val="264E70"/>
          </a:solidFill>
          <a:ln>
            <a:noFill/>
          </a:ln>
        </p:spPr>
        <p:txBody>
          <a:bodyPr rtlCol="0" anchor="ctr"/>
          <a:lstStyle/>
          <a:p/>
        </p:txBody>
      </p:sp>
      <p:pic>
        <p:nvPicPr>
          <p:cNvPr id="16" name="Picture 15" descr="FaRecycle_white.png"/>
          <p:cNvPicPr>
            <a:picLocks noChangeAspect="1"/>
          </p:cNvPicPr>
          <p:nvPr/>
        </p:nvPicPr>
        <p:blipFill>
          <a:blip r:embed="rId5"/>
          <a:stretch>
            <a:fillRect/>
          </a:stretch>
        </p:blipFill>
        <p:spPr>
          <a:xfrm>
            <a:off x="502920" y="3364992"/>
            <a:ext cx="256032" cy="256032"/>
          </a:xfrm>
          <a:prstGeom prst="rect">
            <a:avLst/>
          </a:prstGeom>
        </p:spPr>
      </p:pic>
      <p:sp>
        <p:nvSpPr>
          <p:cNvPr id="17" name="Amaç Metni"/>
          <p:cNvSpPr txBox="1"/>
          <p:nvPr/>
        </p:nvSpPr>
        <p:spPr>
          <a:xfrm>
            <a:off x="1024127" y="3200400"/>
            <a:ext cx="4709160" cy="585216"/>
          </a:xfrm>
          <a:prstGeom prst="rect">
            <a:avLst/>
          </a:prstGeom>
          <a:noFill/>
        </p:spPr>
        <p:txBody>
          <a:bodyPr wrap="square" lIns="0" rIns="0" tIns="18288" bIns="18288" anchor="ctr">
            <a:spAutoFit/>
          </a:bodyPr>
          <a:lstStyle/>
          <a:p>
            <a:pPr algn="l"/>
            <a:r>
              <a:rPr sz="1300" b="0" i="0">
                <a:solidFill>
                  <a:srgbClr val="1B1B1B"/>
                </a:solidFill>
              </a:rPr>
              <a:t>Atıkların kaynağında ayrı toplanması ve geri kazanılması</a:t>
            </a:r>
          </a:p>
        </p:txBody>
      </p:sp>
      <p:sp>
        <p:nvSpPr>
          <p:cNvPr id="18" name="Amaç Kartı"/>
          <p:cNvSpPr/>
          <p:nvPr/>
        </p:nvSpPr>
        <p:spPr>
          <a:xfrm>
            <a:off x="274320" y="3931920"/>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9" name="Amaç İkon Zemini"/>
          <p:cNvSpPr/>
          <p:nvPr/>
        </p:nvSpPr>
        <p:spPr>
          <a:xfrm>
            <a:off x="384048" y="4014215"/>
            <a:ext cx="493776" cy="493776"/>
          </a:xfrm>
          <a:prstGeom prst="ellipse">
            <a:avLst/>
          </a:prstGeom>
          <a:solidFill>
            <a:srgbClr val="264E70"/>
          </a:solidFill>
          <a:ln>
            <a:noFill/>
          </a:ln>
        </p:spPr>
        <p:txBody>
          <a:bodyPr rtlCol="0" anchor="ctr"/>
          <a:lstStyle/>
          <a:p/>
        </p:txBody>
      </p:sp>
      <p:pic>
        <p:nvPicPr>
          <p:cNvPr id="20" name="Picture 19" descr="FaSyncAlt_white.png"/>
          <p:cNvPicPr>
            <a:picLocks noChangeAspect="1"/>
          </p:cNvPicPr>
          <p:nvPr/>
        </p:nvPicPr>
        <p:blipFill>
          <a:blip r:embed="rId6"/>
          <a:stretch>
            <a:fillRect/>
          </a:stretch>
        </p:blipFill>
        <p:spPr>
          <a:xfrm>
            <a:off x="502920" y="4133087"/>
            <a:ext cx="256032" cy="256032"/>
          </a:xfrm>
          <a:prstGeom prst="rect">
            <a:avLst/>
          </a:prstGeom>
        </p:spPr>
      </p:pic>
      <p:sp>
        <p:nvSpPr>
          <p:cNvPr id="21" name="Amaç Metni"/>
          <p:cNvSpPr txBox="1"/>
          <p:nvPr/>
        </p:nvSpPr>
        <p:spPr>
          <a:xfrm>
            <a:off x="1024127" y="3968496"/>
            <a:ext cx="4709160" cy="585216"/>
          </a:xfrm>
          <a:prstGeom prst="rect">
            <a:avLst/>
          </a:prstGeom>
          <a:noFill/>
        </p:spPr>
        <p:txBody>
          <a:bodyPr wrap="square" lIns="0" rIns="0" tIns="18288" bIns="18288" anchor="ctr">
            <a:spAutoFit/>
          </a:bodyPr>
          <a:lstStyle/>
          <a:p>
            <a:pPr algn="l"/>
            <a:r>
              <a:rPr sz="1300" b="0" i="0">
                <a:solidFill>
                  <a:srgbClr val="1B1B1B"/>
                </a:solidFill>
              </a:rPr>
              <a:t>Kaynak verimliliği ve döngüsel ekonomiye geçişin desteklenmesi</a:t>
            </a:r>
          </a:p>
        </p:txBody>
      </p:sp>
      <p:cxnSp>
        <p:nvCxnSpPr>
          <p:cNvPr id="22" name="Connector 21"/>
          <p:cNvCxnSpPr/>
          <p:nvPr/>
        </p:nvCxnSpPr>
        <p:spPr>
          <a:xfrm>
            <a:off x="6080760" y="2011680"/>
            <a:ext cx="0" cy="2560320"/>
          </a:xfrm>
          <a:prstGeom prst="line">
            <a:avLst/>
          </a:prstGeom>
          <a:ln w="12700">
            <a:solidFill>
              <a:srgbClr val="9AA5B1"/>
            </a:solidFill>
            <a:prstDash val="dash"/>
          </a:ln>
        </p:spPr>
      </p:cxnSp>
      <p:sp>
        <p:nvSpPr>
          <p:cNvPr id="23" name="Rounded Rectangle 22"/>
          <p:cNvSpPr/>
          <p:nvPr/>
        </p:nvSpPr>
        <p:spPr>
          <a:xfrm>
            <a:off x="6309360" y="1975104"/>
            <a:ext cx="553212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ANA UNSURLAR</a:t>
            </a:r>
          </a:p>
        </p:txBody>
      </p:sp>
      <p:sp>
        <p:nvSpPr>
          <p:cNvPr id="24" name="Altıgen"/>
          <p:cNvSpPr/>
          <p:nvPr/>
        </p:nvSpPr>
        <p:spPr>
          <a:xfrm>
            <a:off x="6682740" y="2395728"/>
            <a:ext cx="1097280" cy="676656"/>
          </a:xfrm>
          <a:prstGeom prst="hexagon">
            <a:avLst/>
          </a:prstGeom>
          <a:solidFill>
            <a:srgbClr val="DCE6F2"/>
          </a:solidFill>
          <a:ln w="19050">
            <a:solidFill>
              <a:srgbClr val="264E70"/>
            </a:solidFill>
          </a:ln>
        </p:spPr>
        <p:txBody>
          <a:bodyPr rtlCol="0" anchor="ctr"/>
          <a:lstStyle/>
          <a:p/>
        </p:txBody>
      </p:sp>
      <p:pic>
        <p:nvPicPr>
          <p:cNvPr id="25" name="Picture 24" descr="FaCompressAlt_navy.png"/>
          <p:cNvPicPr>
            <a:picLocks noChangeAspect="1"/>
          </p:cNvPicPr>
          <p:nvPr/>
        </p:nvPicPr>
        <p:blipFill>
          <a:blip r:embed="rId7"/>
          <a:stretch>
            <a:fillRect/>
          </a:stretch>
        </p:blipFill>
        <p:spPr>
          <a:xfrm>
            <a:off x="7030212" y="2532888"/>
            <a:ext cx="402336" cy="402336"/>
          </a:xfrm>
          <a:prstGeom prst="rect">
            <a:avLst/>
          </a:prstGeom>
        </p:spPr>
      </p:pic>
      <p:sp>
        <p:nvSpPr>
          <p:cNvPr id="26" name="Altıgen Başlığı"/>
          <p:cNvSpPr txBox="1"/>
          <p:nvPr/>
        </p:nvSpPr>
        <p:spPr>
          <a:xfrm>
            <a:off x="6355080" y="3108960"/>
            <a:ext cx="1752599" cy="347472"/>
          </a:xfrm>
          <a:prstGeom prst="rect">
            <a:avLst/>
          </a:prstGeom>
          <a:noFill/>
        </p:spPr>
        <p:txBody>
          <a:bodyPr wrap="square" lIns="0" rIns="0" tIns="18288" bIns="18288" anchor="t">
            <a:spAutoFit/>
          </a:bodyPr>
          <a:lstStyle/>
          <a:p>
            <a:pPr algn="ctr"/>
            <a:r>
              <a:rPr sz="1100" b="1" i="0">
                <a:solidFill>
                  <a:srgbClr val="264E70"/>
                </a:solidFill>
              </a:rPr>
              <a:t>Atık Azaltımı</a:t>
            </a:r>
          </a:p>
        </p:txBody>
      </p:sp>
      <p:sp>
        <p:nvSpPr>
          <p:cNvPr id="27" name="Altıgen"/>
          <p:cNvSpPr/>
          <p:nvPr/>
        </p:nvSpPr>
        <p:spPr>
          <a:xfrm>
            <a:off x="8526780" y="2395728"/>
            <a:ext cx="1097280" cy="676656"/>
          </a:xfrm>
          <a:prstGeom prst="hexagon">
            <a:avLst/>
          </a:prstGeom>
          <a:solidFill>
            <a:srgbClr val="DCE6F2"/>
          </a:solidFill>
          <a:ln w="19050">
            <a:solidFill>
              <a:srgbClr val="264E70"/>
            </a:solidFill>
          </a:ln>
        </p:spPr>
        <p:txBody>
          <a:bodyPr rtlCol="0" anchor="ctr"/>
          <a:lstStyle/>
          <a:p/>
        </p:txBody>
      </p:sp>
      <p:pic>
        <p:nvPicPr>
          <p:cNvPr id="28" name="Picture 27" descr="FaTrashAlt_navy.png"/>
          <p:cNvPicPr>
            <a:picLocks noChangeAspect="1"/>
          </p:cNvPicPr>
          <p:nvPr/>
        </p:nvPicPr>
        <p:blipFill>
          <a:blip r:embed="rId8"/>
          <a:stretch>
            <a:fillRect/>
          </a:stretch>
        </p:blipFill>
        <p:spPr>
          <a:xfrm>
            <a:off x="8874252" y="2532888"/>
            <a:ext cx="402336" cy="402336"/>
          </a:xfrm>
          <a:prstGeom prst="rect">
            <a:avLst/>
          </a:prstGeom>
        </p:spPr>
      </p:pic>
      <p:sp>
        <p:nvSpPr>
          <p:cNvPr id="29" name="Altıgen Başlığı"/>
          <p:cNvSpPr txBox="1"/>
          <p:nvPr/>
        </p:nvSpPr>
        <p:spPr>
          <a:xfrm>
            <a:off x="8199120" y="3108960"/>
            <a:ext cx="1752599" cy="347472"/>
          </a:xfrm>
          <a:prstGeom prst="rect">
            <a:avLst/>
          </a:prstGeom>
          <a:noFill/>
        </p:spPr>
        <p:txBody>
          <a:bodyPr wrap="square" lIns="0" rIns="0" tIns="18288" bIns="18288" anchor="t">
            <a:spAutoFit/>
          </a:bodyPr>
          <a:lstStyle/>
          <a:p>
            <a:pPr algn="ctr"/>
            <a:r>
              <a:rPr sz="1100" b="1" i="0">
                <a:solidFill>
                  <a:srgbClr val="264E70"/>
                </a:solidFill>
              </a:rPr>
              <a:t>Kaynağında Ayrı Toplama</a:t>
            </a:r>
          </a:p>
        </p:txBody>
      </p:sp>
      <p:sp>
        <p:nvSpPr>
          <p:cNvPr id="30" name="Altıgen"/>
          <p:cNvSpPr/>
          <p:nvPr/>
        </p:nvSpPr>
        <p:spPr>
          <a:xfrm>
            <a:off x="10370820" y="2395728"/>
            <a:ext cx="1097280" cy="676656"/>
          </a:xfrm>
          <a:prstGeom prst="hexagon">
            <a:avLst/>
          </a:prstGeom>
          <a:solidFill>
            <a:srgbClr val="DCE6F2"/>
          </a:solidFill>
          <a:ln w="19050">
            <a:solidFill>
              <a:srgbClr val="264E70"/>
            </a:solidFill>
          </a:ln>
        </p:spPr>
        <p:txBody>
          <a:bodyPr rtlCol="0" anchor="ctr"/>
          <a:lstStyle/>
          <a:p/>
        </p:txBody>
      </p:sp>
      <p:pic>
        <p:nvPicPr>
          <p:cNvPr id="31" name="Picture 30" descr="FaRecycle_navy.png"/>
          <p:cNvPicPr>
            <a:picLocks noChangeAspect="1"/>
          </p:cNvPicPr>
          <p:nvPr/>
        </p:nvPicPr>
        <p:blipFill>
          <a:blip r:embed="rId9"/>
          <a:stretch>
            <a:fillRect/>
          </a:stretch>
        </p:blipFill>
        <p:spPr>
          <a:xfrm>
            <a:off x="10718292" y="2532888"/>
            <a:ext cx="402336" cy="402336"/>
          </a:xfrm>
          <a:prstGeom prst="rect">
            <a:avLst/>
          </a:prstGeom>
        </p:spPr>
      </p:pic>
      <p:sp>
        <p:nvSpPr>
          <p:cNvPr id="32" name="Altıgen Başlığı"/>
          <p:cNvSpPr txBox="1"/>
          <p:nvPr/>
        </p:nvSpPr>
        <p:spPr>
          <a:xfrm>
            <a:off x="10043160" y="3108960"/>
            <a:ext cx="1752599" cy="347472"/>
          </a:xfrm>
          <a:prstGeom prst="rect">
            <a:avLst/>
          </a:prstGeom>
          <a:noFill/>
        </p:spPr>
        <p:txBody>
          <a:bodyPr wrap="square" lIns="0" rIns="0" tIns="18288" bIns="18288" anchor="t">
            <a:spAutoFit/>
          </a:bodyPr>
          <a:lstStyle/>
          <a:p>
            <a:pPr algn="ctr"/>
            <a:r>
              <a:rPr sz="1100" b="1" i="0">
                <a:solidFill>
                  <a:srgbClr val="264E70"/>
                </a:solidFill>
              </a:rPr>
              <a:t>Geri Kazanım</a:t>
            </a:r>
          </a:p>
        </p:txBody>
      </p:sp>
      <p:sp>
        <p:nvSpPr>
          <p:cNvPr id="33" name="Altıgen"/>
          <p:cNvSpPr/>
          <p:nvPr/>
        </p:nvSpPr>
        <p:spPr>
          <a:xfrm>
            <a:off x="6682740" y="3511296"/>
            <a:ext cx="1097280" cy="676656"/>
          </a:xfrm>
          <a:prstGeom prst="hexagon">
            <a:avLst/>
          </a:prstGeom>
          <a:solidFill>
            <a:srgbClr val="DCE6F2"/>
          </a:solidFill>
          <a:ln w="19050">
            <a:solidFill>
              <a:srgbClr val="264E70"/>
            </a:solidFill>
          </a:ln>
        </p:spPr>
        <p:txBody>
          <a:bodyPr rtlCol="0" anchor="ctr"/>
          <a:lstStyle/>
          <a:p/>
        </p:txBody>
      </p:sp>
      <p:pic>
        <p:nvPicPr>
          <p:cNvPr id="34" name="Picture 33" descr="FaSitemap_navy.png"/>
          <p:cNvPicPr>
            <a:picLocks noChangeAspect="1"/>
          </p:cNvPicPr>
          <p:nvPr/>
        </p:nvPicPr>
        <p:blipFill>
          <a:blip r:embed="rId10"/>
          <a:stretch>
            <a:fillRect/>
          </a:stretch>
        </p:blipFill>
        <p:spPr>
          <a:xfrm>
            <a:off x="7030212" y="3648456"/>
            <a:ext cx="402336" cy="402336"/>
          </a:xfrm>
          <a:prstGeom prst="rect">
            <a:avLst/>
          </a:prstGeom>
        </p:spPr>
      </p:pic>
      <p:sp>
        <p:nvSpPr>
          <p:cNvPr id="35" name="Altıgen Başlığı"/>
          <p:cNvSpPr txBox="1"/>
          <p:nvPr/>
        </p:nvSpPr>
        <p:spPr>
          <a:xfrm>
            <a:off x="6355080" y="4224528"/>
            <a:ext cx="1752599" cy="347472"/>
          </a:xfrm>
          <a:prstGeom prst="rect">
            <a:avLst/>
          </a:prstGeom>
          <a:noFill/>
        </p:spPr>
        <p:txBody>
          <a:bodyPr wrap="square" lIns="0" rIns="0" tIns="18288" bIns="18288" anchor="t">
            <a:spAutoFit/>
          </a:bodyPr>
          <a:lstStyle/>
          <a:p>
            <a:pPr algn="ctr"/>
            <a:r>
              <a:rPr sz="1100" b="1" i="0">
                <a:solidFill>
                  <a:srgbClr val="264E70"/>
                </a:solidFill>
              </a:rPr>
              <a:t>Sıfır Atık Yönetim Sistemi</a:t>
            </a:r>
          </a:p>
        </p:txBody>
      </p:sp>
      <p:sp>
        <p:nvSpPr>
          <p:cNvPr id="36" name="Altıgen"/>
          <p:cNvSpPr/>
          <p:nvPr/>
        </p:nvSpPr>
        <p:spPr>
          <a:xfrm>
            <a:off x="8526780" y="3511296"/>
            <a:ext cx="1097280" cy="676656"/>
          </a:xfrm>
          <a:prstGeom prst="hexagon">
            <a:avLst/>
          </a:prstGeom>
          <a:solidFill>
            <a:srgbClr val="DCE6F2"/>
          </a:solidFill>
          <a:ln w="19050">
            <a:solidFill>
              <a:srgbClr val="264E70"/>
            </a:solidFill>
          </a:ln>
        </p:spPr>
        <p:txBody>
          <a:bodyPr rtlCol="0" anchor="ctr"/>
          <a:lstStyle/>
          <a:p/>
        </p:txBody>
      </p:sp>
      <p:pic>
        <p:nvPicPr>
          <p:cNvPr id="37" name="Picture 36" descr="FaDatabase_navy.png"/>
          <p:cNvPicPr>
            <a:picLocks noChangeAspect="1"/>
          </p:cNvPicPr>
          <p:nvPr/>
        </p:nvPicPr>
        <p:blipFill>
          <a:blip r:embed="rId11"/>
          <a:stretch>
            <a:fillRect/>
          </a:stretch>
        </p:blipFill>
        <p:spPr>
          <a:xfrm>
            <a:off x="8874252" y="3648456"/>
            <a:ext cx="402336" cy="402336"/>
          </a:xfrm>
          <a:prstGeom prst="rect">
            <a:avLst/>
          </a:prstGeom>
        </p:spPr>
      </p:pic>
      <p:sp>
        <p:nvSpPr>
          <p:cNvPr id="38" name="Altıgen Başlığı"/>
          <p:cNvSpPr txBox="1"/>
          <p:nvPr/>
        </p:nvSpPr>
        <p:spPr>
          <a:xfrm>
            <a:off x="8199120" y="4224528"/>
            <a:ext cx="1752599" cy="347472"/>
          </a:xfrm>
          <a:prstGeom prst="rect">
            <a:avLst/>
          </a:prstGeom>
          <a:noFill/>
        </p:spPr>
        <p:txBody>
          <a:bodyPr wrap="square" lIns="0" rIns="0" tIns="18288" bIns="18288" anchor="t">
            <a:spAutoFit/>
          </a:bodyPr>
          <a:lstStyle/>
          <a:p>
            <a:pPr algn="ctr"/>
            <a:r>
              <a:rPr sz="1100" b="1" i="0">
                <a:solidFill>
                  <a:srgbClr val="264E70"/>
                </a:solidFill>
              </a:rPr>
              <a:t>Sıfır Atık Bilgi Sistemi</a:t>
            </a:r>
          </a:p>
        </p:txBody>
      </p:sp>
      <p:sp>
        <p:nvSpPr>
          <p:cNvPr id="39" name="Altıgen"/>
          <p:cNvSpPr/>
          <p:nvPr/>
        </p:nvSpPr>
        <p:spPr>
          <a:xfrm>
            <a:off x="10370820" y="3511296"/>
            <a:ext cx="1097280" cy="676656"/>
          </a:xfrm>
          <a:prstGeom prst="hexagon">
            <a:avLst/>
          </a:prstGeom>
          <a:solidFill>
            <a:srgbClr val="DCE6F2"/>
          </a:solidFill>
          <a:ln w="19050">
            <a:solidFill>
              <a:srgbClr val="264E70"/>
            </a:solidFill>
          </a:ln>
        </p:spPr>
        <p:txBody>
          <a:bodyPr rtlCol="0" anchor="ctr"/>
          <a:lstStyle/>
          <a:p/>
        </p:txBody>
      </p:sp>
      <p:pic>
        <p:nvPicPr>
          <p:cNvPr id="40" name="Picture 39" descr="FaAward_navy.png"/>
          <p:cNvPicPr>
            <a:picLocks noChangeAspect="1"/>
          </p:cNvPicPr>
          <p:nvPr/>
        </p:nvPicPr>
        <p:blipFill>
          <a:blip r:embed="rId12"/>
          <a:stretch>
            <a:fillRect/>
          </a:stretch>
        </p:blipFill>
        <p:spPr>
          <a:xfrm>
            <a:off x="10718292" y="3648456"/>
            <a:ext cx="402336" cy="402336"/>
          </a:xfrm>
          <a:prstGeom prst="rect">
            <a:avLst/>
          </a:prstGeom>
        </p:spPr>
      </p:pic>
      <p:sp>
        <p:nvSpPr>
          <p:cNvPr id="41" name="Altıgen Başlığı"/>
          <p:cNvSpPr txBox="1"/>
          <p:nvPr/>
        </p:nvSpPr>
        <p:spPr>
          <a:xfrm>
            <a:off x="10043160" y="4224528"/>
            <a:ext cx="1752599" cy="347472"/>
          </a:xfrm>
          <a:prstGeom prst="rect">
            <a:avLst/>
          </a:prstGeom>
          <a:noFill/>
        </p:spPr>
        <p:txBody>
          <a:bodyPr wrap="square" lIns="0" rIns="0" tIns="18288" bIns="18288" anchor="t">
            <a:spAutoFit/>
          </a:bodyPr>
          <a:lstStyle/>
          <a:p>
            <a:pPr algn="ctr"/>
            <a:r>
              <a:rPr sz="1100" b="1" i="0">
                <a:solidFill>
                  <a:srgbClr val="264E70"/>
                </a:solidFill>
              </a:rPr>
              <a:t>Sıfır Atık Belgesi</a:t>
            </a:r>
          </a:p>
        </p:txBody>
      </p:sp>
      <p:cxnSp>
        <p:nvCxnSpPr>
          <p:cNvPr id="42" name="Connector 41"/>
          <p:cNvCxnSpPr/>
          <p:nvPr/>
        </p:nvCxnSpPr>
        <p:spPr>
          <a:xfrm>
            <a:off x="274320" y="4663440"/>
            <a:ext cx="11567160" cy="0"/>
          </a:xfrm>
          <a:prstGeom prst="line">
            <a:avLst/>
          </a:prstGeom>
          <a:ln w="12700">
            <a:solidFill>
              <a:srgbClr val="9AA5B1"/>
            </a:solidFill>
            <a:prstDash val="dash"/>
          </a:ln>
        </p:spPr>
      </p:cxnSp>
      <p:sp>
        <p:nvSpPr>
          <p:cNvPr id="43" name="Rounded Rectangle 42"/>
          <p:cNvSpPr/>
          <p:nvPr/>
        </p:nvSpPr>
        <p:spPr>
          <a:xfrm>
            <a:off x="457200" y="4736592"/>
            <a:ext cx="603504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SIFIR ATIK BELGESİ: KADEMELİ SEVİYELER</a:t>
            </a:r>
          </a:p>
        </p:txBody>
      </p:sp>
      <p:sp>
        <p:nvSpPr>
          <p:cNvPr id="44" name="Zincir Kartı"/>
          <p:cNvSpPr/>
          <p:nvPr/>
        </p:nvSpPr>
        <p:spPr>
          <a:xfrm>
            <a:off x="274320"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45" name="Zincir İkon Zemini"/>
          <p:cNvSpPr/>
          <p:nvPr/>
        </p:nvSpPr>
        <p:spPr>
          <a:xfrm>
            <a:off x="384048" y="5230368"/>
            <a:ext cx="457200" cy="457200"/>
          </a:xfrm>
          <a:prstGeom prst="ellipse">
            <a:avLst/>
          </a:prstGeom>
          <a:solidFill>
            <a:srgbClr val="264E70"/>
          </a:solidFill>
          <a:ln>
            <a:noFill/>
          </a:ln>
        </p:spPr>
        <p:txBody>
          <a:bodyPr rtlCol="0" anchor="ctr"/>
          <a:lstStyle/>
          <a:p/>
        </p:txBody>
      </p:sp>
      <p:pic>
        <p:nvPicPr>
          <p:cNvPr id="46" name="Picture 45" descr="FaMedal_white.png"/>
          <p:cNvPicPr>
            <a:picLocks noChangeAspect="1"/>
          </p:cNvPicPr>
          <p:nvPr/>
        </p:nvPicPr>
        <p:blipFill>
          <a:blip r:embed="rId13"/>
          <a:stretch>
            <a:fillRect/>
          </a:stretch>
        </p:blipFill>
        <p:spPr>
          <a:xfrm>
            <a:off x="493776" y="5340096"/>
            <a:ext cx="237744" cy="237744"/>
          </a:xfrm>
          <a:prstGeom prst="rect">
            <a:avLst/>
          </a:prstGeom>
        </p:spPr>
      </p:pic>
      <p:sp>
        <p:nvSpPr>
          <p:cNvPr id="47" name="Zincir Başlığı"/>
          <p:cNvSpPr txBox="1"/>
          <p:nvPr/>
        </p:nvSpPr>
        <p:spPr>
          <a:xfrm>
            <a:off x="932688" y="5193792"/>
            <a:ext cx="1872233" cy="530352"/>
          </a:xfrm>
          <a:prstGeom prst="rect">
            <a:avLst/>
          </a:prstGeom>
          <a:noFill/>
        </p:spPr>
        <p:txBody>
          <a:bodyPr wrap="square" lIns="0" rIns="0" tIns="18288" bIns="18288" anchor="ctr">
            <a:spAutoFit/>
          </a:bodyPr>
          <a:lstStyle/>
          <a:p>
            <a:pPr algn="l"/>
            <a:r>
              <a:rPr sz="1200" b="1" i="0">
                <a:solidFill>
                  <a:srgbClr val="264E70"/>
                </a:solidFill>
              </a:rPr>
              <a:t>Temel Seviye</a:t>
            </a:r>
          </a:p>
        </p:txBody>
      </p:sp>
      <p:sp>
        <p:nvSpPr>
          <p:cNvPr id="48" name="Zincir Açıklaması"/>
          <p:cNvSpPr txBox="1"/>
          <p:nvPr/>
        </p:nvSpPr>
        <p:spPr>
          <a:xfrm>
            <a:off x="402336" y="5742432"/>
            <a:ext cx="2347722" cy="621792"/>
          </a:xfrm>
          <a:prstGeom prst="rect">
            <a:avLst/>
          </a:prstGeom>
          <a:noFill/>
        </p:spPr>
        <p:txBody>
          <a:bodyPr wrap="square" lIns="0" rIns="0" tIns="18288" bIns="18288" anchor="t">
            <a:spAutoFit/>
          </a:bodyPr>
          <a:lstStyle/>
          <a:p>
            <a:pPr algn="l"/>
            <a:r>
              <a:rPr sz="1050" b="0" i="0">
                <a:solidFill>
                  <a:srgbClr val="1B1B1B"/>
                </a:solidFill>
              </a:rPr>
              <a:t>Sıfır atık yönetim sistemi kurulur ve temel kriterler sağlanır</a:t>
            </a:r>
          </a:p>
        </p:txBody>
      </p:sp>
      <p:sp>
        <p:nvSpPr>
          <p:cNvPr id="49" name="Ok"/>
          <p:cNvSpPr/>
          <p:nvPr/>
        </p:nvSpPr>
        <p:spPr>
          <a:xfrm>
            <a:off x="2932937" y="5623560"/>
            <a:ext cx="274320" cy="292608"/>
          </a:xfrm>
          <a:prstGeom prst="chevron">
            <a:avLst/>
          </a:prstGeom>
          <a:solidFill>
            <a:srgbClr val="264E70"/>
          </a:solidFill>
          <a:ln>
            <a:noFill/>
          </a:ln>
        </p:spPr>
        <p:txBody>
          <a:bodyPr rtlCol="0" anchor="ctr"/>
          <a:lstStyle/>
          <a:p/>
        </p:txBody>
      </p:sp>
      <p:sp>
        <p:nvSpPr>
          <p:cNvPr id="50" name="Zincir Kartı"/>
          <p:cNvSpPr/>
          <p:nvPr/>
        </p:nvSpPr>
        <p:spPr>
          <a:xfrm>
            <a:off x="3262121"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51" name="Zincir İkon Zemini"/>
          <p:cNvSpPr/>
          <p:nvPr/>
        </p:nvSpPr>
        <p:spPr>
          <a:xfrm>
            <a:off x="3371849" y="5230368"/>
            <a:ext cx="457200" cy="457200"/>
          </a:xfrm>
          <a:prstGeom prst="ellipse">
            <a:avLst/>
          </a:prstGeom>
          <a:solidFill>
            <a:srgbClr val="264E70"/>
          </a:solidFill>
          <a:ln>
            <a:noFill/>
          </a:ln>
        </p:spPr>
        <p:txBody>
          <a:bodyPr rtlCol="0" anchor="ctr"/>
          <a:lstStyle/>
          <a:p/>
        </p:txBody>
      </p:sp>
      <p:pic>
        <p:nvPicPr>
          <p:cNvPr id="52" name="Picture 51" descr="FaMedal_white.png"/>
          <p:cNvPicPr>
            <a:picLocks noChangeAspect="1"/>
          </p:cNvPicPr>
          <p:nvPr/>
        </p:nvPicPr>
        <p:blipFill>
          <a:blip r:embed="rId13"/>
          <a:stretch>
            <a:fillRect/>
          </a:stretch>
        </p:blipFill>
        <p:spPr>
          <a:xfrm>
            <a:off x="3481577" y="5340096"/>
            <a:ext cx="237744" cy="237744"/>
          </a:xfrm>
          <a:prstGeom prst="rect">
            <a:avLst/>
          </a:prstGeom>
        </p:spPr>
      </p:pic>
      <p:sp>
        <p:nvSpPr>
          <p:cNvPr id="53" name="Zincir Başlığı"/>
          <p:cNvSpPr txBox="1"/>
          <p:nvPr/>
        </p:nvSpPr>
        <p:spPr>
          <a:xfrm>
            <a:off x="3920489" y="5193792"/>
            <a:ext cx="1872233" cy="530352"/>
          </a:xfrm>
          <a:prstGeom prst="rect">
            <a:avLst/>
          </a:prstGeom>
          <a:noFill/>
        </p:spPr>
        <p:txBody>
          <a:bodyPr wrap="square" lIns="0" rIns="0" tIns="18288" bIns="18288" anchor="ctr">
            <a:spAutoFit/>
          </a:bodyPr>
          <a:lstStyle/>
          <a:p>
            <a:pPr algn="l"/>
            <a:r>
              <a:rPr sz="1200" b="1" i="0">
                <a:solidFill>
                  <a:srgbClr val="264E70"/>
                </a:solidFill>
              </a:rPr>
              <a:t>Gümüş Seviye</a:t>
            </a:r>
          </a:p>
        </p:txBody>
      </p:sp>
      <p:sp>
        <p:nvSpPr>
          <p:cNvPr id="54" name="Zincir Açıklaması"/>
          <p:cNvSpPr txBox="1"/>
          <p:nvPr/>
        </p:nvSpPr>
        <p:spPr>
          <a:xfrm>
            <a:off x="3390137" y="5742432"/>
            <a:ext cx="2347722" cy="621792"/>
          </a:xfrm>
          <a:prstGeom prst="rect">
            <a:avLst/>
          </a:prstGeom>
          <a:noFill/>
        </p:spPr>
        <p:txBody>
          <a:bodyPr wrap="square" lIns="0" rIns="0" tIns="18288" bIns="18288" anchor="t">
            <a:spAutoFit/>
          </a:bodyPr>
          <a:lstStyle/>
          <a:p>
            <a:pPr algn="l"/>
            <a:r>
              <a:rPr sz="1050" b="0" i="0">
                <a:solidFill>
                  <a:srgbClr val="1B1B1B"/>
                </a:solidFill>
              </a:rPr>
              <a:t>Bakanlıkça belirlenen puanlama kriterleriyle ilerleyen üst seviye</a:t>
            </a:r>
          </a:p>
        </p:txBody>
      </p:sp>
      <p:sp>
        <p:nvSpPr>
          <p:cNvPr id="55" name="Ok"/>
          <p:cNvSpPr/>
          <p:nvPr/>
        </p:nvSpPr>
        <p:spPr>
          <a:xfrm>
            <a:off x="5920739" y="5623560"/>
            <a:ext cx="274320" cy="292608"/>
          </a:xfrm>
          <a:prstGeom prst="chevron">
            <a:avLst/>
          </a:prstGeom>
          <a:solidFill>
            <a:srgbClr val="264E70"/>
          </a:solidFill>
          <a:ln>
            <a:noFill/>
          </a:ln>
        </p:spPr>
        <p:txBody>
          <a:bodyPr rtlCol="0" anchor="ctr"/>
          <a:lstStyle/>
          <a:p/>
        </p:txBody>
      </p:sp>
      <p:sp>
        <p:nvSpPr>
          <p:cNvPr id="56" name="Zincir Kartı"/>
          <p:cNvSpPr/>
          <p:nvPr/>
        </p:nvSpPr>
        <p:spPr>
          <a:xfrm>
            <a:off x="6249923"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57" name="Zincir İkon Zemini"/>
          <p:cNvSpPr/>
          <p:nvPr/>
        </p:nvSpPr>
        <p:spPr>
          <a:xfrm>
            <a:off x="6359651" y="5230368"/>
            <a:ext cx="457200" cy="457200"/>
          </a:xfrm>
          <a:prstGeom prst="ellipse">
            <a:avLst/>
          </a:prstGeom>
          <a:solidFill>
            <a:srgbClr val="264E70"/>
          </a:solidFill>
          <a:ln>
            <a:noFill/>
          </a:ln>
        </p:spPr>
        <p:txBody>
          <a:bodyPr rtlCol="0" anchor="ctr"/>
          <a:lstStyle/>
          <a:p/>
        </p:txBody>
      </p:sp>
      <p:pic>
        <p:nvPicPr>
          <p:cNvPr id="58" name="Picture 57" descr="FaMedal_white.png"/>
          <p:cNvPicPr>
            <a:picLocks noChangeAspect="1"/>
          </p:cNvPicPr>
          <p:nvPr/>
        </p:nvPicPr>
        <p:blipFill>
          <a:blip r:embed="rId13"/>
          <a:stretch>
            <a:fillRect/>
          </a:stretch>
        </p:blipFill>
        <p:spPr>
          <a:xfrm>
            <a:off x="6469379" y="5340096"/>
            <a:ext cx="237744" cy="237744"/>
          </a:xfrm>
          <a:prstGeom prst="rect">
            <a:avLst/>
          </a:prstGeom>
        </p:spPr>
      </p:pic>
      <p:sp>
        <p:nvSpPr>
          <p:cNvPr id="59" name="Zincir Başlığı"/>
          <p:cNvSpPr txBox="1"/>
          <p:nvPr/>
        </p:nvSpPr>
        <p:spPr>
          <a:xfrm>
            <a:off x="6908291" y="5193792"/>
            <a:ext cx="1872233" cy="530352"/>
          </a:xfrm>
          <a:prstGeom prst="rect">
            <a:avLst/>
          </a:prstGeom>
          <a:noFill/>
        </p:spPr>
        <p:txBody>
          <a:bodyPr wrap="square" lIns="0" rIns="0" tIns="18288" bIns="18288" anchor="ctr">
            <a:spAutoFit/>
          </a:bodyPr>
          <a:lstStyle/>
          <a:p>
            <a:pPr algn="l"/>
            <a:r>
              <a:rPr sz="1200" b="1" i="0">
                <a:solidFill>
                  <a:srgbClr val="264E70"/>
                </a:solidFill>
              </a:rPr>
              <a:t>Altın Seviye</a:t>
            </a:r>
          </a:p>
        </p:txBody>
      </p:sp>
      <p:sp>
        <p:nvSpPr>
          <p:cNvPr id="60" name="Zincir Açıklaması"/>
          <p:cNvSpPr txBox="1"/>
          <p:nvPr/>
        </p:nvSpPr>
        <p:spPr>
          <a:xfrm>
            <a:off x="6377939" y="5742432"/>
            <a:ext cx="2347722" cy="621792"/>
          </a:xfrm>
          <a:prstGeom prst="rect">
            <a:avLst/>
          </a:prstGeom>
          <a:noFill/>
        </p:spPr>
        <p:txBody>
          <a:bodyPr wrap="square" lIns="0" rIns="0" tIns="18288" bIns="18288" anchor="t">
            <a:spAutoFit/>
          </a:bodyPr>
          <a:lstStyle/>
          <a:p>
            <a:pPr algn="l"/>
            <a:r>
              <a:rPr sz="1050" b="0" i="0">
                <a:solidFill>
                  <a:srgbClr val="1B1B1B"/>
                </a:solidFill>
              </a:rPr>
              <a:t>Daha yüksek puanlı, geliştirilmiş sıfır atık performansı</a:t>
            </a:r>
          </a:p>
        </p:txBody>
      </p:sp>
      <p:sp>
        <p:nvSpPr>
          <p:cNvPr id="61" name="Ok"/>
          <p:cNvSpPr/>
          <p:nvPr/>
        </p:nvSpPr>
        <p:spPr>
          <a:xfrm>
            <a:off x="8908542" y="5623560"/>
            <a:ext cx="274320" cy="292608"/>
          </a:xfrm>
          <a:prstGeom prst="chevron">
            <a:avLst/>
          </a:prstGeom>
          <a:solidFill>
            <a:srgbClr val="264E70"/>
          </a:solidFill>
          <a:ln>
            <a:noFill/>
          </a:ln>
        </p:spPr>
        <p:txBody>
          <a:bodyPr rtlCol="0" anchor="ctr"/>
          <a:lstStyle/>
          <a:p/>
        </p:txBody>
      </p:sp>
      <p:sp>
        <p:nvSpPr>
          <p:cNvPr id="62" name="Zincir Kartı"/>
          <p:cNvSpPr/>
          <p:nvPr/>
        </p:nvSpPr>
        <p:spPr>
          <a:xfrm>
            <a:off x="9237726"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63" name="Zincir İkon Zemini"/>
          <p:cNvSpPr/>
          <p:nvPr/>
        </p:nvSpPr>
        <p:spPr>
          <a:xfrm>
            <a:off x="9347453" y="5230368"/>
            <a:ext cx="457200" cy="457200"/>
          </a:xfrm>
          <a:prstGeom prst="ellipse">
            <a:avLst/>
          </a:prstGeom>
          <a:solidFill>
            <a:srgbClr val="005C2A"/>
          </a:solidFill>
          <a:ln>
            <a:noFill/>
          </a:ln>
        </p:spPr>
        <p:txBody>
          <a:bodyPr rtlCol="0" anchor="ctr"/>
          <a:lstStyle/>
          <a:p/>
        </p:txBody>
      </p:sp>
      <p:pic>
        <p:nvPicPr>
          <p:cNvPr id="64" name="Picture 63" descr="FaMedal_white.png"/>
          <p:cNvPicPr>
            <a:picLocks noChangeAspect="1"/>
          </p:cNvPicPr>
          <p:nvPr/>
        </p:nvPicPr>
        <p:blipFill>
          <a:blip r:embed="rId13"/>
          <a:stretch>
            <a:fillRect/>
          </a:stretch>
        </p:blipFill>
        <p:spPr>
          <a:xfrm>
            <a:off x="9457182" y="5340096"/>
            <a:ext cx="237744" cy="237744"/>
          </a:xfrm>
          <a:prstGeom prst="rect">
            <a:avLst/>
          </a:prstGeom>
        </p:spPr>
      </p:pic>
      <p:sp>
        <p:nvSpPr>
          <p:cNvPr id="65" name="Zincir Başlığı"/>
          <p:cNvSpPr txBox="1"/>
          <p:nvPr/>
        </p:nvSpPr>
        <p:spPr>
          <a:xfrm>
            <a:off x="9896094" y="5193792"/>
            <a:ext cx="1872233" cy="530352"/>
          </a:xfrm>
          <a:prstGeom prst="rect">
            <a:avLst/>
          </a:prstGeom>
          <a:noFill/>
        </p:spPr>
        <p:txBody>
          <a:bodyPr wrap="square" lIns="0" rIns="0" tIns="18288" bIns="18288" anchor="ctr">
            <a:spAutoFit/>
          </a:bodyPr>
          <a:lstStyle/>
          <a:p>
            <a:pPr algn="l"/>
            <a:r>
              <a:rPr sz="1200" b="1" i="0">
                <a:solidFill>
                  <a:srgbClr val="264E70"/>
                </a:solidFill>
              </a:rPr>
              <a:t>Platin Seviye</a:t>
            </a:r>
          </a:p>
        </p:txBody>
      </p:sp>
      <p:sp>
        <p:nvSpPr>
          <p:cNvPr id="66" name="Zincir Açıklaması"/>
          <p:cNvSpPr txBox="1"/>
          <p:nvPr/>
        </p:nvSpPr>
        <p:spPr>
          <a:xfrm>
            <a:off x="9365742" y="5742432"/>
            <a:ext cx="2347722" cy="621792"/>
          </a:xfrm>
          <a:prstGeom prst="rect">
            <a:avLst/>
          </a:prstGeom>
          <a:noFill/>
        </p:spPr>
        <p:txBody>
          <a:bodyPr wrap="square" lIns="0" rIns="0" tIns="18288" bIns="18288" anchor="t">
            <a:spAutoFit/>
          </a:bodyPr>
          <a:lstStyle/>
          <a:p>
            <a:pPr algn="l"/>
            <a:r>
              <a:rPr sz="1050" b="0" i="0">
                <a:solidFill>
                  <a:srgbClr val="1B1B1B"/>
                </a:solidFill>
              </a:rPr>
              <a:t>Belgelendirmede ulaşılabilecek en yüksek performans seviyesi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i="1" lang="tr-TR"/>
              <a:t>Sıfır Atık Yönetmeliği</a:t>
            </a:r>
          </a:p>
        </p:txBody>
      </p:sp>
      <p:sp>
        <p:nvSpPr>
          <p:cNvPr id="4" name="Slayt Numarası Yer Tutucusu 3">
            <a:extLst>
              <a:ext uri="{FF2B5EF4-FFF2-40B4-BE49-F238E27FC236}">
                <a16:creationId xmlns:a16="http://schemas.microsoft.com/office/drawing/2014/main" id="{64D39679-45B4-9C02-77DE-31552745A3E2}"/>
              </a:ext>
            </a:extLst>
          </p:cNvPr>
          <p:cNvSpPr>
            <a:spLocks noGrp="1"/>
          </p:cNvSpPr>
          <p:nvPr>
            <p:ph type="sldNum" sz="quarter" idx="4"/>
          </p:nvPr>
        </p:nvSpPr>
        <p:spPr/>
        <p:txBody>
          <a:bodyPr/>
          <a:lstStyle/>
          <a:p>
            <a:fld id="{42CA6F85-893A-4FE1-8820-DAA50ABDC7DA}" type="slidenum">
              <a:rPr lang="tr-TR" smtClean="0"/>
              <a:pPr/>
              <a:t>7</a:t>
            </a:fld>
            <a:endParaRPr lang="tr-TR"/>
          </a:p>
        </p:txBody>
      </p:sp>
      <p:sp>
        <p:nvSpPr>
          <p:cNvPr id="5" name="Başlık Bandı"/>
          <p:cNvSpPr/>
          <p:nvPr/>
        </p:nvSpPr>
        <p:spPr>
          <a:xfrm>
            <a:off x="274320" y="896112"/>
            <a:ext cx="11567159" cy="365760"/>
          </a:xfrm>
          <a:prstGeom prst="rect">
            <a:avLst/>
          </a:prstGeom>
          <a:solidFill>
            <a:srgbClr val="264E70"/>
          </a:solidFill>
          <a:ln>
            <a:noFill/>
          </a:ln>
        </p:spPr>
        <p:txBody>
          <a:bodyPr rtlCol="0" anchor="ctr" wrap="square" lIns="45720" rIns="45720" tIns="18288" bIns="18288"/>
          <a:lstStyle/>
          <a:p>
            <a:pPr algn="ctr"/>
            <a:r>
              <a:rPr sz="1500" b="1" i="0">
                <a:solidFill>
                  <a:srgbClr val="FFFFFF"/>
                </a:solidFill>
              </a:rPr>
              <a:t>SIFIR ATIK YÖNETMELİĞİ UYGULAMASI SONUCUNDA OLUŞAN RİSKLER VE FIRSATLAR</a:t>
            </a:r>
          </a:p>
        </p:txBody>
      </p:sp>
      <p:sp>
        <p:nvSpPr>
          <p:cNvPr id="6" name="Rounded Rectangle 5"/>
          <p:cNvSpPr/>
          <p:nvPr/>
        </p:nvSpPr>
        <p:spPr>
          <a:xfrm>
            <a:off x="777240" y="1371600"/>
            <a:ext cx="475488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RİSKLER</a:t>
            </a:r>
          </a:p>
        </p:txBody>
      </p:sp>
      <p:sp>
        <p:nvSpPr>
          <p:cNvPr id="7" name="Rounded Rectangle 6"/>
          <p:cNvSpPr/>
          <p:nvPr/>
        </p:nvSpPr>
        <p:spPr>
          <a:xfrm>
            <a:off x="6629400" y="1371600"/>
            <a:ext cx="475488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FIRSATLAR</a:t>
            </a:r>
          </a:p>
        </p:txBody>
      </p:sp>
      <p:cxnSp>
        <p:nvCxnSpPr>
          <p:cNvPr id="8" name="Connector 7"/>
          <p:cNvCxnSpPr/>
          <p:nvPr/>
        </p:nvCxnSpPr>
        <p:spPr>
          <a:xfrm>
            <a:off x="6080760" y="1371600"/>
            <a:ext cx="0" cy="3017520"/>
          </a:xfrm>
          <a:prstGeom prst="line">
            <a:avLst/>
          </a:prstGeom>
          <a:ln w="12700">
            <a:solidFill>
              <a:srgbClr val="9AA5B1"/>
            </a:solidFill>
            <a:prstDash val="dash"/>
          </a:ln>
        </p:spPr>
      </p:cxnSp>
      <p:sp>
        <p:nvSpPr>
          <p:cNvPr id="9" name="Satır Zemini"/>
          <p:cNvSpPr/>
          <p:nvPr/>
        </p:nvSpPr>
        <p:spPr>
          <a:xfrm>
            <a:off x="274320" y="1783080"/>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0" name="Rozet Zemini"/>
          <p:cNvSpPr/>
          <p:nvPr/>
        </p:nvSpPr>
        <p:spPr>
          <a:xfrm>
            <a:off x="384048" y="1892807"/>
            <a:ext cx="603504" cy="603504"/>
          </a:xfrm>
          <a:prstGeom prst="ellipse">
            <a:avLst/>
          </a:prstGeom>
          <a:solidFill>
            <a:srgbClr val="FBECEA"/>
          </a:solidFill>
          <a:ln w="15875">
            <a:solidFill>
              <a:srgbClr val="B03A2E"/>
            </a:solidFill>
          </a:ln>
        </p:spPr>
        <p:txBody>
          <a:bodyPr rtlCol="0" anchor="ctr"/>
          <a:lstStyle/>
          <a:p/>
        </p:txBody>
      </p:sp>
      <p:pic>
        <p:nvPicPr>
          <p:cNvPr id="11" name="Picture 10" descr="FaBan_red.png"/>
          <p:cNvPicPr>
            <a:picLocks noChangeAspect="1"/>
          </p:cNvPicPr>
          <p:nvPr/>
        </p:nvPicPr>
        <p:blipFill>
          <a:blip r:embed="rId3"/>
          <a:stretch>
            <a:fillRect/>
          </a:stretch>
        </p:blipFill>
        <p:spPr>
          <a:xfrm>
            <a:off x="530352" y="2039112"/>
            <a:ext cx="310896" cy="310896"/>
          </a:xfrm>
          <a:prstGeom prst="rect">
            <a:avLst/>
          </a:prstGeom>
        </p:spPr>
      </p:pic>
      <p:sp>
        <p:nvSpPr>
          <p:cNvPr id="12" name="Satır Metni"/>
          <p:cNvSpPr txBox="1"/>
          <p:nvPr/>
        </p:nvSpPr>
        <p:spPr>
          <a:xfrm>
            <a:off x="1115568" y="1819656"/>
            <a:ext cx="4617720" cy="749808"/>
          </a:xfrm>
          <a:prstGeom prst="rect">
            <a:avLst/>
          </a:prstGeom>
          <a:noFill/>
        </p:spPr>
        <p:txBody>
          <a:bodyPr wrap="square" lIns="0" rIns="0" tIns="18288" bIns="18288" anchor="ctr">
            <a:spAutoFit/>
          </a:bodyPr>
          <a:lstStyle/>
          <a:p>
            <a:pPr algn="l"/>
            <a:r>
              <a:rPr sz="1100" b="0" i="0">
                <a:solidFill>
                  <a:srgbClr val="1B1B1B"/>
                </a:solidFill>
              </a:rPr>
              <a:t>Sıfır atık yönetim sisteminin kurulmaması veya kurulduğunun belgelendirilememesi durumunda Çevre Kanunu kapsamında idari para cezaları ile karşılaşılması</a:t>
            </a:r>
          </a:p>
        </p:txBody>
      </p:sp>
      <p:sp>
        <p:nvSpPr>
          <p:cNvPr id="13" name="Satır Zemini"/>
          <p:cNvSpPr/>
          <p:nvPr/>
        </p:nvSpPr>
        <p:spPr>
          <a:xfrm>
            <a:off x="274320" y="2660904"/>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4" name="Rozet Zemini"/>
          <p:cNvSpPr/>
          <p:nvPr/>
        </p:nvSpPr>
        <p:spPr>
          <a:xfrm>
            <a:off x="384048" y="2770632"/>
            <a:ext cx="603504" cy="603504"/>
          </a:xfrm>
          <a:prstGeom prst="ellipse">
            <a:avLst/>
          </a:prstGeom>
          <a:solidFill>
            <a:srgbClr val="FBECEA"/>
          </a:solidFill>
          <a:ln w="15875">
            <a:solidFill>
              <a:srgbClr val="B03A2E"/>
            </a:solidFill>
          </a:ln>
        </p:spPr>
        <p:txBody>
          <a:bodyPr rtlCol="0" anchor="ctr"/>
          <a:lstStyle/>
          <a:p/>
        </p:txBody>
      </p:sp>
      <p:pic>
        <p:nvPicPr>
          <p:cNvPr id="15" name="Picture 14" descr="FaDatabase_red.png"/>
          <p:cNvPicPr>
            <a:picLocks noChangeAspect="1"/>
          </p:cNvPicPr>
          <p:nvPr/>
        </p:nvPicPr>
        <p:blipFill>
          <a:blip r:embed="rId4"/>
          <a:stretch>
            <a:fillRect/>
          </a:stretch>
        </p:blipFill>
        <p:spPr>
          <a:xfrm>
            <a:off x="530352" y="2916936"/>
            <a:ext cx="310896" cy="310896"/>
          </a:xfrm>
          <a:prstGeom prst="rect">
            <a:avLst/>
          </a:prstGeom>
        </p:spPr>
      </p:pic>
      <p:sp>
        <p:nvSpPr>
          <p:cNvPr id="16" name="Satır Metni"/>
          <p:cNvSpPr txBox="1"/>
          <p:nvPr/>
        </p:nvSpPr>
        <p:spPr>
          <a:xfrm>
            <a:off x="1115568" y="2697480"/>
            <a:ext cx="4617720" cy="749808"/>
          </a:xfrm>
          <a:prstGeom prst="rect">
            <a:avLst/>
          </a:prstGeom>
          <a:noFill/>
        </p:spPr>
        <p:txBody>
          <a:bodyPr wrap="square" lIns="0" rIns="0" tIns="18288" bIns="18288" anchor="ctr">
            <a:spAutoFit/>
          </a:bodyPr>
          <a:lstStyle/>
          <a:p>
            <a:pPr algn="l"/>
            <a:r>
              <a:rPr sz="1100" b="0" i="0">
                <a:solidFill>
                  <a:srgbClr val="1B1B1B"/>
                </a:solidFill>
              </a:rPr>
              <a:t>Sıfır Atık Bilgi Sistemi üzerinden yapılması gereken atık bildirimlerinin eksik, hatalı veya geç yapılması sonucunda uygunsuzluk tespit edilmesi ve denetim riskinin artması</a:t>
            </a:r>
          </a:p>
        </p:txBody>
      </p:sp>
      <p:sp>
        <p:nvSpPr>
          <p:cNvPr id="17" name="Satır Zemini"/>
          <p:cNvSpPr/>
          <p:nvPr/>
        </p:nvSpPr>
        <p:spPr>
          <a:xfrm>
            <a:off x="274320" y="3538728"/>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8" name="Rozet Zemini"/>
          <p:cNvSpPr/>
          <p:nvPr/>
        </p:nvSpPr>
        <p:spPr>
          <a:xfrm>
            <a:off x="384048" y="3648456"/>
            <a:ext cx="603504" cy="603504"/>
          </a:xfrm>
          <a:prstGeom prst="ellipse">
            <a:avLst/>
          </a:prstGeom>
          <a:solidFill>
            <a:srgbClr val="FBECEA"/>
          </a:solidFill>
          <a:ln w="15875">
            <a:solidFill>
              <a:srgbClr val="B03A2E"/>
            </a:solidFill>
          </a:ln>
        </p:spPr>
        <p:txBody>
          <a:bodyPr rtlCol="0" anchor="ctr"/>
          <a:lstStyle/>
          <a:p/>
        </p:txBody>
      </p:sp>
      <p:pic>
        <p:nvPicPr>
          <p:cNvPr id="19" name="Picture 18" descr="FaClipboardList_red.png"/>
          <p:cNvPicPr>
            <a:picLocks noChangeAspect="1"/>
          </p:cNvPicPr>
          <p:nvPr/>
        </p:nvPicPr>
        <p:blipFill>
          <a:blip r:embed="rId5"/>
          <a:stretch>
            <a:fillRect/>
          </a:stretch>
        </p:blipFill>
        <p:spPr>
          <a:xfrm>
            <a:off x="530352" y="3794760"/>
            <a:ext cx="310896" cy="310896"/>
          </a:xfrm>
          <a:prstGeom prst="rect">
            <a:avLst/>
          </a:prstGeom>
        </p:spPr>
      </p:pic>
      <p:sp>
        <p:nvSpPr>
          <p:cNvPr id="20" name="Satır Metni"/>
          <p:cNvSpPr txBox="1"/>
          <p:nvPr/>
        </p:nvSpPr>
        <p:spPr>
          <a:xfrm>
            <a:off x="1115568" y="3575304"/>
            <a:ext cx="4617720" cy="749808"/>
          </a:xfrm>
          <a:prstGeom prst="rect">
            <a:avLst/>
          </a:prstGeom>
          <a:noFill/>
        </p:spPr>
        <p:txBody>
          <a:bodyPr wrap="square" lIns="0" rIns="0" tIns="18288" bIns="18288" anchor="ctr">
            <a:spAutoFit/>
          </a:bodyPr>
          <a:lstStyle/>
          <a:p>
            <a:pPr algn="l"/>
            <a:r>
              <a:rPr sz="1100" b="0" i="0">
                <a:solidFill>
                  <a:srgbClr val="1B1B1B"/>
                </a:solidFill>
              </a:rPr>
              <a:t>Fabrika, biyogaz tesisleri ve serbest bölge gibi farklı tesislerde atık ayrıştırma, depolama ve kayıt altyapısının kurulması için ilave yatırım ve operasyonel yük oluşabilmesi</a:t>
            </a:r>
          </a:p>
        </p:txBody>
      </p:sp>
      <p:sp>
        <p:nvSpPr>
          <p:cNvPr id="21" name="Satır Zemini"/>
          <p:cNvSpPr/>
          <p:nvPr/>
        </p:nvSpPr>
        <p:spPr>
          <a:xfrm>
            <a:off x="6309360" y="1783080"/>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22" name="Rozet Zemini"/>
          <p:cNvSpPr/>
          <p:nvPr/>
        </p:nvSpPr>
        <p:spPr>
          <a:xfrm>
            <a:off x="6419088" y="1892807"/>
            <a:ext cx="603504" cy="603504"/>
          </a:xfrm>
          <a:prstGeom prst="ellipse">
            <a:avLst/>
          </a:prstGeom>
          <a:solidFill>
            <a:srgbClr val="E5F1EA"/>
          </a:solidFill>
          <a:ln w="15875">
            <a:solidFill>
              <a:srgbClr val="005C2A"/>
            </a:solidFill>
          </a:ln>
        </p:spPr>
        <p:txBody>
          <a:bodyPr rtlCol="0" anchor="ctr"/>
          <a:lstStyle/>
          <a:p/>
        </p:txBody>
      </p:sp>
      <p:pic>
        <p:nvPicPr>
          <p:cNvPr id="23" name="Picture 22" descr="FaSyncAlt_green.png"/>
          <p:cNvPicPr>
            <a:picLocks noChangeAspect="1"/>
          </p:cNvPicPr>
          <p:nvPr/>
        </p:nvPicPr>
        <p:blipFill>
          <a:blip r:embed="rId6"/>
          <a:stretch>
            <a:fillRect/>
          </a:stretch>
        </p:blipFill>
        <p:spPr>
          <a:xfrm>
            <a:off x="6565392" y="2039112"/>
            <a:ext cx="310896" cy="310896"/>
          </a:xfrm>
          <a:prstGeom prst="rect">
            <a:avLst/>
          </a:prstGeom>
        </p:spPr>
      </p:pic>
      <p:sp>
        <p:nvSpPr>
          <p:cNvPr id="24" name="Satır Metni"/>
          <p:cNvSpPr txBox="1"/>
          <p:nvPr/>
        </p:nvSpPr>
        <p:spPr>
          <a:xfrm>
            <a:off x="7150608" y="1819656"/>
            <a:ext cx="4617720" cy="749808"/>
          </a:xfrm>
          <a:prstGeom prst="rect">
            <a:avLst/>
          </a:prstGeom>
          <a:noFill/>
        </p:spPr>
        <p:txBody>
          <a:bodyPr wrap="square" lIns="0" rIns="0" tIns="18288" bIns="18288" anchor="ctr">
            <a:spAutoFit/>
          </a:bodyPr>
          <a:lstStyle/>
          <a:p>
            <a:pPr algn="l"/>
            <a:r>
              <a:rPr sz="1100" b="0" i="0">
                <a:solidFill>
                  <a:srgbClr val="1B1B1B"/>
                </a:solidFill>
              </a:rPr>
              <a:t>Gönen ve Meram tesislerinde oluşan sıvı fermente atığın geri kazanılması ve fosfojipsin üretime katılan bir değere dönüştürülmesi ile atık miktarının ve bertaraf yükünün azaltılması</a:t>
            </a:r>
          </a:p>
        </p:txBody>
      </p:sp>
      <p:sp>
        <p:nvSpPr>
          <p:cNvPr id="25" name="Satır Zemini"/>
          <p:cNvSpPr/>
          <p:nvPr/>
        </p:nvSpPr>
        <p:spPr>
          <a:xfrm>
            <a:off x="6309360" y="2660904"/>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26" name="Rozet Zemini"/>
          <p:cNvSpPr/>
          <p:nvPr/>
        </p:nvSpPr>
        <p:spPr>
          <a:xfrm>
            <a:off x="6419088" y="2770632"/>
            <a:ext cx="603504" cy="603504"/>
          </a:xfrm>
          <a:prstGeom prst="ellipse">
            <a:avLst/>
          </a:prstGeom>
          <a:solidFill>
            <a:srgbClr val="E5F1EA"/>
          </a:solidFill>
          <a:ln w="15875">
            <a:solidFill>
              <a:srgbClr val="005C2A"/>
            </a:solidFill>
          </a:ln>
        </p:spPr>
        <p:txBody>
          <a:bodyPr rtlCol="0" anchor="ctr"/>
          <a:lstStyle/>
          <a:p/>
        </p:txBody>
      </p:sp>
      <p:pic>
        <p:nvPicPr>
          <p:cNvPr id="27" name="Picture 26" descr="FaRecycle_green.png"/>
          <p:cNvPicPr>
            <a:picLocks noChangeAspect="1"/>
          </p:cNvPicPr>
          <p:nvPr/>
        </p:nvPicPr>
        <p:blipFill>
          <a:blip r:embed="rId7"/>
          <a:stretch>
            <a:fillRect/>
          </a:stretch>
        </p:blipFill>
        <p:spPr>
          <a:xfrm>
            <a:off x="6565392" y="2916936"/>
            <a:ext cx="310896" cy="310896"/>
          </a:xfrm>
          <a:prstGeom prst="rect">
            <a:avLst/>
          </a:prstGeom>
        </p:spPr>
      </p:pic>
      <p:sp>
        <p:nvSpPr>
          <p:cNvPr id="28" name="Satır Metni"/>
          <p:cNvSpPr txBox="1"/>
          <p:nvPr/>
        </p:nvSpPr>
        <p:spPr>
          <a:xfrm>
            <a:off x="7150608" y="2697480"/>
            <a:ext cx="4617720" cy="749808"/>
          </a:xfrm>
          <a:prstGeom prst="rect">
            <a:avLst/>
          </a:prstGeom>
          <a:noFill/>
        </p:spPr>
        <p:txBody>
          <a:bodyPr wrap="square" lIns="0" rIns="0" tIns="18288" bIns="18288" anchor="ctr">
            <a:spAutoFit/>
          </a:bodyPr>
          <a:lstStyle/>
          <a:p>
            <a:pPr algn="l"/>
            <a:r>
              <a:rPr sz="1100" b="0" i="0">
                <a:solidFill>
                  <a:srgbClr val="1B1B1B"/>
                </a:solidFill>
              </a:rPr>
              <a:t>PP ve PE torba ve ambalaj atıklarının kaynağında ayrı toplanarak geri kazanılması sonucunda ikincil hammadde kazanımı sağlanması ve bertaraf maliyetlerinin düşmesi</a:t>
            </a:r>
          </a:p>
        </p:txBody>
      </p:sp>
      <p:sp>
        <p:nvSpPr>
          <p:cNvPr id="29" name="Satır Zemini"/>
          <p:cNvSpPr/>
          <p:nvPr/>
        </p:nvSpPr>
        <p:spPr>
          <a:xfrm>
            <a:off x="6309360" y="3538728"/>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30" name="Rozet Zemini"/>
          <p:cNvSpPr/>
          <p:nvPr/>
        </p:nvSpPr>
        <p:spPr>
          <a:xfrm>
            <a:off x="6419088" y="3648456"/>
            <a:ext cx="603504" cy="603504"/>
          </a:xfrm>
          <a:prstGeom prst="ellipse">
            <a:avLst/>
          </a:prstGeom>
          <a:solidFill>
            <a:srgbClr val="E5F1EA"/>
          </a:solidFill>
          <a:ln w="15875">
            <a:solidFill>
              <a:srgbClr val="005C2A"/>
            </a:solidFill>
          </a:ln>
        </p:spPr>
        <p:txBody>
          <a:bodyPr rtlCol="0" anchor="ctr"/>
          <a:lstStyle/>
          <a:p/>
        </p:txBody>
      </p:sp>
      <p:pic>
        <p:nvPicPr>
          <p:cNvPr id="31" name="Picture 30" descr="FaAward_green.png"/>
          <p:cNvPicPr>
            <a:picLocks noChangeAspect="1"/>
          </p:cNvPicPr>
          <p:nvPr/>
        </p:nvPicPr>
        <p:blipFill>
          <a:blip r:embed="rId8"/>
          <a:stretch>
            <a:fillRect/>
          </a:stretch>
        </p:blipFill>
        <p:spPr>
          <a:xfrm>
            <a:off x="6565392" y="3794760"/>
            <a:ext cx="310896" cy="310896"/>
          </a:xfrm>
          <a:prstGeom prst="rect">
            <a:avLst/>
          </a:prstGeom>
        </p:spPr>
      </p:pic>
      <p:sp>
        <p:nvSpPr>
          <p:cNvPr id="32" name="Satır Metni"/>
          <p:cNvSpPr txBox="1"/>
          <p:nvPr/>
        </p:nvSpPr>
        <p:spPr>
          <a:xfrm>
            <a:off x="7150608" y="3575304"/>
            <a:ext cx="4617720" cy="749808"/>
          </a:xfrm>
          <a:prstGeom prst="rect">
            <a:avLst/>
          </a:prstGeom>
          <a:noFill/>
        </p:spPr>
        <p:txBody>
          <a:bodyPr wrap="square" lIns="0" rIns="0" tIns="18288" bIns="18288" anchor="ctr">
            <a:spAutoFit/>
          </a:bodyPr>
          <a:lstStyle/>
          <a:p>
            <a:pPr algn="l"/>
            <a:r>
              <a:rPr sz="1100" b="0" i="0">
                <a:solidFill>
                  <a:srgbClr val="1B1B1B"/>
                </a:solidFill>
              </a:rPr>
              <a:t>Sıfır Atık Belgesi seviyelerinde ilerlenmesi ve doğrulanmış atık verisinin CDP ve TSRS raporlamalarında kullanılması ile kurumsal itibar ve veri gücünün artması</a:t>
            </a:r>
          </a:p>
        </p:txBody>
      </p:sp>
      <p:cxnSp>
        <p:nvCxnSpPr>
          <p:cNvPr id="33" name="Connector 32"/>
          <p:cNvCxnSpPr/>
          <p:nvPr/>
        </p:nvCxnSpPr>
        <p:spPr>
          <a:xfrm>
            <a:off x="274320" y="4507992"/>
            <a:ext cx="11567160" cy="0"/>
          </a:xfrm>
          <a:prstGeom prst="line">
            <a:avLst/>
          </a:prstGeom>
          <a:ln w="12700">
            <a:solidFill>
              <a:srgbClr val="9AA5B1"/>
            </a:solidFill>
            <a:prstDash val="dash"/>
          </a:ln>
        </p:spPr>
      </p:cxnSp>
      <p:sp>
        <p:nvSpPr>
          <p:cNvPr id="34" name="Aksiyon Etiketi"/>
          <p:cNvSpPr/>
          <p:nvPr/>
        </p:nvSpPr>
        <p:spPr>
          <a:xfrm>
            <a:off x="274320" y="4617720"/>
            <a:ext cx="1600200" cy="1764792"/>
          </a:xfrm>
          <a:prstGeom prst="roundRect">
            <a:avLst>
              <a:gd name="adj" fmla="val 6857"/>
            </a:avLst>
          </a:prstGeom>
          <a:solidFill>
            <a:srgbClr val="264E70"/>
          </a:solidFill>
          <a:ln>
            <a:noFill/>
          </a:ln>
          <a:effectLst>
            <a:outerShdw blurRad="63500" dist="38100" dir="2700000" algn="tl" rotWithShape="0">
              <a:srgbClr val="000000">
                <a:alpha val="35000"/>
              </a:srgbClr>
            </a:outerShdw>
          </a:effectLst>
        </p:spPr>
        <p:txBody>
          <a:bodyPr rtlCol="0" anchor="ctr"/>
          <a:lstStyle/>
          <a:p/>
        </p:txBody>
      </p:sp>
      <p:pic>
        <p:nvPicPr>
          <p:cNvPr id="35" name="Picture 34" descr="FaClipboardCheck_white.png"/>
          <p:cNvPicPr>
            <a:picLocks noChangeAspect="1"/>
          </p:cNvPicPr>
          <p:nvPr/>
        </p:nvPicPr>
        <p:blipFill>
          <a:blip r:embed="rId9"/>
          <a:stretch>
            <a:fillRect/>
          </a:stretch>
        </p:blipFill>
        <p:spPr>
          <a:xfrm>
            <a:off x="841247" y="4800600"/>
            <a:ext cx="457200" cy="457200"/>
          </a:xfrm>
          <a:prstGeom prst="rect">
            <a:avLst/>
          </a:prstGeom>
        </p:spPr>
      </p:pic>
      <p:sp>
        <p:nvSpPr>
          <p:cNvPr id="36" name="Aksiyon Etiketi Metni"/>
          <p:cNvSpPr txBox="1"/>
          <p:nvPr/>
        </p:nvSpPr>
        <p:spPr>
          <a:xfrm>
            <a:off x="320040" y="5349240"/>
            <a:ext cx="1508760" cy="822960"/>
          </a:xfrm>
          <a:prstGeom prst="rect">
            <a:avLst/>
          </a:prstGeom>
          <a:noFill/>
        </p:spPr>
        <p:txBody>
          <a:bodyPr wrap="square" lIns="0" rIns="0" tIns="18288" bIns="18288" anchor="t">
            <a:spAutoFit/>
          </a:bodyPr>
          <a:lstStyle/>
          <a:p>
            <a:pPr algn="ctr"/>
            <a:r>
              <a:rPr sz="1500" b="1" i="0">
                <a:solidFill>
                  <a:srgbClr val="FFFFFF"/>
                </a:solidFill>
              </a:rPr>
              <a:t>AKSİYONLAR</a:t>
            </a:r>
          </a:p>
        </p:txBody>
      </p:sp>
      <p:sp>
        <p:nvSpPr>
          <p:cNvPr id="37" name="Rounded Rectangle 36"/>
          <p:cNvSpPr/>
          <p:nvPr/>
        </p:nvSpPr>
        <p:spPr>
          <a:xfrm>
            <a:off x="2057400" y="4617720"/>
            <a:ext cx="480060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DEVAM EDEN AKSİYONLAR</a:t>
            </a:r>
          </a:p>
        </p:txBody>
      </p:sp>
      <p:sp>
        <p:nvSpPr>
          <p:cNvPr id="38" name="Aksiyon Alanı"/>
          <p:cNvSpPr/>
          <p:nvPr/>
        </p:nvSpPr>
        <p:spPr>
          <a:xfrm>
            <a:off x="2057400" y="5010912"/>
            <a:ext cx="4800600" cy="1371600"/>
          </a:xfrm>
          <a:prstGeom prst="roundRect">
            <a:avLst>
              <a:gd name="adj" fmla="val 6666"/>
            </a:avLst>
          </a:prstGeom>
          <a:solidFill>
            <a:srgbClr val="FFFFFF"/>
          </a:solidFill>
          <a:ln w="12700">
            <a:solidFill>
              <a:srgbClr val="9AA5B1"/>
            </a:solidFill>
            <a:prstDash val="dash"/>
          </a:ln>
        </p:spPr>
        <p:txBody>
          <a:bodyPr rtlCol="0" anchor="ctr"/>
          <a:lstStyle/>
          <a:p/>
        </p:txBody>
      </p:sp>
      <p:sp>
        <p:nvSpPr>
          <p:cNvPr id="39" name="Aksiyon No"/>
          <p:cNvSpPr/>
          <p:nvPr/>
        </p:nvSpPr>
        <p:spPr>
          <a:xfrm>
            <a:off x="2240280" y="5157216"/>
            <a:ext cx="274320" cy="274320"/>
          </a:xfrm>
          <a:prstGeom prst="ellipse">
            <a:avLst/>
          </a:prstGeom>
          <a:solidFill>
            <a:srgbClr val="DCE6F2"/>
          </a:solidFill>
          <a:ln>
            <a:noFill/>
          </a:ln>
        </p:spPr>
        <p:txBody>
          <a:bodyPr rtlCol="0" anchor="ctr"/>
          <a:lstStyle/>
          <a:p/>
        </p:txBody>
      </p:sp>
      <p:sp>
        <p:nvSpPr>
          <p:cNvPr id="40" name="Aksiyon No Metni"/>
          <p:cNvSpPr txBox="1"/>
          <p:nvPr/>
        </p:nvSpPr>
        <p:spPr>
          <a:xfrm>
            <a:off x="2240280" y="5157216"/>
            <a:ext cx="274320" cy="274320"/>
          </a:xfrm>
          <a:prstGeom prst="rect">
            <a:avLst/>
          </a:prstGeom>
          <a:noFill/>
        </p:spPr>
        <p:txBody>
          <a:bodyPr wrap="square" lIns="0" rIns="0" tIns="18288" bIns="18288" anchor="ctr">
            <a:spAutoFit/>
          </a:bodyPr>
          <a:lstStyle/>
          <a:p>
            <a:pPr algn="ctr"/>
            <a:r>
              <a:rPr sz="1000" b="1" i="0">
                <a:solidFill>
                  <a:srgbClr val="264E70"/>
                </a:solidFill>
              </a:rPr>
              <a:t>1</a:t>
            </a:r>
          </a:p>
        </p:txBody>
      </p:sp>
      <p:cxnSp>
        <p:nvCxnSpPr>
          <p:cNvPr id="41" name="Connector 40"/>
          <p:cNvCxnSpPr/>
          <p:nvPr/>
        </p:nvCxnSpPr>
        <p:spPr>
          <a:xfrm>
            <a:off x="2651760" y="5394960"/>
            <a:ext cx="4023360" cy="0"/>
          </a:xfrm>
          <a:prstGeom prst="line">
            <a:avLst/>
          </a:prstGeom>
          <a:ln w="9525">
            <a:solidFill>
              <a:srgbClr val="C9D2DB"/>
            </a:solidFill>
          </a:ln>
        </p:spPr>
      </p:cxnSp>
      <p:sp>
        <p:nvSpPr>
          <p:cNvPr id="42" name="Aksiyon No"/>
          <p:cNvSpPr/>
          <p:nvPr/>
        </p:nvSpPr>
        <p:spPr>
          <a:xfrm>
            <a:off x="2240280" y="5559552"/>
            <a:ext cx="274320" cy="274320"/>
          </a:xfrm>
          <a:prstGeom prst="ellipse">
            <a:avLst/>
          </a:prstGeom>
          <a:solidFill>
            <a:srgbClr val="DCE6F2"/>
          </a:solidFill>
          <a:ln>
            <a:noFill/>
          </a:ln>
        </p:spPr>
        <p:txBody>
          <a:bodyPr rtlCol="0" anchor="ctr"/>
          <a:lstStyle/>
          <a:p/>
        </p:txBody>
      </p:sp>
      <p:sp>
        <p:nvSpPr>
          <p:cNvPr id="43" name="Aksiyon No Metni"/>
          <p:cNvSpPr txBox="1"/>
          <p:nvPr/>
        </p:nvSpPr>
        <p:spPr>
          <a:xfrm>
            <a:off x="2240280" y="5559552"/>
            <a:ext cx="274320" cy="274320"/>
          </a:xfrm>
          <a:prstGeom prst="rect">
            <a:avLst/>
          </a:prstGeom>
          <a:noFill/>
        </p:spPr>
        <p:txBody>
          <a:bodyPr wrap="square" lIns="0" rIns="0" tIns="18288" bIns="18288" anchor="ctr">
            <a:spAutoFit/>
          </a:bodyPr>
          <a:lstStyle/>
          <a:p>
            <a:pPr algn="ctr"/>
            <a:r>
              <a:rPr sz="1000" b="1" i="0">
                <a:solidFill>
                  <a:srgbClr val="264E70"/>
                </a:solidFill>
              </a:rPr>
              <a:t>2</a:t>
            </a:r>
          </a:p>
        </p:txBody>
      </p:sp>
      <p:cxnSp>
        <p:nvCxnSpPr>
          <p:cNvPr id="44" name="Connector 43"/>
          <p:cNvCxnSpPr/>
          <p:nvPr/>
        </p:nvCxnSpPr>
        <p:spPr>
          <a:xfrm>
            <a:off x="2651760" y="5797296"/>
            <a:ext cx="4023360" cy="0"/>
          </a:xfrm>
          <a:prstGeom prst="line">
            <a:avLst/>
          </a:prstGeom>
          <a:ln w="9525">
            <a:solidFill>
              <a:srgbClr val="C9D2DB"/>
            </a:solidFill>
          </a:ln>
        </p:spPr>
      </p:cxnSp>
      <p:sp>
        <p:nvSpPr>
          <p:cNvPr id="45" name="Aksiyon No"/>
          <p:cNvSpPr/>
          <p:nvPr/>
        </p:nvSpPr>
        <p:spPr>
          <a:xfrm>
            <a:off x="2240280" y="5961888"/>
            <a:ext cx="274320" cy="274320"/>
          </a:xfrm>
          <a:prstGeom prst="ellipse">
            <a:avLst/>
          </a:prstGeom>
          <a:solidFill>
            <a:srgbClr val="DCE6F2"/>
          </a:solidFill>
          <a:ln>
            <a:noFill/>
          </a:ln>
        </p:spPr>
        <p:txBody>
          <a:bodyPr rtlCol="0" anchor="ctr"/>
          <a:lstStyle/>
          <a:p/>
        </p:txBody>
      </p:sp>
      <p:sp>
        <p:nvSpPr>
          <p:cNvPr id="46" name="Aksiyon No Metni"/>
          <p:cNvSpPr txBox="1"/>
          <p:nvPr/>
        </p:nvSpPr>
        <p:spPr>
          <a:xfrm>
            <a:off x="2240280" y="5961888"/>
            <a:ext cx="274320" cy="274320"/>
          </a:xfrm>
          <a:prstGeom prst="rect">
            <a:avLst/>
          </a:prstGeom>
          <a:noFill/>
        </p:spPr>
        <p:txBody>
          <a:bodyPr wrap="square" lIns="0" rIns="0" tIns="18288" bIns="18288" anchor="ctr">
            <a:spAutoFit/>
          </a:bodyPr>
          <a:lstStyle/>
          <a:p>
            <a:pPr algn="ctr"/>
            <a:r>
              <a:rPr sz="1000" b="1" i="0">
                <a:solidFill>
                  <a:srgbClr val="264E70"/>
                </a:solidFill>
              </a:rPr>
              <a:t>3</a:t>
            </a:r>
          </a:p>
        </p:txBody>
      </p:sp>
      <p:cxnSp>
        <p:nvCxnSpPr>
          <p:cNvPr id="47" name="Connector 46"/>
          <p:cNvCxnSpPr/>
          <p:nvPr/>
        </p:nvCxnSpPr>
        <p:spPr>
          <a:xfrm>
            <a:off x="2651760" y="6199632"/>
            <a:ext cx="4023360" cy="0"/>
          </a:xfrm>
          <a:prstGeom prst="line">
            <a:avLst/>
          </a:prstGeom>
          <a:ln w="9525">
            <a:solidFill>
              <a:srgbClr val="C9D2DB"/>
            </a:solidFill>
          </a:ln>
        </p:spPr>
      </p:cxnSp>
      <p:sp>
        <p:nvSpPr>
          <p:cNvPr id="48" name="Aksiyon Yer Tutucu"/>
          <p:cNvSpPr txBox="1"/>
          <p:nvPr/>
        </p:nvSpPr>
        <p:spPr>
          <a:xfrm>
            <a:off x="2651760" y="5138928"/>
            <a:ext cx="4023360" cy="256032"/>
          </a:xfrm>
          <a:prstGeom prst="rect">
            <a:avLst/>
          </a:prstGeom>
          <a:noFill/>
        </p:spPr>
        <p:txBody>
          <a:bodyPr wrap="square" lIns="0" rIns="0" tIns="18288" bIns="18288" anchor="ctr">
            <a:spAutoFit/>
          </a:bodyPr>
          <a:lstStyle/>
          <a:p>
            <a:pPr algn="l"/>
            <a:r>
              <a:rPr sz="1050" b="0" i="1">
                <a:solidFill>
                  <a:srgbClr val="7F8C99"/>
                </a:solidFill>
              </a:rPr>
              <a:t>Aksiyonlar eklenecek</a:t>
            </a:r>
          </a:p>
        </p:txBody>
      </p:sp>
      <p:sp>
        <p:nvSpPr>
          <p:cNvPr id="49" name="Rounded Rectangle 48"/>
          <p:cNvSpPr/>
          <p:nvPr/>
        </p:nvSpPr>
        <p:spPr>
          <a:xfrm>
            <a:off x="7040880" y="4617720"/>
            <a:ext cx="480060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TAMAMLANAN AKSİYONLAR</a:t>
            </a:r>
          </a:p>
        </p:txBody>
      </p:sp>
      <p:sp>
        <p:nvSpPr>
          <p:cNvPr id="50" name="Aksiyon Alanı"/>
          <p:cNvSpPr/>
          <p:nvPr/>
        </p:nvSpPr>
        <p:spPr>
          <a:xfrm>
            <a:off x="7040880" y="5010912"/>
            <a:ext cx="4800600" cy="1371600"/>
          </a:xfrm>
          <a:prstGeom prst="roundRect">
            <a:avLst>
              <a:gd name="adj" fmla="val 6666"/>
            </a:avLst>
          </a:prstGeom>
          <a:solidFill>
            <a:srgbClr val="FFFFFF"/>
          </a:solidFill>
          <a:ln w="12700">
            <a:solidFill>
              <a:srgbClr val="9AA5B1"/>
            </a:solidFill>
            <a:prstDash val="dash"/>
          </a:ln>
        </p:spPr>
        <p:txBody>
          <a:bodyPr rtlCol="0" anchor="ctr"/>
          <a:lstStyle/>
          <a:p/>
        </p:txBody>
      </p:sp>
      <p:sp>
        <p:nvSpPr>
          <p:cNvPr id="51" name="Aksiyon No"/>
          <p:cNvSpPr/>
          <p:nvPr/>
        </p:nvSpPr>
        <p:spPr>
          <a:xfrm>
            <a:off x="7223760" y="5157216"/>
            <a:ext cx="274320" cy="274320"/>
          </a:xfrm>
          <a:prstGeom prst="ellipse">
            <a:avLst/>
          </a:prstGeom>
          <a:solidFill>
            <a:srgbClr val="DCE6F2"/>
          </a:solidFill>
          <a:ln>
            <a:noFill/>
          </a:ln>
        </p:spPr>
        <p:txBody>
          <a:bodyPr rtlCol="0" anchor="ctr"/>
          <a:lstStyle/>
          <a:p/>
        </p:txBody>
      </p:sp>
      <p:sp>
        <p:nvSpPr>
          <p:cNvPr id="52" name="Aksiyon No Metni"/>
          <p:cNvSpPr txBox="1"/>
          <p:nvPr/>
        </p:nvSpPr>
        <p:spPr>
          <a:xfrm>
            <a:off x="7223760" y="5157216"/>
            <a:ext cx="274320" cy="274320"/>
          </a:xfrm>
          <a:prstGeom prst="rect">
            <a:avLst/>
          </a:prstGeom>
          <a:noFill/>
        </p:spPr>
        <p:txBody>
          <a:bodyPr wrap="square" lIns="0" rIns="0" tIns="18288" bIns="18288" anchor="ctr">
            <a:spAutoFit/>
          </a:bodyPr>
          <a:lstStyle/>
          <a:p>
            <a:pPr algn="ctr"/>
            <a:r>
              <a:rPr sz="1000" b="1" i="0">
                <a:solidFill>
                  <a:srgbClr val="264E70"/>
                </a:solidFill>
              </a:rPr>
              <a:t>1</a:t>
            </a:r>
          </a:p>
        </p:txBody>
      </p:sp>
      <p:cxnSp>
        <p:nvCxnSpPr>
          <p:cNvPr id="53" name="Connector 52"/>
          <p:cNvCxnSpPr/>
          <p:nvPr/>
        </p:nvCxnSpPr>
        <p:spPr>
          <a:xfrm>
            <a:off x="7635240" y="5394960"/>
            <a:ext cx="4023360" cy="0"/>
          </a:xfrm>
          <a:prstGeom prst="line">
            <a:avLst/>
          </a:prstGeom>
          <a:ln w="9525">
            <a:solidFill>
              <a:srgbClr val="C9D2DB"/>
            </a:solidFill>
          </a:ln>
        </p:spPr>
      </p:cxnSp>
      <p:sp>
        <p:nvSpPr>
          <p:cNvPr id="54" name="Aksiyon No"/>
          <p:cNvSpPr/>
          <p:nvPr/>
        </p:nvSpPr>
        <p:spPr>
          <a:xfrm>
            <a:off x="7223760" y="5559552"/>
            <a:ext cx="274320" cy="274320"/>
          </a:xfrm>
          <a:prstGeom prst="ellipse">
            <a:avLst/>
          </a:prstGeom>
          <a:solidFill>
            <a:srgbClr val="DCE6F2"/>
          </a:solidFill>
          <a:ln>
            <a:noFill/>
          </a:ln>
        </p:spPr>
        <p:txBody>
          <a:bodyPr rtlCol="0" anchor="ctr"/>
          <a:lstStyle/>
          <a:p/>
        </p:txBody>
      </p:sp>
      <p:sp>
        <p:nvSpPr>
          <p:cNvPr id="55" name="Aksiyon No Metni"/>
          <p:cNvSpPr txBox="1"/>
          <p:nvPr/>
        </p:nvSpPr>
        <p:spPr>
          <a:xfrm>
            <a:off x="7223760" y="5559552"/>
            <a:ext cx="274320" cy="274320"/>
          </a:xfrm>
          <a:prstGeom prst="rect">
            <a:avLst/>
          </a:prstGeom>
          <a:noFill/>
        </p:spPr>
        <p:txBody>
          <a:bodyPr wrap="square" lIns="0" rIns="0" tIns="18288" bIns="18288" anchor="ctr">
            <a:spAutoFit/>
          </a:bodyPr>
          <a:lstStyle/>
          <a:p>
            <a:pPr algn="ctr"/>
            <a:r>
              <a:rPr sz="1000" b="1" i="0">
                <a:solidFill>
                  <a:srgbClr val="264E70"/>
                </a:solidFill>
              </a:rPr>
              <a:t>2</a:t>
            </a:r>
          </a:p>
        </p:txBody>
      </p:sp>
      <p:cxnSp>
        <p:nvCxnSpPr>
          <p:cNvPr id="56" name="Connector 55"/>
          <p:cNvCxnSpPr/>
          <p:nvPr/>
        </p:nvCxnSpPr>
        <p:spPr>
          <a:xfrm>
            <a:off x="7635240" y="5797296"/>
            <a:ext cx="4023360" cy="0"/>
          </a:xfrm>
          <a:prstGeom prst="line">
            <a:avLst/>
          </a:prstGeom>
          <a:ln w="9525">
            <a:solidFill>
              <a:srgbClr val="C9D2DB"/>
            </a:solidFill>
          </a:ln>
        </p:spPr>
      </p:cxnSp>
      <p:sp>
        <p:nvSpPr>
          <p:cNvPr id="57" name="Aksiyon No"/>
          <p:cNvSpPr/>
          <p:nvPr/>
        </p:nvSpPr>
        <p:spPr>
          <a:xfrm>
            <a:off x="7223760" y="5961888"/>
            <a:ext cx="274320" cy="274320"/>
          </a:xfrm>
          <a:prstGeom prst="ellipse">
            <a:avLst/>
          </a:prstGeom>
          <a:solidFill>
            <a:srgbClr val="DCE6F2"/>
          </a:solidFill>
          <a:ln>
            <a:noFill/>
          </a:ln>
        </p:spPr>
        <p:txBody>
          <a:bodyPr rtlCol="0" anchor="ctr"/>
          <a:lstStyle/>
          <a:p/>
        </p:txBody>
      </p:sp>
      <p:sp>
        <p:nvSpPr>
          <p:cNvPr id="58" name="Aksiyon No Metni"/>
          <p:cNvSpPr txBox="1"/>
          <p:nvPr/>
        </p:nvSpPr>
        <p:spPr>
          <a:xfrm>
            <a:off x="7223760" y="5961888"/>
            <a:ext cx="274320" cy="274320"/>
          </a:xfrm>
          <a:prstGeom prst="rect">
            <a:avLst/>
          </a:prstGeom>
          <a:noFill/>
        </p:spPr>
        <p:txBody>
          <a:bodyPr wrap="square" lIns="0" rIns="0" tIns="18288" bIns="18288" anchor="ctr">
            <a:spAutoFit/>
          </a:bodyPr>
          <a:lstStyle/>
          <a:p>
            <a:pPr algn="ctr"/>
            <a:r>
              <a:rPr sz="1000" b="1" i="0">
                <a:solidFill>
                  <a:srgbClr val="264E70"/>
                </a:solidFill>
              </a:rPr>
              <a:t>3</a:t>
            </a:r>
          </a:p>
        </p:txBody>
      </p:sp>
      <p:cxnSp>
        <p:nvCxnSpPr>
          <p:cNvPr id="59" name="Connector 58"/>
          <p:cNvCxnSpPr/>
          <p:nvPr/>
        </p:nvCxnSpPr>
        <p:spPr>
          <a:xfrm>
            <a:off x="7635240" y="6199632"/>
            <a:ext cx="4023360" cy="0"/>
          </a:xfrm>
          <a:prstGeom prst="line">
            <a:avLst/>
          </a:prstGeom>
          <a:ln w="9525">
            <a:solidFill>
              <a:srgbClr val="C9D2DB"/>
            </a:solidFill>
          </a:ln>
        </p:spPr>
      </p:cxnSp>
      <p:sp>
        <p:nvSpPr>
          <p:cNvPr id="60" name="Aksiyon Yer Tutucu"/>
          <p:cNvSpPr txBox="1"/>
          <p:nvPr/>
        </p:nvSpPr>
        <p:spPr>
          <a:xfrm>
            <a:off x="7635240" y="5138928"/>
            <a:ext cx="4023360" cy="256032"/>
          </a:xfrm>
          <a:prstGeom prst="rect">
            <a:avLst/>
          </a:prstGeom>
          <a:noFill/>
        </p:spPr>
        <p:txBody>
          <a:bodyPr wrap="square" lIns="0" rIns="0" tIns="18288" bIns="18288" anchor="ctr">
            <a:spAutoFit/>
          </a:bodyPr>
          <a:lstStyle/>
          <a:p>
            <a:pPr algn="l"/>
            <a:r>
              <a:rPr sz="1050" b="0" i="1">
                <a:solidFill>
                  <a:srgbClr val="7F8C99"/>
                </a:solidFill>
              </a:rPr>
              <a:t>Aksiyonlar eklenecek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5004</TotalTime>
  <Words>3437</Words>
  <Application>Microsoft Office PowerPoint</Application>
  <PresentationFormat>Geniş ekran</PresentationFormat>
  <Paragraphs>340</Paragraphs>
  <Slides>15</Slides>
  <Notes>2</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15</vt:i4>
      </vt:variant>
    </vt:vector>
  </HeadingPairs>
  <TitlesOfParts>
    <vt:vector size="19" baseType="lpstr">
      <vt:lpstr>Arial</vt:lpstr>
      <vt:lpstr>Calibri</vt:lpstr>
      <vt:lpstr>Wingdings</vt:lpstr>
      <vt:lpstr>Office Theme</vt:lpstr>
      <vt:lpstr>PowerPoint Sunusu</vt:lpstr>
      <vt:lpstr>Toros Tarım’ı Etkileyen Başlıca Çerçeve ve Regülasyonlar</vt:lpstr>
      <vt:lpstr>Regülasyonların Önemi</vt:lpstr>
      <vt:lpstr>AB Yeşil Mutabakatının Faaliyetlerimiz Üzerindeki Olası Etkileri  Öne Çıkan Ana Stratejiler ve Hedefler</vt:lpstr>
      <vt:lpstr>AB Yeşil Mutabakatı (EU Green Deal)</vt:lpstr>
      <vt:lpstr>AB Sınırda Karbon Düzenleme Mekanizması (SKDM/CBAM)</vt:lpstr>
      <vt:lpstr>Türkiye İklim Kanunu</vt:lpstr>
      <vt:lpstr>Türkiye Emisyon Ticaret Sistemi (ETS) Yönetmeliği</vt:lpstr>
      <vt:lpstr>Su Kanunu Taslağı ve Su Verimliliği Yönetmeliği</vt:lpstr>
      <vt:lpstr>Sanayide Yeşil Dönüşüm (SYD) ve Endüstriyel Emisyonların Yönetimi Yönetmeliği (EEYY)</vt:lpstr>
      <vt:lpstr>Kimyasalların Kaydı, Değerlendirilmesi, İzni ve Kısıtlanması Hakkında Yönetmelik (KKDİK)</vt:lpstr>
      <vt:lpstr>EU PPWR (Ambalaj ve Ambalaj Atıkları Tüzüğü)</vt:lpstr>
      <vt:lpstr>Türkiye Sürdürülebilirlik Raporlama Standartları (TSRS)</vt:lpstr>
      <vt:lpstr>Sıfır Atık Yönetmeliği</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Toros Tarım Organomineral Gübre Büyüme Stratejisi</dc:title>
  <dc:creator>Ece Akın Armutak</dc:creator>
  <cp:lastModifiedBy>Batikan Zorbey Kesse</cp:lastModifiedBy>
  <cp:revision>657</cp:revision>
  <dcterms:created xsi:type="dcterms:W3CDTF">2019-09-05T07:11:12Z</dcterms:created>
  <dcterms:modified xsi:type="dcterms:W3CDTF">2026-10-01T11:47:36Z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345f85-5734-4088-8d88-9dc8dcdcc65c_Enabled">
    <vt:lpwstr>true</vt:lpwstr>
  </property>
  <property fmtid="{D5CDD505-2E9C-101B-9397-08002B2CF9AE}" pid="3" name="MSIP_Label_83345f85-5734-4088-8d88-9dc8dcdcc65c_SetDate">
    <vt:lpwstr>2026-08-26T10:45:57Z</vt:lpwstr>
  </property>
  <property fmtid="{D5CDD505-2E9C-101B-9397-08002B2CF9AE}" pid="4" name="MSIP_Label_83345f85-5734-4088-8d88-9dc8dcdcc65c_Method">
    <vt:lpwstr>Standard</vt:lpwstr>
  </property>
  <property fmtid="{D5CDD505-2E9C-101B-9397-08002B2CF9AE}" pid="5" name="MSIP_Label_83345f85-5734-4088-8d88-9dc8dcdcc65c_Name">
    <vt:lpwstr>Şirket İçi (Internal)</vt:lpwstr>
  </property>
  <property fmtid="{D5CDD505-2E9C-101B-9397-08002B2CF9AE}" pid="6" name="MSIP_Label_83345f85-5734-4088-8d88-9dc8dcdcc65c_SiteId">
    <vt:lpwstr>f473d79e-c669-4e8c-b31d-6b3bcd4bf9c9</vt:lpwstr>
  </property>
  <property fmtid="{D5CDD505-2E9C-101B-9397-08002B2CF9AE}" pid="7" name="MSIP_Label_83345f85-5734-4088-8d88-9dc8dcdcc65c_ActionId">
    <vt:lpwstr>9b862c52-3688-415e-8df2-7ca694a94974</vt:lpwstr>
  </property>
  <property fmtid="{D5CDD505-2E9C-101B-9397-08002B2CF9AE}" pid="8" name="MSIP_Label_83345f85-5734-4088-8d88-9dc8dcdcc65c_ContentBits">
    <vt:lpwstr>0</vt:lpwstr>
  </property>
  <property fmtid="{D5CDD505-2E9C-101B-9397-08002B2CF9AE}" pid="9" name="MSIP_Label_83345f85-5734-4088-8d88-9dc8dcdcc65c_Tag">
    <vt:lpwstr>10, 3, 0, 1</vt:lpwstr>
  </property>
</Properties>
</file>